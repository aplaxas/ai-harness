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1924" autoAdjust="0"/>
  </p:normalViewPr>
  <p:slideViewPr>
    <p:cSldViewPr snapToGrid="0">
      <p:cViewPr varScale="1">
        <p:scale>
          <a:sx n="79" d="100"/>
          <a:sy n="79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AI 내부를 논문 수준으로 설명하지 않는다. 개발자가 실무에서 입력과 출력의 계약을 다르게 다뤄야 한다는 점만 잡는다.</a:t>
            </a:r>
          </a:p>
          <a:p>
            <a:endParaRPr/>
          </a:p>
          <a:p>
            <a:r>
              <a:t>전환: 규칙을 사람이 쓰는 시스템부터 비교한다.</a:t>
            </a:r>
          </a:p>
          <a:p>
            <a:r>
              <a:t>예상 시간: 4분</a:t>
            </a:r>
          </a:p>
          <a:p>
            <a:endParaRPr/>
          </a:p>
          <a:p>
            <a:r>
              <a:t>[Sources]</a:t>
            </a:r>
          </a:p>
          <a:p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에어컨 다이얼과 키-몸무게 추정 비유로 설명한다. 이름을 AI라고 부를지보다 규칙을 누가 만들었는지가 중요하다.</a:t>
            </a:r>
          </a:p>
          <a:p>
            <a:endParaRPr/>
          </a:p>
          <a:p>
            <a:r>
              <a:t>전환: 학습 과정에서 조정되는 수치를 파라미터라고 부른다.</a:t>
            </a:r>
          </a:p>
          <a:p>
            <a:r>
              <a:t>예상 시간: 4분</a:t>
            </a:r>
          </a:p>
          <a:p>
            <a:endParaRPr/>
          </a:p>
          <a:p>
            <a:r>
              <a:t>[Sources]</a:t>
            </a:r>
          </a:p>
          <a:p>
            <a:r>
              <a:t>- harness/01-하네스란무엇인가.md</a:t>
            </a:r>
          </a:p>
          <a:p>
            <a:r>
              <a:t>- harness/images/ai-rule-vs-learning.png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오디오</a:t>
            </a:r>
            <a:r>
              <a:rPr dirty="0"/>
              <a:t> </a:t>
            </a:r>
            <a:r>
              <a:rPr dirty="0" err="1"/>
              <a:t>믹서</a:t>
            </a:r>
            <a:r>
              <a:rPr dirty="0"/>
              <a:t> </a:t>
            </a:r>
            <a:r>
              <a:rPr dirty="0" err="1"/>
              <a:t>비유를</a:t>
            </a:r>
            <a:r>
              <a:rPr dirty="0"/>
              <a:t> </a:t>
            </a:r>
            <a:r>
              <a:rPr dirty="0" err="1"/>
              <a:t>사용하되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파라미터는</a:t>
            </a:r>
            <a:r>
              <a:rPr dirty="0"/>
              <a:t> </a:t>
            </a:r>
            <a:r>
              <a:rPr dirty="0" err="1"/>
              <a:t>사람이</a:t>
            </a:r>
            <a:r>
              <a:rPr dirty="0"/>
              <a:t> </a:t>
            </a:r>
            <a:r>
              <a:rPr dirty="0" err="1"/>
              <a:t>의미를</a:t>
            </a:r>
            <a:r>
              <a:rPr dirty="0"/>
              <a:t> </a:t>
            </a:r>
            <a:r>
              <a:rPr dirty="0" err="1"/>
              <a:t>붙여</a:t>
            </a:r>
            <a:r>
              <a:rPr dirty="0"/>
              <a:t> </a:t>
            </a:r>
            <a:r>
              <a:rPr dirty="0" err="1"/>
              <a:t>돌리는</a:t>
            </a:r>
            <a:r>
              <a:rPr dirty="0"/>
              <a:t> </a:t>
            </a:r>
            <a:r>
              <a:rPr dirty="0" err="1"/>
              <a:t>노브가</a:t>
            </a:r>
            <a:r>
              <a:rPr dirty="0"/>
              <a:t> </a:t>
            </a:r>
            <a:r>
              <a:rPr dirty="0" err="1"/>
              <a:t>아니라는</a:t>
            </a:r>
            <a:r>
              <a:rPr dirty="0"/>
              <a:t> </a:t>
            </a:r>
            <a:r>
              <a:rPr dirty="0" err="1"/>
              <a:t>비유의</a:t>
            </a:r>
            <a:r>
              <a:rPr dirty="0"/>
              <a:t> </a:t>
            </a:r>
            <a:r>
              <a:rPr dirty="0" err="1"/>
              <a:t>한계도</a:t>
            </a:r>
            <a:r>
              <a:rPr dirty="0"/>
              <a:t> </a:t>
            </a:r>
            <a:r>
              <a:rPr dirty="0" err="1"/>
              <a:t>말한다</a:t>
            </a:r>
            <a:r>
              <a:rPr dirty="0"/>
              <a:t>. </a:t>
            </a:r>
            <a:r>
              <a:rPr dirty="0" err="1"/>
              <a:t>핵심은</a:t>
            </a:r>
            <a:r>
              <a:rPr dirty="0"/>
              <a:t> </a:t>
            </a:r>
            <a:r>
              <a:rPr dirty="0" err="1"/>
              <a:t>지식이</a:t>
            </a:r>
            <a:r>
              <a:rPr dirty="0"/>
              <a:t> </a:t>
            </a:r>
            <a:r>
              <a:rPr dirty="0" err="1"/>
              <a:t>문장</a:t>
            </a:r>
            <a:r>
              <a:rPr dirty="0"/>
              <a:t> </a:t>
            </a:r>
            <a:r>
              <a:rPr dirty="0" err="1"/>
              <a:t>목록으로</a:t>
            </a:r>
            <a:r>
              <a:rPr dirty="0"/>
              <a:t> </a:t>
            </a:r>
            <a:r>
              <a:rPr dirty="0" err="1"/>
              <a:t>저장되지</a:t>
            </a:r>
            <a:r>
              <a:rPr dirty="0"/>
              <a:t> </a:t>
            </a:r>
            <a:r>
              <a:rPr dirty="0" err="1"/>
              <a:t>않는다는</a:t>
            </a:r>
            <a:r>
              <a:rPr dirty="0"/>
              <a:t> </a:t>
            </a:r>
            <a:r>
              <a:rPr dirty="0" err="1"/>
              <a:t>점이다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전환</a:t>
            </a:r>
            <a:r>
              <a:rPr dirty="0"/>
              <a:t>: 그 </a:t>
            </a:r>
            <a:r>
              <a:rPr dirty="0" err="1"/>
              <a:t>조합은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출력을</a:t>
            </a:r>
            <a:r>
              <a:rPr dirty="0"/>
              <a:t> </a:t>
            </a:r>
            <a:r>
              <a:rPr dirty="0" err="1"/>
              <a:t>확률적으로</a:t>
            </a:r>
            <a:r>
              <a:rPr dirty="0"/>
              <a:t> </a:t>
            </a:r>
            <a:r>
              <a:rPr dirty="0" err="1"/>
              <a:t>만든다</a:t>
            </a:r>
            <a:r>
              <a:rPr dirty="0"/>
              <a:t>.</a:t>
            </a:r>
          </a:p>
          <a:p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: 4분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harness/01-하네스란무엇인가.md</a:t>
            </a:r>
          </a:p>
          <a:p>
            <a:r>
              <a:rPr dirty="0"/>
              <a:t>- harness/images/ai-parameters-mixer.png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한국인과 휴스턴 거주자가 떠올리는 다음 문장이 다를 수 있다는 예로, 학습 분포와 현재 맥락이 후보 확률을 바꾼다는 점을 설명한다.</a:t>
            </a:r>
          </a:p>
          <a:p>
            <a:endParaRPr/>
          </a:p>
          <a:p>
            <a:r>
              <a:t>전환: 그러므로 자연스러운 문장은 사실 확인의 증거가 아니다.</a:t>
            </a:r>
          </a:p>
          <a:p>
            <a:r>
              <a:t>예상 시간: 4분</a:t>
            </a:r>
          </a:p>
          <a:p>
            <a:endParaRPr/>
          </a:p>
          <a:p>
            <a:r>
              <a:t>[Sources]</a:t>
            </a:r>
          </a:p>
          <a:p>
            <a:r>
              <a:t>- harness/01-하네스란무엇인가.md</a:t>
            </a:r>
          </a:p>
          <a:p>
            <a:r>
              <a:t>- harness/images/ai-context-probability.png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모델이 사람처럼 이해했는지를 철학적으로 결론내리지 않는다. 실무 계약으로는 학습 데이터와 맥락을 조건으로 다음 출력을 예측했다고 다루는 편이 안전하다.</a:t>
            </a:r>
          </a:p>
          <a:p>
            <a:endParaRPr/>
          </a:p>
          <a:p>
            <a:r>
              <a:t>전환: 개발자가 익숙한 컴파일러의 계약과 비교한다.</a:t>
            </a:r>
          </a:p>
          <a:p>
            <a:r>
              <a:t>예상 시간: 4분</a:t>
            </a:r>
          </a:p>
          <a:p>
            <a:endParaRPr/>
          </a:p>
          <a:p>
            <a:r>
              <a:t>[Sources]</a:t>
            </a:r>
          </a:p>
          <a:p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프로그램</a:t>
            </a:r>
            <a:r>
              <a:rPr dirty="0"/>
              <a:t> </a:t>
            </a:r>
            <a:r>
              <a:rPr dirty="0" err="1"/>
              <a:t>실행의</a:t>
            </a:r>
            <a:r>
              <a:rPr dirty="0"/>
              <a:t> </a:t>
            </a:r>
            <a:r>
              <a:rPr dirty="0" err="1"/>
              <a:t>결정성과</a:t>
            </a:r>
            <a:r>
              <a:rPr dirty="0"/>
              <a:t> </a:t>
            </a:r>
            <a:r>
              <a:rPr dirty="0" err="1"/>
              <a:t>번역</a:t>
            </a:r>
            <a:r>
              <a:rPr dirty="0"/>
              <a:t> </a:t>
            </a:r>
            <a:r>
              <a:rPr dirty="0" err="1"/>
              <a:t>계층의</a:t>
            </a:r>
            <a:r>
              <a:rPr dirty="0"/>
              <a:t> </a:t>
            </a:r>
            <a:r>
              <a:rPr dirty="0" err="1"/>
              <a:t>결정성을</a:t>
            </a:r>
            <a:r>
              <a:rPr dirty="0"/>
              <a:t> </a:t>
            </a:r>
            <a:r>
              <a:rPr dirty="0" err="1"/>
              <a:t>구분한다</a:t>
            </a:r>
            <a:r>
              <a:rPr dirty="0"/>
              <a:t>. </a:t>
            </a:r>
            <a:r>
              <a:rPr dirty="0" err="1"/>
              <a:t>Math.random이</a:t>
            </a:r>
            <a:r>
              <a:rPr dirty="0"/>
              <a:t> </a:t>
            </a:r>
            <a:r>
              <a:rPr dirty="0" err="1"/>
              <a:t>있어도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소스의</a:t>
            </a:r>
            <a:r>
              <a:rPr dirty="0"/>
              <a:t> </a:t>
            </a:r>
            <a:r>
              <a:rPr dirty="0" err="1"/>
              <a:t>컴파일</a:t>
            </a:r>
            <a:r>
              <a:rPr dirty="0"/>
              <a:t> </a:t>
            </a:r>
            <a:r>
              <a:rPr dirty="0" err="1"/>
              <a:t>결과는</a:t>
            </a:r>
            <a:r>
              <a:rPr dirty="0"/>
              <a:t> </a:t>
            </a:r>
            <a:r>
              <a:rPr dirty="0" err="1"/>
              <a:t>같다</a:t>
            </a:r>
            <a:r>
              <a:rPr dirty="0"/>
              <a:t>. </a:t>
            </a:r>
            <a:r>
              <a:rPr dirty="0" err="1"/>
              <a:t>자연어는</a:t>
            </a:r>
            <a:r>
              <a:rPr dirty="0"/>
              <a:t> </a:t>
            </a:r>
            <a:r>
              <a:rPr dirty="0" err="1"/>
              <a:t>번역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달라질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전환</a:t>
            </a:r>
            <a:r>
              <a:rPr dirty="0"/>
              <a:t>: 이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실무에서</a:t>
            </a:r>
            <a:r>
              <a:rPr dirty="0"/>
              <a:t> 네 </a:t>
            </a:r>
            <a:r>
              <a:rPr dirty="0" err="1"/>
              <a:t>가지</a:t>
            </a:r>
            <a:r>
              <a:rPr dirty="0"/>
              <a:t> </a:t>
            </a:r>
            <a:r>
              <a:rPr dirty="0" err="1"/>
              <a:t>실패로</a:t>
            </a:r>
            <a:r>
              <a:rPr dirty="0"/>
              <a:t> </a:t>
            </a:r>
            <a:r>
              <a:rPr dirty="0" err="1"/>
              <a:t>나타난다</a:t>
            </a:r>
            <a:r>
              <a:rPr dirty="0"/>
              <a:t>.</a:t>
            </a:r>
          </a:p>
          <a:p>
            <a:r>
              <a:rPr dirty="0" err="1"/>
              <a:t>예상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: 4분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harness/01-하네스란무엇인가.md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네 가지를 공포 목록으로 끝내지 않는다. 뒤에서 원칙과 검증 루프가 각각 무엇을 줄이는지 다시 연결할 예고편이다.</a:t>
            </a:r>
          </a:p>
          <a:p>
            <a:endParaRPr/>
          </a:p>
          <a:p>
            <a:r>
              <a:t>전환: 그래서 AI를 더 좋은 컴파일러로 취급하면 실패한다.</a:t>
            </a:r>
          </a:p>
          <a:p>
            <a:r>
              <a:t>예상 시간: 4분</a:t>
            </a:r>
          </a:p>
          <a:p>
            <a:endParaRPr/>
          </a:p>
          <a:p>
            <a:r>
              <a:t>[Sources]</a:t>
            </a:r>
          </a:p>
          <a:p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재현성을 높일 수는 있지만 컴파일러와 같은 입력-출력 계약은 아니다. 따라서 신뢰를 모델의 유창함에서 얻지 않고 외부 검증에서 얻는다.</a:t>
            </a:r>
          </a:p>
          <a:p>
            <a:endParaRPr/>
          </a:p>
          <a:p>
            <a:r>
              <a:t>전환: 그 루프를 도는 실행 단위가 Agent다.</a:t>
            </a:r>
          </a:p>
          <a:p>
            <a:r>
              <a:t>예상 시간: 4분</a:t>
            </a:r>
          </a:p>
          <a:p>
            <a:endParaRPr/>
          </a:p>
          <a:p>
            <a:r>
              <a:t>[Sources]</a:t>
            </a:r>
          </a:p>
          <a:p>
            <a:r>
              <a:t>- harness/01-하네스란무엇인가.md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01-09-footer-section">
            <a:extLst>
              <a:ext uri="{FF2B5EF4-FFF2-40B4-BE49-F238E27FC236}">
                <a16:creationId xmlns:a16="http://schemas.microsoft.com/office/drawing/2014/main" id="{A34678D6-23C2-484D-876B-ED2AAB888FDC}"/>
              </a:ext>
            </a:extLst>
          </p:cNvPr>
          <p:cNvSpPr>
            <a:spLocks noGrp="1"/>
          </p:cNvSpPr>
          <p:nvPr/>
        </p:nvSpPr>
        <p:spPr>
          <a:xfrm>
            <a:off x="723900" y="6419850"/>
            <a:ext cx="447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09-footer-page">
            <a:extLst>
              <a:ext uri="{FF2B5EF4-FFF2-40B4-BE49-F238E27FC236}">
                <a16:creationId xmlns:a16="http://schemas.microsoft.com/office/drawing/2014/main" id="{03442993-747E-48AF-9CA1-EFD113A1AFA7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9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09-accent-rule">
            <a:extLst>
              <a:ext uri="{FF2B5EF4-FFF2-40B4-BE49-F238E27FC236}">
                <a16:creationId xmlns:a16="http://schemas.microsoft.com/office/drawing/2014/main" id="{3DE36413-DCFF-4C90-87A5-4C05326662A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477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09-label">
            <a:extLst>
              <a:ext uri="{FF2B5EF4-FFF2-40B4-BE49-F238E27FC236}">
                <a16:creationId xmlns:a16="http://schemas.microsoft.com/office/drawing/2014/main" id="{181CBD20-394D-4467-9DCC-F627A5AA62BB}"/>
              </a:ext>
            </a:extLst>
          </p:cNvPr>
          <p:cNvSpPr>
            <a:spLocks noGrp="1"/>
          </p:cNvSpPr>
          <p:nvPr/>
        </p:nvSpPr>
        <p:spPr>
          <a:xfrm>
            <a:off x="723900" y="1200150"/>
            <a:ext cx="7048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125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5" name="01-09-title">
            <a:extLst>
              <a:ext uri="{FF2B5EF4-FFF2-40B4-BE49-F238E27FC236}">
                <a16:creationId xmlns:a16="http://schemas.microsoft.com/office/drawing/2014/main" id="{C41B0572-B3DC-4F17-BCC6-A05B3EF85EC5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10001250" cy="1676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규칙에서 확률로</a:t>
            </a:r>
          </a:p>
        </p:txBody>
      </p:sp>
      <p:sp>
        <p:nvSpPr>
          <p:cNvPr id="6" name="01-09-subtitle">
            <a:extLst>
              <a:ext uri="{FF2B5EF4-FFF2-40B4-BE49-F238E27FC236}">
                <a16:creationId xmlns:a16="http://schemas.microsoft.com/office/drawing/2014/main" id="{2D248ACD-03F0-4751-B848-6DCAA6F34C4D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8858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7180"/>
                </a:solidFill>
                <a:latin typeface="Malgun Gothic"/>
                <a:ea typeface="Malgun Gothic"/>
                <a:cs typeface="Malgun Gothic"/>
              </a:rPr>
              <a:t>유창함과 정확함은 다른 속성이다</a:t>
            </a:r>
          </a:p>
        </p:txBody>
      </p:sp>
    </p:spTree>
    <p:extLst>
      <p:ext uri="{BB962C8B-B14F-4D97-AF65-F5344CB8AC3E}">
        <p14:creationId xmlns:p14="http://schemas.microsoft.com/office/powerpoint/2010/main" val="1248329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01-10-footer-section">
            <a:extLst>
              <a:ext uri="{FF2B5EF4-FFF2-40B4-BE49-F238E27FC236}">
                <a16:creationId xmlns:a16="http://schemas.microsoft.com/office/drawing/2014/main" id="{D2F35F23-3D24-48C7-9D6B-F55D31A16164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0-footer-page">
            <a:extLst>
              <a:ext uri="{FF2B5EF4-FFF2-40B4-BE49-F238E27FC236}">
                <a16:creationId xmlns:a16="http://schemas.microsoft.com/office/drawing/2014/main" id="{F928FC5C-336E-480C-BF95-915D48053D59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10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0-accent-rule">
            <a:extLst>
              <a:ext uri="{FF2B5EF4-FFF2-40B4-BE49-F238E27FC236}">
                <a16:creationId xmlns:a16="http://schemas.microsoft.com/office/drawing/2014/main" id="{24B593B9-DAB3-4F03-A2E0-E1B1F73B5E6F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0-title">
            <a:extLst>
              <a:ext uri="{FF2B5EF4-FFF2-40B4-BE49-F238E27FC236}">
                <a16:creationId xmlns:a16="http://schemas.microsoft.com/office/drawing/2014/main" id="{61B5EB5A-45F6-4E27-BEA6-32FB933318A9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10744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규칙은 사람이 쓰고, 학습은 관계를 조정한다</a:t>
            </a:r>
          </a:p>
        </p:txBody>
      </p:sp>
      <p:sp>
        <p:nvSpPr>
          <p:cNvPr id="5" name="01-10-divider">
            <a:extLst>
              <a:ext uri="{FF2B5EF4-FFF2-40B4-BE49-F238E27FC236}">
                <a16:creationId xmlns:a16="http://schemas.microsoft.com/office/drawing/2014/main" id="{F009EBE9-EEE4-4101-A5E1-D3618F8433C6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0" cy="21907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01-10-left-heading">
            <a:extLst>
              <a:ext uri="{FF2B5EF4-FFF2-40B4-BE49-F238E27FC236}">
                <a16:creationId xmlns:a16="http://schemas.microsoft.com/office/drawing/2014/main" id="{7342ACE1-6496-4F52-B8C8-888C2CE10203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485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규칙 기반</a:t>
            </a:r>
          </a:p>
        </p:txBody>
      </p:sp>
      <p:sp>
        <p:nvSpPr>
          <p:cNvPr id="7" name="01-10-left-dot-1">
            <a:extLst>
              <a:ext uri="{FF2B5EF4-FFF2-40B4-BE49-F238E27FC236}">
                <a16:creationId xmlns:a16="http://schemas.microsoft.com/office/drawing/2014/main" id="{533B0C50-36AF-4FF3-94F3-A7AC2F136125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01-10-left-line-1">
            <a:extLst>
              <a:ext uri="{FF2B5EF4-FFF2-40B4-BE49-F238E27FC236}">
                <a16:creationId xmlns:a16="http://schemas.microsoft.com/office/drawing/2014/main" id="{5733D9E4-81FC-46A0-A88D-0EA010E10127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4629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조건을 사람이 정한다</a:t>
            </a:r>
          </a:p>
        </p:txBody>
      </p:sp>
      <p:sp>
        <p:nvSpPr>
          <p:cNvPr id="9" name="01-10-left-dot-2">
            <a:extLst>
              <a:ext uri="{FF2B5EF4-FFF2-40B4-BE49-F238E27FC236}">
                <a16:creationId xmlns:a16="http://schemas.microsoft.com/office/drawing/2014/main" id="{5E91FB64-06D9-4348-98C4-5F53DD54E2E7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01-10-left-line-2">
            <a:extLst>
              <a:ext uri="{FF2B5EF4-FFF2-40B4-BE49-F238E27FC236}">
                <a16:creationId xmlns:a16="http://schemas.microsoft.com/office/drawing/2014/main" id="{868C84F5-D232-4A7B-94F2-42784DFCCB9F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4629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틀리면 코드를 찾아 고친다</a:t>
            </a:r>
          </a:p>
        </p:txBody>
      </p:sp>
      <p:sp>
        <p:nvSpPr>
          <p:cNvPr id="11" name="01-10-left-dot-3">
            <a:extLst>
              <a:ext uri="{FF2B5EF4-FFF2-40B4-BE49-F238E27FC236}">
                <a16:creationId xmlns:a16="http://schemas.microsoft.com/office/drawing/2014/main" id="{255831FD-0C7F-4AFF-B106-22A18DD85EF0}"/>
              </a:ext>
            </a:extLst>
          </p:cNvPr>
          <p:cNvSpPr>
            <a:spLocks noGrp="1"/>
          </p:cNvSpPr>
          <p:nvPr/>
        </p:nvSpPr>
        <p:spPr>
          <a:xfrm>
            <a:off x="723900" y="32575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01-10-left-line-3">
            <a:extLst>
              <a:ext uri="{FF2B5EF4-FFF2-40B4-BE49-F238E27FC236}">
                <a16:creationId xmlns:a16="http://schemas.microsoft.com/office/drawing/2014/main" id="{E83E9C3A-78B6-4EFA-89A5-3BD1A009BFA5}"/>
              </a:ext>
            </a:extLst>
          </p:cNvPr>
          <p:cNvSpPr>
            <a:spLocks noGrp="1"/>
          </p:cNvSpPr>
          <p:nvPr/>
        </p:nvSpPr>
        <p:spPr>
          <a:xfrm>
            <a:off x="952500" y="3143250"/>
            <a:ext cx="46291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동작 이유를 설명하기 쉽다</a:t>
            </a:r>
          </a:p>
        </p:txBody>
      </p:sp>
      <p:sp>
        <p:nvSpPr>
          <p:cNvPr id="13" name="01-10-right-heading">
            <a:extLst>
              <a:ext uri="{FF2B5EF4-FFF2-40B4-BE49-F238E27FC236}">
                <a16:creationId xmlns:a16="http://schemas.microsoft.com/office/drawing/2014/main" id="{8FF77E8F-7271-4E73-85C6-A292E8E49581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학습 기반</a:t>
            </a:r>
          </a:p>
        </p:txBody>
      </p:sp>
      <p:sp>
        <p:nvSpPr>
          <p:cNvPr id="14" name="01-10-right-dot-1">
            <a:extLst>
              <a:ext uri="{FF2B5EF4-FFF2-40B4-BE49-F238E27FC236}">
                <a16:creationId xmlns:a16="http://schemas.microsoft.com/office/drawing/2014/main" id="{AD8FA24C-3F19-4192-B1F7-8205C52D78B1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01-10-right-line-1">
            <a:extLst>
              <a:ext uri="{FF2B5EF4-FFF2-40B4-BE49-F238E27FC236}">
                <a16:creationId xmlns:a16="http://schemas.microsoft.com/office/drawing/2014/main" id="{ADD9989C-E40C-40E9-AD8C-5983A054A111}"/>
              </a:ext>
            </a:extLst>
          </p:cNvPr>
          <p:cNvSpPr>
            <a:spLocks noGrp="1"/>
          </p:cNvSpPr>
          <p:nvPr/>
        </p:nvSpPr>
        <p:spPr>
          <a:xfrm>
            <a:off x="6800850" y="2228850"/>
            <a:ext cx="4533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데이터로 오차를 줄인다</a:t>
            </a:r>
          </a:p>
        </p:txBody>
      </p:sp>
      <p:sp>
        <p:nvSpPr>
          <p:cNvPr id="16" name="01-10-right-dot-2">
            <a:extLst>
              <a:ext uri="{FF2B5EF4-FFF2-40B4-BE49-F238E27FC236}">
                <a16:creationId xmlns:a16="http://schemas.microsoft.com/office/drawing/2014/main" id="{28F90C03-6D6C-45B4-BF16-E34E995E254D}"/>
              </a:ext>
            </a:extLst>
          </p:cNvPr>
          <p:cNvSpPr>
            <a:spLocks noGrp="1"/>
          </p:cNvSpPr>
          <p:nvPr/>
        </p:nvSpPr>
        <p:spPr>
          <a:xfrm>
            <a:off x="6572250" y="28003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01-10-right-line-2">
            <a:extLst>
              <a:ext uri="{FF2B5EF4-FFF2-40B4-BE49-F238E27FC236}">
                <a16:creationId xmlns:a16="http://schemas.microsoft.com/office/drawing/2014/main" id="{2FD31AB4-54D5-45E7-BECB-24DACD53002E}"/>
              </a:ext>
            </a:extLst>
          </p:cNvPr>
          <p:cNvSpPr>
            <a:spLocks noGrp="1"/>
          </p:cNvSpPr>
          <p:nvPr/>
        </p:nvSpPr>
        <p:spPr>
          <a:xfrm>
            <a:off x="6800850" y="2686050"/>
            <a:ext cx="4533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관계를 수치로 조정한다</a:t>
            </a:r>
          </a:p>
        </p:txBody>
      </p:sp>
      <p:sp>
        <p:nvSpPr>
          <p:cNvPr id="18" name="01-10-right-dot-3">
            <a:extLst>
              <a:ext uri="{FF2B5EF4-FFF2-40B4-BE49-F238E27FC236}">
                <a16:creationId xmlns:a16="http://schemas.microsoft.com/office/drawing/2014/main" id="{B44F8235-833D-4024-9448-7182069B0915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01-10-right-line-3">
            <a:extLst>
              <a:ext uri="{FF2B5EF4-FFF2-40B4-BE49-F238E27FC236}">
                <a16:creationId xmlns:a16="http://schemas.microsoft.com/office/drawing/2014/main" id="{845F9594-CAD4-407F-AB1E-DF59CE0F2AF6}"/>
              </a:ext>
            </a:extLst>
          </p:cNvPr>
          <p:cNvSpPr>
            <a:spLocks noGrp="1"/>
          </p:cNvSpPr>
          <p:nvPr/>
        </p:nvSpPr>
        <p:spPr>
          <a:xfrm>
            <a:off x="6800850" y="3143250"/>
            <a:ext cx="4533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데이터의 한계를 물려받는다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14750" y="3708085"/>
            <a:ext cx="4762499" cy="2680330"/>
          </a:xfrm>
          <a:prstGeom prst="rect">
            <a:avLst/>
          </a:prstGeom>
        </p:spPr>
      </p:pic>
      <p:sp>
        <p:nvSpPr>
          <p:cNvPr id="21" name="01-10-optional">
            <a:extLst>
              <a:ext uri="{FF2B5EF4-FFF2-40B4-BE49-F238E27FC236}">
                <a16:creationId xmlns:a16="http://schemas.microsoft.com/office/drawing/2014/main" id="{1DF7B4D3-C43F-49E8-AAFD-3071825C1087}"/>
              </a:ext>
            </a:extLst>
          </p:cNvPr>
          <p:cNvSpPr>
            <a:spLocks noGrp="1"/>
          </p:cNvSpPr>
          <p:nvPr/>
        </p:nvSpPr>
        <p:spPr>
          <a:xfrm>
            <a:off x="9810750" y="4762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78808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01-11-footer-section">
            <a:extLst>
              <a:ext uri="{FF2B5EF4-FFF2-40B4-BE49-F238E27FC236}">
                <a16:creationId xmlns:a16="http://schemas.microsoft.com/office/drawing/2014/main" id="{F12A248B-EFC8-4FAC-B8E4-DBFFCF4A6F40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1-footer-page">
            <a:extLst>
              <a:ext uri="{FF2B5EF4-FFF2-40B4-BE49-F238E27FC236}">
                <a16:creationId xmlns:a16="http://schemas.microsoft.com/office/drawing/2014/main" id="{7873B618-41A9-4AF5-B775-D5E06E70162B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11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1-accent-rule">
            <a:extLst>
              <a:ext uri="{FF2B5EF4-FFF2-40B4-BE49-F238E27FC236}">
                <a16:creationId xmlns:a16="http://schemas.microsoft.com/office/drawing/2014/main" id="{B03DEC31-A28A-40D4-B1F3-3F00370F0B9C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1-title">
            <a:extLst>
              <a:ext uri="{FF2B5EF4-FFF2-40B4-BE49-F238E27FC236}">
                <a16:creationId xmlns:a16="http://schemas.microsoft.com/office/drawing/2014/main" id="{8D3C44CD-4ED9-4207-8D81-A2C142E32D5B}"/>
              </a:ext>
            </a:extLst>
          </p:cNvPr>
          <p:cNvSpPr>
            <a:spLocks noGrp="1"/>
          </p:cNvSpPr>
          <p:nvPr/>
        </p:nvSpPr>
        <p:spPr>
          <a:xfrm>
            <a:off x="723900" y="704850"/>
            <a:ext cx="5905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파라미터는 지식 목록이 아니다</a:t>
            </a:r>
          </a:p>
        </p:txBody>
      </p:sp>
      <p:sp>
        <p:nvSpPr>
          <p:cNvPr id="5" name="01-11-bullet-1">
            <a:extLst>
              <a:ext uri="{FF2B5EF4-FFF2-40B4-BE49-F238E27FC236}">
                <a16:creationId xmlns:a16="http://schemas.microsoft.com/office/drawing/2014/main" id="{E724268D-25BC-4411-9271-A9F936219E56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01-11-body-1">
            <a:extLst>
              <a:ext uri="{FF2B5EF4-FFF2-40B4-BE49-F238E27FC236}">
                <a16:creationId xmlns:a16="http://schemas.microsoft.com/office/drawing/2014/main" id="{A3E33E5F-DA06-4DD2-8CF1-FB0C7AA7C5DB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4495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하나의 값이 하나의 규칙을 뜻하지 않는다</a:t>
            </a:r>
          </a:p>
        </p:txBody>
      </p:sp>
      <p:sp>
        <p:nvSpPr>
          <p:cNvPr id="7" name="01-11-bullet-2">
            <a:extLst>
              <a:ext uri="{FF2B5EF4-FFF2-40B4-BE49-F238E27FC236}">
                <a16:creationId xmlns:a16="http://schemas.microsoft.com/office/drawing/2014/main" id="{48CF7F7E-3295-4BBD-869C-756B8613D423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01-11-body-2">
            <a:extLst>
              <a:ext uri="{FF2B5EF4-FFF2-40B4-BE49-F238E27FC236}">
                <a16:creationId xmlns:a16="http://schemas.microsoft.com/office/drawing/2014/main" id="{BA7469DE-51DD-483C-B4C2-B02A10299DD0}"/>
              </a:ext>
            </a:extLst>
          </p:cNvPr>
          <p:cNvSpPr>
            <a:spLocks noGrp="1"/>
          </p:cNvSpPr>
          <p:nvPr/>
        </p:nvSpPr>
        <p:spPr>
          <a:xfrm>
            <a:off x="990600" y="2781300"/>
            <a:ext cx="4495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수많은 값의 조합이 출력을 만든다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082853"/>
            <a:ext cx="4953000" cy="2787544"/>
          </a:xfrm>
          <a:prstGeom prst="rect">
            <a:avLst/>
          </a:prstGeom>
        </p:spPr>
      </p:pic>
      <p:sp>
        <p:nvSpPr>
          <p:cNvPr id="10" name="01-11-optional">
            <a:extLst>
              <a:ext uri="{FF2B5EF4-FFF2-40B4-BE49-F238E27FC236}">
                <a16:creationId xmlns:a16="http://schemas.microsoft.com/office/drawing/2014/main" id="{ABBC0077-0D42-4C1F-AA24-B2292FCF4F9F}"/>
              </a:ext>
            </a:extLst>
          </p:cNvPr>
          <p:cNvSpPr>
            <a:spLocks noGrp="1"/>
          </p:cNvSpPr>
          <p:nvPr/>
        </p:nvSpPr>
        <p:spPr>
          <a:xfrm>
            <a:off x="9810750" y="4762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34224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-12-footer-section">
            <a:extLst>
              <a:ext uri="{FF2B5EF4-FFF2-40B4-BE49-F238E27FC236}">
                <a16:creationId xmlns:a16="http://schemas.microsoft.com/office/drawing/2014/main" id="{5F712064-4F18-4DA7-A4FF-18A3AF7A856E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2-footer-page">
            <a:extLst>
              <a:ext uri="{FF2B5EF4-FFF2-40B4-BE49-F238E27FC236}">
                <a16:creationId xmlns:a16="http://schemas.microsoft.com/office/drawing/2014/main" id="{8E7914B0-B029-486D-8674-180335F61BA0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12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2-accent-rule">
            <a:extLst>
              <a:ext uri="{FF2B5EF4-FFF2-40B4-BE49-F238E27FC236}">
                <a16:creationId xmlns:a16="http://schemas.microsoft.com/office/drawing/2014/main" id="{4BA45568-63D2-4201-9BDC-7109E2C738CC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2-title">
            <a:extLst>
              <a:ext uri="{FF2B5EF4-FFF2-40B4-BE49-F238E27FC236}">
                <a16:creationId xmlns:a16="http://schemas.microsoft.com/office/drawing/2014/main" id="{CF7DF94F-87CD-4FED-BCF0-6F1818F56326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6191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55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입력도 맥락에 따라 후보가 달라진다</a:t>
            </a:r>
          </a:p>
        </p:txBody>
      </p:sp>
      <p:sp>
        <p:nvSpPr>
          <p:cNvPr id="5" name="01-12-prompt">
            <a:extLst>
              <a:ext uri="{FF2B5EF4-FFF2-40B4-BE49-F238E27FC236}">
                <a16:creationId xmlns:a16="http://schemas.microsoft.com/office/drawing/2014/main" id="{A65188F2-FD2E-455D-9F2F-A37455095B67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476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“휴스턴은…”</a:t>
            </a:r>
          </a:p>
        </p:txBody>
      </p:sp>
      <p:sp>
        <p:nvSpPr>
          <p:cNvPr id="6" name="01-12-bullet-1">
            <a:extLst>
              <a:ext uri="{FF2B5EF4-FFF2-40B4-BE49-F238E27FC236}">
                <a16:creationId xmlns:a16="http://schemas.microsoft.com/office/drawing/2014/main" id="{9C26A0B8-392C-4CA5-B389-52D2756CFC39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01-12-body-1">
            <a:extLst>
              <a:ext uri="{FF2B5EF4-FFF2-40B4-BE49-F238E27FC236}">
                <a16:creationId xmlns:a16="http://schemas.microsoft.com/office/drawing/2014/main" id="{03179854-8268-4F47-878D-A3B39FF44F39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4495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텍사스에 있다</a:t>
            </a:r>
          </a:p>
        </p:txBody>
      </p:sp>
      <p:sp>
        <p:nvSpPr>
          <p:cNvPr id="8" name="01-12-bullet-2">
            <a:extLst>
              <a:ext uri="{FF2B5EF4-FFF2-40B4-BE49-F238E27FC236}">
                <a16:creationId xmlns:a16="http://schemas.microsoft.com/office/drawing/2014/main" id="{9128EA9D-4D58-4D26-B14D-05C50A2417A0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01-12-body-2">
            <a:extLst>
              <a:ext uri="{FF2B5EF4-FFF2-40B4-BE49-F238E27FC236}">
                <a16:creationId xmlns:a16="http://schemas.microsoft.com/office/drawing/2014/main" id="{313BD71D-E16C-4649-A3A2-241A54E15F89}"/>
              </a:ext>
            </a:extLst>
          </p:cNvPr>
          <p:cNvSpPr>
            <a:spLocks noGrp="1"/>
          </p:cNvSpPr>
          <p:nvPr/>
        </p:nvSpPr>
        <p:spPr>
          <a:xfrm>
            <a:off x="1143000" y="3162300"/>
            <a:ext cx="4495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NASA가 있다</a:t>
            </a:r>
          </a:p>
        </p:txBody>
      </p:sp>
      <p:sp>
        <p:nvSpPr>
          <p:cNvPr id="10" name="01-12-bullet-3">
            <a:extLst>
              <a:ext uri="{FF2B5EF4-FFF2-40B4-BE49-F238E27FC236}">
                <a16:creationId xmlns:a16="http://schemas.microsoft.com/office/drawing/2014/main" id="{5D821822-657E-4A72-A4D6-17BBDE0E3700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01-12-body-3">
            <a:extLst>
              <a:ext uri="{FF2B5EF4-FFF2-40B4-BE49-F238E27FC236}">
                <a16:creationId xmlns:a16="http://schemas.microsoft.com/office/drawing/2014/main" id="{12228C77-9F3A-40CE-98AF-D00925CAD425}"/>
              </a:ext>
            </a:extLst>
          </p:cNvPr>
          <p:cNvSpPr>
            <a:spLocks noGrp="1"/>
          </p:cNvSpPr>
          <p:nvPr/>
        </p:nvSpPr>
        <p:spPr>
          <a:xfrm>
            <a:off x="1143000" y="3943350"/>
            <a:ext cx="4495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아주 덥다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320978"/>
            <a:ext cx="4953000" cy="2787544"/>
          </a:xfrm>
          <a:prstGeom prst="rect">
            <a:avLst/>
          </a:prstGeom>
        </p:spPr>
      </p:pic>
      <p:sp>
        <p:nvSpPr>
          <p:cNvPr id="13" name="01-12-optional">
            <a:extLst>
              <a:ext uri="{FF2B5EF4-FFF2-40B4-BE49-F238E27FC236}">
                <a16:creationId xmlns:a16="http://schemas.microsoft.com/office/drawing/2014/main" id="{1012DEBA-AF18-4BFF-9399-600E2C1228E5}"/>
              </a:ext>
            </a:extLst>
          </p:cNvPr>
          <p:cNvSpPr>
            <a:spLocks noGrp="1"/>
          </p:cNvSpPr>
          <p:nvPr/>
        </p:nvSpPr>
        <p:spPr>
          <a:xfrm>
            <a:off x="9810750" y="4762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80487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01-13-footer-section">
            <a:extLst>
              <a:ext uri="{FF2B5EF4-FFF2-40B4-BE49-F238E27FC236}">
                <a16:creationId xmlns:a16="http://schemas.microsoft.com/office/drawing/2014/main" id="{A3964F85-F9BC-4FCF-936A-1270479F7B9E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3-footer-page">
            <a:extLst>
              <a:ext uri="{FF2B5EF4-FFF2-40B4-BE49-F238E27FC236}">
                <a16:creationId xmlns:a16="http://schemas.microsoft.com/office/drawing/2014/main" id="{2C8BF8F2-FBB2-4DC8-A706-4408D622BDF7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13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3-accent-rule">
            <a:extLst>
              <a:ext uri="{FF2B5EF4-FFF2-40B4-BE49-F238E27FC236}">
                <a16:creationId xmlns:a16="http://schemas.microsoft.com/office/drawing/2014/main" id="{B937F87D-2BE8-4E14-916F-2CDC55004651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3-title">
            <a:extLst>
              <a:ext uri="{FF2B5EF4-FFF2-40B4-BE49-F238E27FC236}">
                <a16:creationId xmlns:a16="http://schemas.microsoft.com/office/drawing/2014/main" id="{D4951672-7AAF-4968-A4C8-A66DB248A781}"/>
              </a:ext>
            </a:extLst>
          </p:cNvPr>
          <p:cNvSpPr>
            <a:spLocks noGrp="1"/>
          </p:cNvSpPr>
          <p:nvPr/>
        </p:nvSpPr>
        <p:spPr>
          <a:xfrm>
            <a:off x="723900" y="704850"/>
            <a:ext cx="10287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유창함과 정확함은 다른 속성이다</a:t>
            </a:r>
          </a:p>
        </p:txBody>
      </p:sp>
      <p:sp>
        <p:nvSpPr>
          <p:cNvPr id="5" name="01-13-bullet-1">
            <a:extLst>
              <a:ext uri="{FF2B5EF4-FFF2-40B4-BE49-F238E27FC236}">
                <a16:creationId xmlns:a16="http://schemas.microsoft.com/office/drawing/2014/main" id="{C90C4E4B-E1B0-44EB-B52C-DE6D35637136}"/>
              </a:ext>
            </a:extLst>
          </p:cNvPr>
          <p:cNvSpPr>
            <a:spLocks noGrp="1"/>
          </p:cNvSpPr>
          <p:nvPr/>
        </p:nvSpPr>
        <p:spPr>
          <a:xfrm>
            <a:off x="876300" y="2066925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01-13-body-1">
            <a:extLst>
              <a:ext uri="{FF2B5EF4-FFF2-40B4-BE49-F238E27FC236}">
                <a16:creationId xmlns:a16="http://schemas.microsoft.com/office/drawing/2014/main" id="{E35A81B7-17DA-4210-AC4D-5A3602293BCE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448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그럴듯한 문장 ≠ 이해의 증거</a:t>
            </a:r>
          </a:p>
        </p:txBody>
      </p:sp>
      <p:sp>
        <p:nvSpPr>
          <p:cNvPr id="7" name="01-13-bullet-2">
            <a:extLst>
              <a:ext uri="{FF2B5EF4-FFF2-40B4-BE49-F238E27FC236}">
                <a16:creationId xmlns:a16="http://schemas.microsoft.com/office/drawing/2014/main" id="{82FA5070-15AA-4B2A-85AA-8CA2F502C9C3}"/>
              </a:ext>
            </a:extLst>
          </p:cNvPr>
          <p:cNvSpPr>
            <a:spLocks noGrp="1"/>
          </p:cNvSpPr>
          <p:nvPr/>
        </p:nvSpPr>
        <p:spPr>
          <a:xfrm>
            <a:off x="876300" y="2847975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01-13-body-2">
            <a:extLst>
              <a:ext uri="{FF2B5EF4-FFF2-40B4-BE49-F238E27FC236}">
                <a16:creationId xmlns:a16="http://schemas.microsoft.com/office/drawing/2014/main" id="{5EC36CC1-667C-4DA4-B805-B95143A473E4}"/>
              </a:ext>
            </a:extLst>
          </p:cNvPr>
          <p:cNvSpPr>
            <a:spLocks noGrp="1"/>
          </p:cNvSpPr>
          <p:nvPr/>
        </p:nvSpPr>
        <p:spPr>
          <a:xfrm>
            <a:off x="1143000" y="2733675"/>
            <a:ext cx="9448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자연스러운 번역 ≠ 사실 확인</a:t>
            </a:r>
          </a:p>
        </p:txBody>
      </p:sp>
      <p:sp>
        <p:nvSpPr>
          <p:cNvPr id="9" name="01-13-optional">
            <a:extLst>
              <a:ext uri="{FF2B5EF4-FFF2-40B4-BE49-F238E27FC236}">
                <a16:creationId xmlns:a16="http://schemas.microsoft.com/office/drawing/2014/main" id="{0B917CB8-37C4-4F37-A3CD-A1C226B32CBD}"/>
              </a:ext>
            </a:extLst>
          </p:cNvPr>
          <p:cNvSpPr>
            <a:spLocks noGrp="1"/>
          </p:cNvSpPr>
          <p:nvPr/>
        </p:nvSpPr>
        <p:spPr>
          <a:xfrm>
            <a:off x="9810750" y="4762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170156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01-14-footer-section">
            <a:extLst>
              <a:ext uri="{FF2B5EF4-FFF2-40B4-BE49-F238E27FC236}">
                <a16:creationId xmlns:a16="http://schemas.microsoft.com/office/drawing/2014/main" id="{44E3686A-5076-45C6-94D8-1F8C76ECCF15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4-footer-page">
            <a:extLst>
              <a:ext uri="{FF2B5EF4-FFF2-40B4-BE49-F238E27FC236}">
                <a16:creationId xmlns:a16="http://schemas.microsoft.com/office/drawing/2014/main" id="{995DE50E-59C2-4817-9F30-10ABB2B7A893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14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4-accent-rule">
            <a:extLst>
              <a:ext uri="{FF2B5EF4-FFF2-40B4-BE49-F238E27FC236}">
                <a16:creationId xmlns:a16="http://schemas.microsoft.com/office/drawing/2014/main" id="{93919837-0BA4-43D3-96B7-F13746F78FDA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4-title">
            <a:extLst>
              <a:ext uri="{FF2B5EF4-FFF2-40B4-BE49-F238E27FC236}">
                <a16:creationId xmlns:a16="http://schemas.microsoft.com/office/drawing/2014/main" id="{C7A8A19F-E13F-4478-B8CC-9A7C597E55A2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10744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sz="2700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LLM</a:t>
            </a:r>
            <a:r>
              <a:rPr lang="ko-KR" altLang="en-US" sz="2700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은</a:t>
            </a:r>
            <a:r>
              <a:rPr sz="2700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결과가</a:t>
            </a:r>
            <a:r>
              <a:rPr sz="2700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보장되지</a:t>
            </a:r>
            <a:r>
              <a:rPr sz="2700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700" b="1" dirty="0" err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않는다</a:t>
            </a:r>
            <a:endParaRPr sz="2700" b="1" dirty="0">
              <a:solidFill>
                <a:srgbClr val="18222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01-14-divider">
            <a:extLst>
              <a:ext uri="{FF2B5EF4-FFF2-40B4-BE49-F238E27FC236}">
                <a16:creationId xmlns:a16="http://schemas.microsoft.com/office/drawing/2014/main" id="{2A3C11BA-330D-4638-810C-DB0F87326031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0" cy="39052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01-14-left-heading">
            <a:extLst>
              <a:ext uri="{FF2B5EF4-FFF2-40B4-BE49-F238E27FC236}">
                <a16:creationId xmlns:a16="http://schemas.microsoft.com/office/drawing/2014/main" id="{9044A31D-462B-4725-AF04-2505C488FA71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4857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725" b="1" dirty="0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규칙</a:t>
            </a:r>
            <a:endParaRPr sz="1725" b="1" dirty="0">
              <a:solidFill>
                <a:srgbClr val="2878C7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" name="01-14-left-dot-1">
            <a:extLst>
              <a:ext uri="{FF2B5EF4-FFF2-40B4-BE49-F238E27FC236}">
                <a16:creationId xmlns:a16="http://schemas.microsoft.com/office/drawing/2014/main" id="{4D7BA3E2-7730-4DAF-8752-CF2F092D93B3}"/>
              </a:ext>
            </a:extLst>
          </p:cNvPr>
          <p:cNvSpPr>
            <a:spLocks noGrp="1"/>
          </p:cNvSpPr>
          <p:nvPr/>
        </p:nvSpPr>
        <p:spPr>
          <a:xfrm>
            <a:off x="723900" y="247650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01-14-left-line-1">
            <a:extLst>
              <a:ext uri="{FF2B5EF4-FFF2-40B4-BE49-F238E27FC236}">
                <a16:creationId xmlns:a16="http://schemas.microsoft.com/office/drawing/2014/main" id="{D0444E7F-F6B8-41A1-BB53-D32888DD5394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462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입력</a:t>
            </a:r>
          </a:p>
        </p:txBody>
      </p:sp>
      <p:sp>
        <p:nvSpPr>
          <p:cNvPr id="9" name="01-14-left-dot-2">
            <a:extLst>
              <a:ext uri="{FF2B5EF4-FFF2-40B4-BE49-F238E27FC236}">
                <a16:creationId xmlns:a16="http://schemas.microsoft.com/office/drawing/2014/main" id="{9622E816-4297-41F8-951D-0FBF101769B3}"/>
              </a:ext>
            </a:extLst>
          </p:cNvPr>
          <p:cNvSpPr>
            <a:spLocks noGrp="1"/>
          </p:cNvSpPr>
          <p:nvPr/>
        </p:nvSpPr>
        <p:spPr>
          <a:xfrm>
            <a:off x="723900" y="32194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01-14-left-line-2">
            <a:extLst>
              <a:ext uri="{FF2B5EF4-FFF2-40B4-BE49-F238E27FC236}">
                <a16:creationId xmlns:a16="http://schemas.microsoft.com/office/drawing/2014/main" id="{3F5176A3-53EA-4E36-AF70-EAECCD576F76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462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번역 결과</a:t>
            </a:r>
          </a:p>
        </p:txBody>
      </p:sp>
      <p:sp>
        <p:nvSpPr>
          <p:cNvPr id="11" name="01-14-left-dot-3">
            <a:extLst>
              <a:ext uri="{FF2B5EF4-FFF2-40B4-BE49-F238E27FC236}">
                <a16:creationId xmlns:a16="http://schemas.microsoft.com/office/drawing/2014/main" id="{665B3E09-9FE1-4393-8F86-1A6824B0D7EB}"/>
              </a:ext>
            </a:extLst>
          </p:cNvPr>
          <p:cNvSpPr>
            <a:spLocks noGrp="1"/>
          </p:cNvSpPr>
          <p:nvPr/>
        </p:nvSpPr>
        <p:spPr>
          <a:xfrm>
            <a:off x="723900" y="396240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01-14-left-line-3">
            <a:extLst>
              <a:ext uri="{FF2B5EF4-FFF2-40B4-BE49-F238E27FC236}">
                <a16:creationId xmlns:a16="http://schemas.microsoft.com/office/drawing/2014/main" id="{51B1E36E-B97D-4696-9498-31CB49A34967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46291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재현 가능한 계약</a:t>
            </a:r>
          </a:p>
        </p:txBody>
      </p:sp>
      <p:sp>
        <p:nvSpPr>
          <p:cNvPr id="13" name="01-14-right-heading">
            <a:extLst>
              <a:ext uri="{FF2B5EF4-FFF2-40B4-BE49-F238E27FC236}">
                <a16:creationId xmlns:a16="http://schemas.microsoft.com/office/drawing/2014/main" id="{AEB78550-A046-4336-B9D6-BE0E52D25EC3}"/>
              </a:ext>
            </a:extLst>
          </p:cNvPr>
          <p:cNvSpPr>
            <a:spLocks noGrp="1"/>
          </p:cNvSpPr>
          <p:nvPr/>
        </p:nvSpPr>
        <p:spPr>
          <a:xfrm>
            <a:off x="6572250" y="1676400"/>
            <a:ext cx="4762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878C7"/>
                </a:solidFill>
                <a:latin typeface="Malgun Gothic"/>
                <a:ea typeface="Malgun Gothic"/>
                <a:cs typeface="Malgun Gothic"/>
              </a:rPr>
              <a:t>자연어 → LLM</a:t>
            </a:r>
          </a:p>
        </p:txBody>
      </p:sp>
      <p:sp>
        <p:nvSpPr>
          <p:cNvPr id="14" name="01-14-right-dot-1">
            <a:extLst>
              <a:ext uri="{FF2B5EF4-FFF2-40B4-BE49-F238E27FC236}">
                <a16:creationId xmlns:a16="http://schemas.microsoft.com/office/drawing/2014/main" id="{8483D656-91DC-477C-B8EA-75F1FC06D523}"/>
              </a:ext>
            </a:extLst>
          </p:cNvPr>
          <p:cNvSpPr>
            <a:spLocks noGrp="1"/>
          </p:cNvSpPr>
          <p:nvPr/>
        </p:nvSpPr>
        <p:spPr>
          <a:xfrm>
            <a:off x="6572250" y="247650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01-14-right-line-1">
            <a:extLst>
              <a:ext uri="{FF2B5EF4-FFF2-40B4-BE49-F238E27FC236}">
                <a16:creationId xmlns:a16="http://schemas.microsoft.com/office/drawing/2014/main" id="{5B852A58-B3C5-459A-A9E3-D6D4D009E92C}"/>
              </a:ext>
            </a:extLst>
          </p:cNvPr>
          <p:cNvSpPr>
            <a:spLocks noGrp="1"/>
          </p:cNvSpPr>
          <p:nvPr/>
        </p:nvSpPr>
        <p:spPr>
          <a:xfrm>
            <a:off x="6800850" y="2362200"/>
            <a:ext cx="4533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같은 문장</a:t>
            </a:r>
          </a:p>
        </p:txBody>
      </p:sp>
      <p:sp>
        <p:nvSpPr>
          <p:cNvPr id="16" name="01-14-right-dot-2">
            <a:extLst>
              <a:ext uri="{FF2B5EF4-FFF2-40B4-BE49-F238E27FC236}">
                <a16:creationId xmlns:a16="http://schemas.microsoft.com/office/drawing/2014/main" id="{E4FE8986-BAA0-4290-AEDA-FB694A40994B}"/>
              </a:ext>
            </a:extLst>
          </p:cNvPr>
          <p:cNvSpPr>
            <a:spLocks noGrp="1"/>
          </p:cNvSpPr>
          <p:nvPr/>
        </p:nvSpPr>
        <p:spPr>
          <a:xfrm>
            <a:off x="6572250" y="321945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01-14-right-line-2">
            <a:extLst>
              <a:ext uri="{FF2B5EF4-FFF2-40B4-BE49-F238E27FC236}">
                <a16:creationId xmlns:a16="http://schemas.microsoft.com/office/drawing/2014/main" id="{8A4616D4-0B12-47CE-9774-6FCD48545143}"/>
              </a:ext>
            </a:extLst>
          </p:cNvPr>
          <p:cNvSpPr>
            <a:spLocks noGrp="1"/>
          </p:cNvSpPr>
          <p:nvPr/>
        </p:nvSpPr>
        <p:spPr>
          <a:xfrm>
            <a:off x="6800850" y="3105150"/>
            <a:ext cx="4533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다른 코드가 가능</a:t>
            </a:r>
          </a:p>
        </p:txBody>
      </p:sp>
      <p:sp>
        <p:nvSpPr>
          <p:cNvPr id="18" name="01-14-right-dot-3">
            <a:extLst>
              <a:ext uri="{FF2B5EF4-FFF2-40B4-BE49-F238E27FC236}">
                <a16:creationId xmlns:a16="http://schemas.microsoft.com/office/drawing/2014/main" id="{0A8174A2-E572-43E2-B441-929E457EE498}"/>
              </a:ext>
            </a:extLst>
          </p:cNvPr>
          <p:cNvSpPr>
            <a:spLocks noGrp="1"/>
          </p:cNvSpPr>
          <p:nvPr/>
        </p:nvSpPr>
        <p:spPr>
          <a:xfrm>
            <a:off x="6572250" y="3962400"/>
            <a:ext cx="85725" cy="85725"/>
          </a:xfrm>
          <a:prstGeom prst="ellipse">
            <a:avLst/>
          </a:prstGeom>
          <a:solidFill>
            <a:srgbClr val="18222D"/>
          </a:solidFill>
          <a:ln w="0">
            <a:solidFill>
              <a:srgbClr val="1822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01-14-right-line-3">
            <a:extLst>
              <a:ext uri="{FF2B5EF4-FFF2-40B4-BE49-F238E27FC236}">
                <a16:creationId xmlns:a16="http://schemas.microsoft.com/office/drawing/2014/main" id="{198932BE-F3BF-4970-800C-578191EFD621}"/>
              </a:ext>
            </a:extLst>
          </p:cNvPr>
          <p:cNvSpPr>
            <a:spLocks noGrp="1"/>
          </p:cNvSpPr>
          <p:nvPr/>
        </p:nvSpPr>
        <p:spPr>
          <a:xfrm>
            <a:off x="6800850" y="3848100"/>
            <a:ext cx="4533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계약을 따로 만들어야 함</a:t>
            </a:r>
          </a:p>
        </p:txBody>
      </p:sp>
    </p:spTree>
    <p:extLst>
      <p:ext uri="{BB962C8B-B14F-4D97-AF65-F5344CB8AC3E}">
        <p14:creationId xmlns:p14="http://schemas.microsoft.com/office/powerpoint/2010/main" val="33934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01-15-footer-section">
            <a:extLst>
              <a:ext uri="{FF2B5EF4-FFF2-40B4-BE49-F238E27FC236}">
                <a16:creationId xmlns:a16="http://schemas.microsoft.com/office/drawing/2014/main" id="{725C7FD9-D563-4C8B-BC11-FC65EEAD1088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5-footer-page">
            <a:extLst>
              <a:ext uri="{FF2B5EF4-FFF2-40B4-BE49-F238E27FC236}">
                <a16:creationId xmlns:a16="http://schemas.microsoft.com/office/drawing/2014/main" id="{BD3034D6-EF14-4AFA-A4FA-1CBF1C0D4306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15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5-accent-rule">
            <a:extLst>
              <a:ext uri="{FF2B5EF4-FFF2-40B4-BE49-F238E27FC236}">
                <a16:creationId xmlns:a16="http://schemas.microsoft.com/office/drawing/2014/main" id="{1C016285-8DA8-4A7A-B224-74DC270A2C6B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5-title">
            <a:extLst>
              <a:ext uri="{FF2B5EF4-FFF2-40B4-BE49-F238E27FC236}">
                <a16:creationId xmlns:a16="http://schemas.microsoft.com/office/drawing/2014/main" id="{FC3484C7-45E3-4325-9847-5305389818F5}"/>
              </a:ext>
            </a:extLst>
          </p:cNvPr>
          <p:cNvSpPr>
            <a:spLocks noGrp="1"/>
          </p:cNvSpPr>
          <p:nvPr/>
        </p:nvSpPr>
        <p:spPr>
          <a:xfrm>
            <a:off x="723900" y="590550"/>
            <a:ext cx="107442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실무에서는 네 방식으로 흔들린다</a:t>
            </a:r>
          </a:p>
        </p:txBody>
      </p:sp>
      <p:sp>
        <p:nvSpPr>
          <p:cNvPr id="5" name="01-15-bullet-1">
            <a:extLst>
              <a:ext uri="{FF2B5EF4-FFF2-40B4-BE49-F238E27FC236}">
                <a16:creationId xmlns:a16="http://schemas.microsoft.com/office/drawing/2014/main" id="{B34D1CD5-3869-4998-B3C2-1D62A53AF86F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01-15-body-1">
            <a:extLst>
              <a:ext uri="{FF2B5EF4-FFF2-40B4-BE49-F238E27FC236}">
                <a16:creationId xmlns:a16="http://schemas.microsoft.com/office/drawing/2014/main" id="{C3FA06E8-F188-42F6-A44D-66545E470D25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963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할루시네이션 — 없는 API를 만든다</a:t>
            </a:r>
          </a:p>
        </p:txBody>
      </p:sp>
      <p:sp>
        <p:nvSpPr>
          <p:cNvPr id="7" name="01-15-bullet-2">
            <a:extLst>
              <a:ext uri="{FF2B5EF4-FFF2-40B4-BE49-F238E27FC236}">
                <a16:creationId xmlns:a16="http://schemas.microsoft.com/office/drawing/2014/main" id="{E73FFB9B-1768-482A-AD51-3569049DE556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01-15-body-2">
            <a:extLst>
              <a:ext uri="{FF2B5EF4-FFF2-40B4-BE49-F238E27FC236}">
                <a16:creationId xmlns:a16="http://schemas.microsoft.com/office/drawing/2014/main" id="{7B34982F-0558-4327-A3B6-C8458AFF258F}"/>
              </a:ext>
            </a:extLst>
          </p:cNvPr>
          <p:cNvSpPr>
            <a:spLocks noGrp="1"/>
          </p:cNvSpPr>
          <p:nvPr/>
        </p:nvSpPr>
        <p:spPr>
          <a:xfrm>
            <a:off x="1143000" y="2362200"/>
            <a:ext cx="963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과잉 구현 — 요청하지 않은 것까지 만든다</a:t>
            </a:r>
          </a:p>
        </p:txBody>
      </p:sp>
      <p:sp>
        <p:nvSpPr>
          <p:cNvPr id="9" name="01-15-bullet-3">
            <a:extLst>
              <a:ext uri="{FF2B5EF4-FFF2-40B4-BE49-F238E27FC236}">
                <a16:creationId xmlns:a16="http://schemas.microsoft.com/office/drawing/2014/main" id="{C2DB6759-74FA-4C66-9912-F4F3FB5A95F2}"/>
              </a:ext>
            </a:extLst>
          </p:cNvPr>
          <p:cNvSpPr>
            <a:spLocks noGrp="1"/>
          </p:cNvSpPr>
          <p:nvPr/>
        </p:nvSpPr>
        <p:spPr>
          <a:xfrm>
            <a:off x="876300" y="302895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01-15-body-3">
            <a:extLst>
              <a:ext uri="{FF2B5EF4-FFF2-40B4-BE49-F238E27FC236}">
                <a16:creationId xmlns:a16="http://schemas.microsoft.com/office/drawing/2014/main" id="{269DD215-40B5-4469-A796-F7C85D72B339}"/>
              </a:ext>
            </a:extLst>
          </p:cNvPr>
          <p:cNvSpPr>
            <a:spLocks noGrp="1"/>
          </p:cNvSpPr>
          <p:nvPr/>
        </p:nvSpPr>
        <p:spPr>
          <a:xfrm>
            <a:off x="1143000" y="2914650"/>
            <a:ext cx="963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누락 — 필요한 조건을 빼먹는다</a:t>
            </a:r>
          </a:p>
        </p:txBody>
      </p:sp>
      <p:sp>
        <p:nvSpPr>
          <p:cNvPr id="11" name="01-15-bullet-4">
            <a:extLst>
              <a:ext uri="{FF2B5EF4-FFF2-40B4-BE49-F238E27FC236}">
                <a16:creationId xmlns:a16="http://schemas.microsoft.com/office/drawing/2014/main" id="{91CF32ED-7A4D-40FF-B615-263D67FF772A}"/>
              </a:ext>
            </a:extLst>
          </p:cNvPr>
          <p:cNvSpPr>
            <a:spLocks noGrp="1"/>
          </p:cNvSpPr>
          <p:nvPr/>
        </p:nvSpPr>
        <p:spPr>
          <a:xfrm>
            <a:off x="876300" y="3581400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01-15-body-4">
            <a:extLst>
              <a:ext uri="{FF2B5EF4-FFF2-40B4-BE49-F238E27FC236}">
                <a16:creationId xmlns:a16="http://schemas.microsoft.com/office/drawing/2014/main" id="{A21E3CED-5000-465B-A71D-90504B7A42E2}"/>
              </a:ext>
            </a:extLst>
          </p:cNvPr>
          <p:cNvSpPr>
            <a:spLocks noGrp="1"/>
          </p:cNvSpPr>
          <p:nvPr/>
        </p:nvSpPr>
        <p:spPr>
          <a:xfrm>
            <a:off x="1143000" y="3467100"/>
            <a:ext cx="96393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왜곡 — 요구사항의 뜻을 바꾼다</a:t>
            </a:r>
          </a:p>
        </p:txBody>
      </p:sp>
      <p:sp>
        <p:nvSpPr>
          <p:cNvPr id="13" name="01-15-optional">
            <a:extLst>
              <a:ext uri="{FF2B5EF4-FFF2-40B4-BE49-F238E27FC236}">
                <a16:creationId xmlns:a16="http://schemas.microsoft.com/office/drawing/2014/main" id="{CA3AFA35-44EE-48A0-986A-10ADE2D0327F}"/>
              </a:ext>
            </a:extLst>
          </p:cNvPr>
          <p:cNvSpPr>
            <a:spLocks noGrp="1"/>
          </p:cNvSpPr>
          <p:nvPr/>
        </p:nvSpPr>
        <p:spPr>
          <a:xfrm>
            <a:off x="9810750" y="4762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1">
                <a:solidFill>
                  <a:srgbClr val="2878C7"/>
                </a:solidFill>
                <a:latin typeface="Consolas"/>
                <a:ea typeface="Consolas"/>
                <a:cs typeface="Consolas"/>
              </a:defRPr>
            </a:pPr>
            <a:r>
              <a:rPr sz="900" b="1">
                <a:solidFill>
                  <a:srgbClr val="2878C7"/>
                </a:solidFill>
                <a:latin typeface="Consolas"/>
                <a:ea typeface="Consolas"/>
                <a:cs typeface="Consolas"/>
              </a:rPr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9570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01-16-footer-section">
            <a:extLst>
              <a:ext uri="{FF2B5EF4-FFF2-40B4-BE49-F238E27FC236}">
                <a16:creationId xmlns:a16="http://schemas.microsoft.com/office/drawing/2014/main" id="{CAE7A9ED-1A22-4086-9CBE-7632FEF65B68}"/>
              </a:ext>
            </a:extLst>
          </p:cNvPr>
          <p:cNvSpPr>
            <a:spLocks noGrp="1"/>
          </p:cNvSpPr>
          <p:nvPr/>
        </p:nvSpPr>
        <p:spPr>
          <a:xfrm>
            <a:off x="1644650" y="266700"/>
            <a:ext cx="5842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0" tIns="0" rIns="0" bIns="0" anchor="ctr" anchorCtr="0">
            <a:noAutofit/>
          </a:bodyPr>
          <a:lstStyle/>
          <a:p>
            <a:pPr algn="l">
              <a:defRPr sz="900" b="1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sz="1400" b="1" dirty="0">
                <a:solidFill>
                  <a:srgbClr val="156082"/>
                </a:solidFill>
                <a:latin typeface="Consolas"/>
                <a:ea typeface="Consolas"/>
                <a:cs typeface="Consolas"/>
              </a:rPr>
              <a:t>AI LITERACY</a:t>
            </a:r>
          </a:p>
        </p:txBody>
      </p:sp>
      <p:sp>
        <p:nvSpPr>
          <p:cNvPr id="2" name="01-16-footer-page">
            <a:extLst>
              <a:ext uri="{FF2B5EF4-FFF2-40B4-BE49-F238E27FC236}">
                <a16:creationId xmlns:a16="http://schemas.microsoft.com/office/drawing/2014/main" id="{9E577E44-429F-41B6-BCB5-E847E2BE081F}"/>
              </a:ext>
            </a:extLst>
          </p:cNvPr>
          <p:cNvSpPr>
            <a:spLocks noGrp="1"/>
          </p:cNvSpPr>
          <p:nvPr/>
        </p:nvSpPr>
        <p:spPr>
          <a:xfrm>
            <a:off x="10363200" y="6419850"/>
            <a:ext cx="1104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00" b="0">
                <a:solidFill>
                  <a:srgbClr val="667180"/>
                </a:solidFill>
                <a:latin typeface="Consolas"/>
                <a:ea typeface="Consolas"/>
                <a:cs typeface="Consolas"/>
              </a:defRPr>
            </a:pPr>
            <a:r>
              <a:rPr lang="en-US" sz="900">
                <a:solidFill>
                  <a:srgbClr val="667180"/>
                </a:solidFill>
                <a:latin typeface="Consolas"/>
                <a:ea typeface="Consolas"/>
                <a:cs typeface="Consolas"/>
              </a:rPr>
              <a:t>16 / 71</a:t>
            </a:r>
            <a:endParaRPr sz="900">
              <a:solidFill>
                <a:srgbClr val="667180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01-16-accent-rule">
            <a:extLst>
              <a:ext uri="{FF2B5EF4-FFF2-40B4-BE49-F238E27FC236}">
                <a16:creationId xmlns:a16="http://schemas.microsoft.com/office/drawing/2014/main" id="{ED1CB675-B01A-47B4-90FA-8267DE7A1B3C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742950" cy="57150"/>
          </a:xfrm>
          <a:prstGeom prst="rect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01-16-title">
            <a:extLst>
              <a:ext uri="{FF2B5EF4-FFF2-40B4-BE49-F238E27FC236}">
                <a16:creationId xmlns:a16="http://schemas.microsoft.com/office/drawing/2014/main" id="{2604C937-6D27-4F16-BFB9-C8C246B96FC0}"/>
              </a:ext>
            </a:extLst>
          </p:cNvPr>
          <p:cNvSpPr>
            <a:spLocks noGrp="1"/>
          </p:cNvSpPr>
          <p:nvPr/>
        </p:nvSpPr>
        <p:spPr>
          <a:xfrm>
            <a:off x="723900" y="704850"/>
            <a:ext cx="10287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AI</a:t>
            </a:r>
            <a:r>
              <a:rPr lang="en-US" sz="3075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(LLM)</a:t>
            </a:r>
            <a:r>
              <a:rPr sz="3075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를 더 </a:t>
            </a:r>
            <a:r>
              <a:rPr sz="3075" b="1" dirty="0" err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좋은</a:t>
            </a:r>
            <a:r>
              <a:rPr sz="3075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3075" b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규칙으</a:t>
            </a:r>
            <a:r>
              <a:rPr sz="3075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로 </a:t>
            </a:r>
            <a:r>
              <a:rPr sz="3075" b="1" dirty="0" err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취급하면</a:t>
            </a:r>
            <a:r>
              <a:rPr sz="3075" b="1" dirty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075" b="1" dirty="0" err="1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실패한다</a:t>
            </a:r>
            <a:endParaRPr sz="3075" b="1" dirty="0">
              <a:solidFill>
                <a:srgbClr val="18222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01-16-bullet-1">
            <a:extLst>
              <a:ext uri="{FF2B5EF4-FFF2-40B4-BE49-F238E27FC236}">
                <a16:creationId xmlns:a16="http://schemas.microsoft.com/office/drawing/2014/main" id="{7D189572-409E-479E-AD86-E26703C038B5}"/>
              </a:ext>
            </a:extLst>
          </p:cNvPr>
          <p:cNvSpPr>
            <a:spLocks noGrp="1"/>
          </p:cNvSpPr>
          <p:nvPr/>
        </p:nvSpPr>
        <p:spPr>
          <a:xfrm>
            <a:off x="876300" y="2066925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01-16-body-1">
            <a:extLst>
              <a:ext uri="{FF2B5EF4-FFF2-40B4-BE49-F238E27FC236}">
                <a16:creationId xmlns:a16="http://schemas.microsoft.com/office/drawing/2014/main" id="{95BC8DFE-EDAD-4E6C-8B41-4022D787BEE2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448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결과가 흔들리는 도구는 믿음으로 다루지 않는다</a:t>
            </a:r>
          </a:p>
        </p:txBody>
      </p:sp>
      <p:sp>
        <p:nvSpPr>
          <p:cNvPr id="7" name="01-16-bullet-2">
            <a:extLst>
              <a:ext uri="{FF2B5EF4-FFF2-40B4-BE49-F238E27FC236}">
                <a16:creationId xmlns:a16="http://schemas.microsoft.com/office/drawing/2014/main" id="{B9317FD8-F278-4DED-9CF5-5E60FF34FAA0}"/>
              </a:ext>
            </a:extLst>
          </p:cNvPr>
          <p:cNvSpPr>
            <a:spLocks noGrp="1"/>
          </p:cNvSpPr>
          <p:nvPr/>
        </p:nvSpPr>
        <p:spPr>
          <a:xfrm>
            <a:off x="876300" y="2847975"/>
            <a:ext cx="95250" cy="95250"/>
          </a:xfrm>
          <a:prstGeom prst="ellipse">
            <a:avLst/>
          </a:prstGeom>
          <a:solidFill>
            <a:srgbClr val="2878C7"/>
          </a:solidFill>
          <a:ln w="0">
            <a:solidFill>
              <a:srgbClr val="2878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01-16-body-2">
            <a:extLst>
              <a:ext uri="{FF2B5EF4-FFF2-40B4-BE49-F238E27FC236}">
                <a16:creationId xmlns:a16="http://schemas.microsoft.com/office/drawing/2014/main" id="{6A2C1DC8-CAC2-4AEA-A085-67257C0129C5}"/>
              </a:ext>
            </a:extLst>
          </p:cNvPr>
          <p:cNvSpPr>
            <a:spLocks noGrp="1"/>
          </p:cNvSpPr>
          <p:nvPr/>
        </p:nvSpPr>
        <p:spPr>
          <a:xfrm>
            <a:off x="1143000" y="2733675"/>
            <a:ext cx="9448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8222D"/>
                </a:solidFill>
                <a:latin typeface="Malgun Gothic"/>
                <a:ea typeface="Malgun Gothic"/>
                <a:cs typeface="Malgun Gothic"/>
              </a:rPr>
              <a:t>행동하게 하고, 관찰하고, 검증한다</a:t>
            </a:r>
          </a:p>
        </p:txBody>
      </p:sp>
      <p:sp>
        <p:nvSpPr>
          <p:cNvPr id="9" name="01-16-code">
            <a:extLst>
              <a:ext uri="{FF2B5EF4-FFF2-40B4-BE49-F238E27FC236}">
                <a16:creationId xmlns:a16="http://schemas.microsoft.com/office/drawing/2014/main" id="{641735DE-834E-450C-9620-1B4E4A432B1D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7239000" cy="514350"/>
          </a:xfrm>
          <a:prstGeom prst="rect">
            <a:avLst/>
          </a:prstGeom>
          <a:solidFill>
            <a:srgbClr val="16233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33350" tIns="133350" rIns="133350" bIns="133350" anchor="ctr"/>
          <a:lstStyle/>
          <a:p>
            <a:pPr algn="l">
              <a:defRPr sz="1500" b="0">
                <a:solidFill>
                  <a:srgbClr val="DCEB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DCEBFA"/>
                </a:solidFill>
                <a:latin typeface="Consolas"/>
                <a:ea typeface="Consolas"/>
                <a:cs typeface="Consolas"/>
              </a:rPr>
              <a:t>generate → observe → verify</a:t>
            </a:r>
          </a:p>
        </p:txBody>
      </p:sp>
    </p:spTree>
    <p:extLst>
      <p:ext uri="{BB962C8B-B14F-4D97-AF65-F5344CB8AC3E}">
        <p14:creationId xmlns:p14="http://schemas.microsoft.com/office/powerpoint/2010/main" val="16768380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7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28E231-8C57-4358-856E-563636D97DD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dbee84a-2602-4f3b-a725-ab8834fa7e4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599</Words>
  <Application>Microsoft Office PowerPoint</Application>
  <DocSecurity>0</DocSecurity>
  <PresentationFormat>Widescreen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Malgun Gothic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Jongmin Lee</cp:lastModifiedBy>
  <cp:revision>8</cp:revision>
  <dcterms:created xsi:type="dcterms:W3CDTF">2026-08-02T22:25:06Z</dcterms:created>
  <dcterms:modified xsi:type="dcterms:W3CDTF">2026-10-26T15:27:29Z</dcterms:modified>
</cp:coreProperties>
</file>