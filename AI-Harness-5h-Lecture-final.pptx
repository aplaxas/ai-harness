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3"/>
  </p:notesMasterIdLst>
  <p:sldIdLst>
    <p:sldId id="256" r:id="rId2"/>
    <p:sldId id="257" r:id="rId3"/>
    <p:sldId id="258" r:id="rId4"/>
    <p:sldId id="259" r:id="rId5"/>
    <p:sldId id="336" r:id="rId6"/>
    <p:sldId id="327" r:id="rId7"/>
    <p:sldId id="331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334" r:id="rId18"/>
    <p:sldId id="335" r:id="rId19"/>
    <p:sldId id="337" r:id="rId20"/>
    <p:sldId id="340" r:id="rId21"/>
    <p:sldId id="276" r:id="rId22"/>
    <p:sldId id="341" r:id="rId23"/>
    <p:sldId id="347" r:id="rId24"/>
    <p:sldId id="279" r:id="rId25"/>
    <p:sldId id="280" r:id="rId26"/>
    <p:sldId id="351" r:id="rId27"/>
    <p:sldId id="350" r:id="rId28"/>
    <p:sldId id="352" r:id="rId29"/>
    <p:sldId id="358" r:id="rId30"/>
    <p:sldId id="285" r:id="rId31"/>
    <p:sldId id="286" r:id="rId32"/>
    <p:sldId id="287" r:id="rId33"/>
    <p:sldId id="355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7" r:id="rId54"/>
    <p:sldId id="308" r:id="rId55"/>
    <p:sldId id="309" r:id="rId56"/>
    <p:sldId id="310" r:id="rId57"/>
    <p:sldId id="311" r:id="rId58"/>
    <p:sldId id="312" r:id="rId59"/>
    <p:sldId id="313" r:id="rId60"/>
    <p:sldId id="314" r:id="rId61"/>
    <p:sldId id="315" r:id="rId62"/>
    <p:sldId id="316" r:id="rId63"/>
    <p:sldId id="317" r:id="rId64"/>
    <p:sldId id="318" r:id="rId65"/>
    <p:sldId id="319" r:id="rId66"/>
    <p:sldId id="320" r:id="rId67"/>
    <p:sldId id="321" r:id="rId68"/>
    <p:sldId id="322" r:id="rId69"/>
    <p:sldId id="323" r:id="rId70"/>
    <p:sldId id="324" r:id="rId71"/>
    <p:sldId id="325" r:id="rId7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1931" autoAdjust="0"/>
  </p:normalViewPr>
  <p:slideViewPr>
    <p:cSldViewPr snapToGrid="0">
      <p:cViewPr varScale="1">
        <p:scale>
          <a:sx n="79" d="100"/>
          <a:sy n="79" d="100"/>
        </p:scale>
        <p:origin x="304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강의는 AI를 더 잘 믿는 법이 아니라, 믿지 않고도 함께 일할 환경을 만드는 법을 다룬다. 주니어가 검증할 수 있는 만큼만 맡길 수 있다는 순서를 먼저 제시한다.</a:t>
            </a:r>
          </a:p>
          <a:p>
            <a:endParaRPr/>
          </a:p>
          <a:p>
            <a:r>
              <a:t>전환: 먼저 AI 코딩을 둘러싼 두 개의 원문에서 출발한다.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AI 사용 여부를 찬반으로 나누면 실제 설계 문제를 놓친다. 핵심은 위임 경계, 실패 비용, 검증 가능성을 함께 판단하는 것이다.</a:t>
            </a:r>
          </a:p>
          <a:p>
            <a:endParaRPr/>
          </a:p>
          <a:p>
            <a:r>
              <a:t>전환: 카파시는 무엇이 가능해졌는지 선언했다.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해석을 덧붙이지 않고 원문을 잠시 읽게 한다. ‘코드의 존재 자체를 잊는다’는 표현과 throwaway project라는 조건을 눈여겨보게 한다.</a:t>
            </a:r>
          </a:p>
          <a:p>
            <a:endParaRPr/>
          </a:p>
          <a:p>
            <a:r>
              <a:t>전환: 다음 장에서 이 원문이 무엇을 선언했는지 한 문장으로 정리한다.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  <a:p>
            <a:r>
              <a:t>- harness/images/AndrejCarpathy.png</a:t>
            </a:r>
          </a:p>
          <a:p>
            <a:r>
              <a:t>- https://x.com/karpathy/status/1886192184808149383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장은 카파시의 주장을 평가하는 자리가 아니다. 무엇이 가능해졌는지에 대한 선언으로만 읽는다. 실무 경계는 다음 원문에서 대비한다.</a:t>
            </a:r>
          </a:p>
          <a:p>
            <a:endParaRPr/>
          </a:p>
          <a:p>
            <a:r>
              <a:t>전환: 토발즈는 선언 대신 커밋을 남겼다.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커밋 메시지 전문을 그대로 읽는다. ‘visualization tool’, 사람이 문제를 알아냈다는 문장, 방향을 다시 줬다는 문장, 자기 기준으로 평가한 마지막 문장을 짚는다.</a:t>
            </a:r>
          </a:p>
          <a:p>
            <a:endParaRPr/>
          </a:p>
          <a:p>
            <a:r>
              <a:t>전환: 여기서부터는 토발즈의 선언이 아니라 저자의 해석이다.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  <a:p>
            <a:r>
              <a:t>- https://github.com/torvalds/AudioNoise/commit/93a72563cba609a414297b558cb46ddd3ce9d6b5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인터넷의 ‘토발즈도 바이브 코딩을 지지했다’는 요약과 원문 사이를 분리한다. 사실과 해석을 같은 권위로 말하지 않는 것이 강의 전체의 태도다.</a:t>
            </a:r>
          </a:p>
          <a:p>
            <a:endParaRPr/>
          </a:p>
          <a:p>
            <a:r>
              <a:t>전환: 이 해석에서 네 가지 harness 요소를 꺼낸다.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토발즈가 harness라는 말을 썼다는 뜻이 아니다. 커밋 하나에서 저자가 읽어낸 작업 구조다. 도구 목록이 없어도 위임 경계와 평가 기준이 있으면 환경이 작동한다.</a:t>
            </a:r>
          </a:p>
          <a:p>
            <a:endParaRPr/>
          </a:p>
          <a:p>
            <a:r>
              <a:t>전환: 마지막에는 책임의 주체가 남는다.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AI가 생성했더라도 머지한 사람은 코드에 대해 책임져야 한다. 그래서 harness의 목적은 사람을 루프에서 빼는 것이 아니라 책임질 수 있는 판단 지점을 만드는 것이다.</a:t>
            </a:r>
          </a:p>
          <a:p>
            <a:endParaRPr/>
          </a:p>
          <a:p>
            <a:r>
              <a:t>전환: 그 판단을 위해 먼저 AI가 어떤 계약의 도구인지 본다.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AI 내부를 논문 수준으로 설명하지 않는다. 개발자가 실무에서 입력과 출력의 계약을 다르게 다뤄야 한다는 점만 잡는다.</a:t>
            </a:r>
          </a:p>
          <a:p>
            <a:endParaRPr/>
          </a:p>
          <a:p>
            <a:r>
              <a:t>전환: 규칙을 사람이 쓰는 시스템부터 비교한다.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에어컨 다이얼과 키-몸무게 추정 비유로 설명한다. 이름을 AI라고 부를지보다 규칙을 누가 만들었는지가 중요하다.</a:t>
            </a:r>
          </a:p>
          <a:p>
            <a:endParaRPr/>
          </a:p>
          <a:p>
            <a:r>
              <a:t>전환: 학습 과정에서 조정되는 수치를 파라미터라고 부른다.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  <a:p>
            <a:r>
              <a:t>- harness/images/ai-rule-vs-learning.png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오디오 믹서 비유를 사용하되, 실제 파라미터는 사람이 의미를 붙여 돌리는 노브가 아니라는 비유의 한계도 말한다. 핵심은 지식이 문장 목록으로 저장되지 않는다는 점이다.</a:t>
            </a:r>
          </a:p>
          <a:p>
            <a:endParaRPr/>
          </a:p>
          <a:p>
            <a:r>
              <a:t>전환: 그 조합은 다음 출력을 확률적으로 만든다.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  <a:p>
            <a:r>
              <a:t>- harness/images/ai-parameters-mixer.png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한국인과 휴스턴 거주자가 떠올리는 다음 문장이 다를 수 있다는 예로, 학습 분포와 현재 맥락이 후보 확률을 바꾼다는 점을 설명한다.</a:t>
            </a:r>
          </a:p>
          <a:p>
            <a:endParaRPr/>
          </a:p>
          <a:p>
            <a:r>
              <a:t>전환: 그러므로 자연스러운 문장은 사실 확인의 증거가 아니다.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  <a:p>
            <a:r>
              <a:t>- harness/images/ai-context-probability.png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모델이 사람처럼 이해했는지를 철학적으로 결론내리지 않는다. 실무 계약으로는 학습 데이터와 맥락을 조건으로 다음 출력을 예측했다고 다루는 편이 안전하다.</a:t>
            </a:r>
          </a:p>
          <a:p>
            <a:endParaRPr/>
          </a:p>
          <a:p>
            <a:r>
              <a:t>전환: 개발자가 익숙한 컴파일러의 계약과 비교한다.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프로그램 실행의 결정성과 번역 계층의 결정성을 구분한다. Math.random이 있어도 같은 소스의 컴파일 결과는 같다. 자연어는 번역 결과 자체가 달라질 수 있다.</a:t>
            </a:r>
          </a:p>
          <a:p>
            <a:endParaRPr/>
          </a:p>
          <a:p>
            <a:r>
              <a:t>전환: 이 차이가 실무에서 네 가지 실패로 나타난다.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네 가지를 공포 목록으로 끝내지 않는다. 뒤에서 원칙과 검증 루프가 각각 무엇을 줄이는지 다시 연결할 예고편이다.</a:t>
            </a:r>
          </a:p>
          <a:p>
            <a:endParaRPr/>
          </a:p>
          <a:p>
            <a:r>
              <a:t>전환: 그래서 AI를 더 좋은 컴파일러로 취급하면 실패한다.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재현성을 높일 수는 있지만 컴파일러와 같은 입력-출력 계약은 아니다. 따라서 신뢰를 모델의 유창함에서 얻지 않고 외부 검증에서 얻는다.</a:t>
            </a:r>
          </a:p>
          <a:p>
            <a:endParaRPr/>
          </a:p>
          <a:p>
            <a:r>
              <a:t>전환: 그 루프를 도는 실행 단위가 Agent다.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로그인 테스트 실패 예를 짧게 말한다. Agent의 이점은 처음부터 정답을 안다는 것이 아니라 틀렸다는 사실을 알아낼 기회를 갖는다는 점이다. 그 기회는 도구와 환경이 있을 때만 생긴다.</a:t>
            </a:r>
          </a:p>
          <a:p>
            <a:endParaRPr/>
          </a:p>
          <a:p>
            <a:r>
              <a:t>전환: 하지만 다음 행동 선택도 맞는다는 보장은 없다.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실천지혜는 사람의 것이고 Agent는 과거 패턴으로 그것을 흉내 낸다. 진짜 문제는 Agent에게 판단력을 주는 법이 아니라 사람이 판단해야 할 지점을 어디에 둘 것인가다.</a:t>
            </a:r>
          </a:p>
          <a:p>
            <a:endParaRPr/>
          </a:p>
          <a:p>
            <a:r>
              <a:t>전환: 이제 그 판단을 모델이 아니라 환경에 넣는 방법을 본다.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모델 성능만 올리면 실무 신뢰가 따라온다는 가정에서 벗어난다. 어떤 파일을 만지고 어떤 도구로 무엇을 검증할 수 있는지가 실제 성능을 결정한다.</a:t>
            </a:r>
          </a:p>
          <a:p>
            <a:endParaRPr/>
          </a:p>
          <a:p>
            <a:r>
              <a:t>전환: 업계의 흐름을 저자의 구분으로 정리한다.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Prompt Engineering, Context Engineering, Harness Engineering, Loop Engineering을 엄밀한 시대 구분으로 가르치지 않는다. AI가 사람의 개입 없이 결과를 내도록 환경과 루프를 확장하려는 방향으로 읽는다.</a:t>
            </a:r>
          </a:p>
          <a:p>
            <a:endParaRPr/>
          </a:p>
          <a:p>
            <a:r>
              <a:t>전환: 저자의 목표는 사람을 빼는 것이 아니다.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결정은 사람, 생성은 AI, 검증 가능한 환경은 사람이 만든다는 세 문장을 중심으로 설명한다. 자동화와 책임 이전을 같은 것으로 보지 않는다.</a:t>
            </a:r>
          </a:p>
          <a:p>
            <a:endParaRPr/>
          </a:p>
          <a:p>
            <a:r>
              <a:t>전환: 그 환경을 harness라고 정의한다.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마구는 말을 느리게 만드는 장치가 아니라 힘을 수레에 전달하는 장치라는 은유를 사용한다. harness는 제약 목록이 아니라 작업 환경의 다섯 질문에 답하는 체계다.</a:t>
            </a:r>
          </a:p>
          <a:p>
            <a:endParaRPr/>
          </a:p>
          <a:p>
            <a:r>
              <a:t>전환: 다섯 축을 질문으로 펼친다.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각 축을 제품 목록으로 외우지 말고 질문으로 기억하게 한다. 파일 범위, 테스트, 문서, 로그는 그 질문에 답하는 구체적 수단일 뿐이다.</a:t>
            </a:r>
          </a:p>
          <a:p>
            <a:endParaRPr/>
          </a:p>
          <a:p>
            <a:r>
              <a:t>전환: 토발즈 사례를 이 표에 다시 얹는다.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토발즈 사례에는 자동 정책 엔진이 없지만 다섯 축 중 셋에 답이 있었다. harness가 도구 목록이 아니라 작업 환경의 성질이라는 점을 강화한다.</a:t>
            </a:r>
          </a:p>
          <a:p>
            <a:endParaRPr/>
          </a:p>
          <a:p>
            <a:r>
              <a:t>전환: 다섯 축 중 하나만 고르면 검증이다.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불신을 감정이나 회의론으로 설명하지 않는다. 테스트, 타입 체크, 리뷰 같은 외부 증거를 통해 신뢰를 만드는 공학적 태도다.</a:t>
            </a:r>
          </a:p>
          <a:p>
            <a:endParaRPr/>
          </a:p>
          <a:p>
            <a:r>
              <a:t>전환: 검증 결과가 AI에게 돌아와야 루프가 닫힌다.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강의의 중심 루프다. 검증이 실패를 알려주고 AI가 수정하며 같은 검증을 다시 통과하는 구조를 설명한다. 비결정성은 이 루프 안에서 다시 시도할 여지가 된다.</a:t>
            </a:r>
          </a:p>
          <a:p>
            <a:endParaRPr/>
          </a:p>
          <a:p>
            <a:r>
              <a:t>전환: 환경을 파일로 나눌 때는 다른 기준이 필요하다.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사람의 승인을 빼자는 뜻이 아니다. 테스트 결과를 사람이 복사해 AI에게 붙여넣는다면 판단이 아니라 없는 배관을 사람이 대신하는 것이다.</a:t>
            </a:r>
          </a:p>
          <a:p>
            <a:endParaRPr/>
          </a:p>
          <a:p>
            <a:r>
              <a:t>전환: 자동 전달이 붙는 순간 루프가 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역할·작업·절차를 하나의 긴 프롬프트에 뭉치면 재사용과 실패 원인 추적이 어렵다. 독립적으로 설계하되 실행 시점에 연동한다.</a:t>
            </a:r>
          </a:p>
          <a:p>
            <a:endParaRPr/>
          </a:p>
          <a:p>
            <a:r>
              <a:t>전환: 그 환경 안에 넣을 원칙도 강제 수준이 다르다.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초록·노랑·빨강</a:t>
            </a:r>
            <a:r>
              <a:rPr dirty="0"/>
              <a:t> </a:t>
            </a:r>
            <a:r>
              <a:rPr dirty="0" err="1"/>
              <a:t>전체</a:t>
            </a:r>
            <a:r>
              <a:rPr dirty="0"/>
              <a:t> </a:t>
            </a:r>
            <a:r>
              <a:rPr dirty="0" err="1"/>
              <a:t>표를</a:t>
            </a:r>
            <a:r>
              <a:rPr dirty="0"/>
              <a:t> </a:t>
            </a:r>
            <a:r>
              <a:rPr dirty="0" err="1"/>
              <a:t>화면에</a:t>
            </a:r>
            <a:r>
              <a:rPr dirty="0"/>
              <a:t> </a:t>
            </a:r>
            <a:r>
              <a:rPr dirty="0" err="1"/>
              <a:t>복제하지</a:t>
            </a:r>
            <a:r>
              <a:rPr dirty="0"/>
              <a:t> </a:t>
            </a:r>
            <a:r>
              <a:rPr dirty="0" err="1"/>
              <a:t>않는다</a:t>
            </a:r>
            <a:r>
              <a:rPr dirty="0"/>
              <a:t>. </a:t>
            </a:r>
            <a:r>
              <a:rPr dirty="0" err="1"/>
              <a:t>자동화</a:t>
            </a:r>
            <a:r>
              <a:rPr dirty="0"/>
              <a:t> </a:t>
            </a:r>
            <a:r>
              <a:rPr dirty="0" err="1"/>
              <a:t>가능한</a:t>
            </a:r>
            <a:r>
              <a:rPr dirty="0"/>
              <a:t> </a:t>
            </a:r>
            <a:r>
              <a:rPr dirty="0" err="1"/>
              <a:t>원칙과</a:t>
            </a:r>
            <a:r>
              <a:rPr dirty="0"/>
              <a:t> </a:t>
            </a:r>
            <a:r>
              <a:rPr dirty="0" err="1"/>
              <a:t>결국</a:t>
            </a:r>
            <a:r>
              <a:rPr dirty="0"/>
              <a:t> </a:t>
            </a:r>
            <a:r>
              <a:rPr dirty="0" err="1"/>
              <a:t>사람이</a:t>
            </a:r>
            <a:r>
              <a:rPr dirty="0"/>
              <a:t> </a:t>
            </a:r>
            <a:r>
              <a:rPr dirty="0" err="1"/>
              <a:t>diff를</a:t>
            </a:r>
            <a:r>
              <a:rPr dirty="0"/>
              <a:t> </a:t>
            </a:r>
            <a:r>
              <a:rPr dirty="0" err="1"/>
              <a:t>봐야</a:t>
            </a:r>
            <a:r>
              <a:rPr dirty="0"/>
              <a:t> </a:t>
            </a:r>
            <a:r>
              <a:rPr dirty="0" err="1"/>
              <a:t>하는</a:t>
            </a:r>
            <a:r>
              <a:rPr dirty="0"/>
              <a:t> </a:t>
            </a:r>
            <a:r>
              <a:rPr dirty="0" err="1"/>
              <a:t>원칙이</a:t>
            </a:r>
            <a:r>
              <a:rPr dirty="0"/>
              <a:t> </a:t>
            </a:r>
            <a:r>
              <a:rPr dirty="0" err="1"/>
              <a:t>섞여</a:t>
            </a:r>
            <a:r>
              <a:rPr dirty="0"/>
              <a:t> </a:t>
            </a:r>
            <a:r>
              <a:rPr dirty="0" err="1"/>
              <a:t>있다는</a:t>
            </a:r>
            <a:r>
              <a:rPr dirty="0"/>
              <a:t> </a:t>
            </a:r>
            <a:r>
              <a:rPr dirty="0" err="1"/>
              <a:t>분포만</a:t>
            </a:r>
            <a:r>
              <a:rPr dirty="0"/>
              <a:t> </a:t>
            </a:r>
            <a:r>
              <a:rPr dirty="0" err="1"/>
              <a:t>보여준다</a:t>
            </a:r>
            <a:r>
              <a:t>.</a:t>
            </a:r>
          </a:p>
          <a:p>
            <a:endParaRPr/>
          </a:p>
          <a:p>
            <a:r>
              <a:rPr dirty="0" err="1"/>
              <a:t>전환</a:t>
            </a:r>
            <a:r>
              <a:rPr dirty="0"/>
              <a:t>: 네 </a:t>
            </a:r>
            <a:r>
              <a:rPr dirty="0" err="1"/>
              <a:t>가지</a:t>
            </a:r>
            <a:r>
              <a:rPr dirty="0"/>
              <a:t> </a:t>
            </a:r>
            <a:r>
              <a:rPr dirty="0" err="1"/>
              <a:t>실패</a:t>
            </a:r>
            <a:r>
              <a:rPr dirty="0"/>
              <a:t> </a:t>
            </a:r>
            <a:r>
              <a:rPr dirty="0" err="1"/>
              <a:t>양상도</a:t>
            </a:r>
            <a:r>
              <a:rPr dirty="0"/>
              <a:t> </a:t>
            </a:r>
            <a:r>
              <a:rPr dirty="0" err="1"/>
              <a:t>원칙만으로</a:t>
            </a:r>
            <a:r>
              <a:rPr dirty="0"/>
              <a:t> </a:t>
            </a:r>
            <a:r>
              <a:rPr dirty="0" err="1"/>
              <a:t>닫히지</a:t>
            </a:r>
            <a:r>
              <a:rPr dirty="0"/>
              <a:t> </a:t>
            </a:r>
            <a:r>
              <a:rPr dirty="0" err="1"/>
              <a:t>않는다</a:t>
            </a:r>
            <a:r>
              <a:rPr dirty="0"/>
              <a:t>.</a:t>
            </a:r>
          </a:p>
          <a:p>
            <a:r>
              <a:rPr dirty="0" err="1"/>
              <a:t>예상</a:t>
            </a:r>
            <a:r>
              <a:rPr dirty="0"/>
              <a:t> </a:t>
            </a:r>
            <a:r>
              <a:rPr dirty="0" err="1"/>
              <a:t>시간</a:t>
            </a:r>
            <a:r>
              <a:rPr dirty="0"/>
              <a:t>: 4분</a:t>
            </a:r>
          </a:p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각 원칙은 실패 가능성을 줄이지만 마지막에는 실행 가능한 검증이 필요하다. 특히 존재하지 않는 API는 코드 리뷰 문장보다 실제 빌드가 더 강한 증거다.</a:t>
            </a:r>
          </a:p>
          <a:p>
            <a:endParaRPr/>
          </a:p>
          <a:p>
            <a:r>
              <a:t>전환: 루프는 길수록 좋은 것도 아니다.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회사</a:t>
            </a:r>
            <a:r>
              <a:rPr dirty="0"/>
              <a:t> </a:t>
            </a:r>
            <a:r>
              <a:rPr dirty="0" err="1"/>
              <a:t>예산과</a:t>
            </a:r>
            <a:r>
              <a:rPr dirty="0"/>
              <a:t> </a:t>
            </a:r>
            <a:r>
              <a:rPr dirty="0" err="1"/>
              <a:t>개인</a:t>
            </a:r>
            <a:r>
              <a:rPr dirty="0"/>
              <a:t> </a:t>
            </a:r>
            <a:r>
              <a:rPr dirty="0" err="1"/>
              <a:t>요금제의</a:t>
            </a:r>
            <a:r>
              <a:rPr dirty="0"/>
              <a:t> </a:t>
            </a:r>
            <a:r>
              <a:rPr dirty="0" err="1"/>
              <a:t>전략은</a:t>
            </a:r>
            <a:r>
              <a:rPr dirty="0"/>
              <a:t> </a:t>
            </a:r>
            <a:r>
              <a:rPr dirty="0" err="1"/>
              <a:t>다를</a:t>
            </a:r>
            <a:r>
              <a:rPr dirty="0"/>
              <a:t> 수 </a:t>
            </a:r>
            <a:r>
              <a:rPr dirty="0" err="1"/>
              <a:t>있다</a:t>
            </a:r>
            <a:r>
              <a:rPr dirty="0"/>
              <a:t>. Loop </a:t>
            </a:r>
            <a:r>
              <a:rPr dirty="0" err="1"/>
              <a:t>Engineering을</a:t>
            </a:r>
            <a:r>
              <a:rPr dirty="0"/>
              <a:t> </a:t>
            </a:r>
            <a:r>
              <a:rPr dirty="0" err="1"/>
              <a:t>무한</a:t>
            </a:r>
            <a:r>
              <a:rPr dirty="0"/>
              <a:t> </a:t>
            </a:r>
            <a:r>
              <a:rPr dirty="0" err="1"/>
              <a:t>반복으로</a:t>
            </a:r>
            <a:r>
              <a:rPr dirty="0"/>
              <a:t> </a:t>
            </a:r>
            <a:r>
              <a:rPr dirty="0" err="1"/>
              <a:t>오해하지</a:t>
            </a:r>
            <a:r>
              <a:rPr dirty="0"/>
              <a:t> </a:t>
            </a:r>
            <a:r>
              <a:rPr dirty="0" err="1"/>
              <a:t>않고</a:t>
            </a:r>
            <a:r>
              <a:rPr dirty="0"/>
              <a:t> </a:t>
            </a:r>
            <a:r>
              <a:rPr dirty="0" err="1"/>
              <a:t>종료</a:t>
            </a:r>
            <a:r>
              <a:rPr dirty="0"/>
              <a:t> </a:t>
            </a:r>
            <a:r>
              <a:rPr dirty="0" err="1"/>
              <a:t>조건과</a:t>
            </a:r>
            <a:r>
              <a:rPr dirty="0"/>
              <a:t> </a:t>
            </a:r>
            <a:r>
              <a:rPr dirty="0" err="1"/>
              <a:t>비용을</a:t>
            </a:r>
            <a:r>
              <a:rPr dirty="0"/>
              <a:t> </a:t>
            </a:r>
            <a:r>
              <a:rPr dirty="0" err="1"/>
              <a:t>harness의</a:t>
            </a:r>
            <a:r>
              <a:rPr dirty="0"/>
              <a:t> </a:t>
            </a:r>
            <a:r>
              <a:rPr dirty="0" err="1"/>
              <a:t>일부로</a:t>
            </a:r>
            <a:r>
              <a:rPr dirty="0"/>
              <a:t> </a:t>
            </a:r>
            <a:r>
              <a:rPr dirty="0" err="1"/>
              <a:t>둔다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전환</a:t>
            </a:r>
            <a:r>
              <a:rPr dirty="0"/>
              <a:t>: </a:t>
            </a:r>
            <a:r>
              <a:rPr dirty="0" err="1"/>
              <a:t>마지막으로</a:t>
            </a:r>
            <a:r>
              <a:rPr dirty="0"/>
              <a:t> 이 </a:t>
            </a:r>
            <a:r>
              <a:rPr dirty="0" err="1"/>
              <a:t>막의</a:t>
            </a:r>
            <a:r>
              <a:rPr dirty="0"/>
              <a:t> </a:t>
            </a:r>
            <a:r>
              <a:rPr dirty="0" err="1"/>
              <a:t>책임</a:t>
            </a:r>
            <a:r>
              <a:rPr dirty="0"/>
              <a:t> </a:t>
            </a:r>
            <a:r>
              <a:rPr dirty="0" err="1"/>
              <a:t>원칙을</a:t>
            </a:r>
            <a:r>
              <a:rPr dirty="0"/>
              <a:t> </a:t>
            </a:r>
            <a:r>
              <a:rPr dirty="0" err="1"/>
              <a:t>정리한다</a:t>
            </a:r>
            <a:r>
              <a:rPr dirty="0"/>
              <a:t>.</a:t>
            </a:r>
          </a:p>
          <a:p>
            <a:r>
              <a:rPr dirty="0" err="1"/>
              <a:t>예상</a:t>
            </a:r>
            <a:r>
              <a:rPr dirty="0"/>
              <a:t> </a:t>
            </a:r>
            <a:r>
              <a:rPr dirty="0" err="1"/>
              <a:t>시간</a:t>
            </a:r>
            <a:r>
              <a:rPr dirty="0"/>
              <a:t>: 4분</a:t>
            </a:r>
          </a:p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‘나는 이 코드에 대해 책임질 수 있는가?’라는 질문으로 닫는다. harness의 품질은 도구 수가 아니라 이 질문에 그렇다고 답할 수 있는 근거로 평가한다.</a:t>
            </a:r>
          </a:p>
          <a:p>
            <a:endParaRPr/>
          </a:p>
          <a:p>
            <a:r>
              <a:t>전환: 이제 그 환경 안에서 무엇을 강제할지 본다.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‘</a:t>
            </a:r>
            <a:r>
              <a:rPr dirty="0" err="1"/>
              <a:t>나는</a:t>
            </a:r>
            <a:r>
              <a:rPr dirty="0"/>
              <a:t> 이 </a:t>
            </a:r>
            <a:r>
              <a:rPr dirty="0" err="1"/>
              <a:t>코드에</a:t>
            </a:r>
            <a:r>
              <a:rPr dirty="0"/>
              <a:t> </a:t>
            </a:r>
            <a:r>
              <a:rPr dirty="0" err="1"/>
              <a:t>대해</a:t>
            </a:r>
            <a:r>
              <a:rPr dirty="0"/>
              <a:t> </a:t>
            </a:r>
            <a:r>
              <a:rPr dirty="0" err="1"/>
              <a:t>책임질</a:t>
            </a:r>
            <a:r>
              <a:rPr dirty="0"/>
              <a:t> 수 </a:t>
            </a:r>
            <a:r>
              <a:rPr dirty="0" err="1"/>
              <a:t>있는가</a:t>
            </a:r>
            <a:r>
              <a:rPr dirty="0"/>
              <a:t>?’</a:t>
            </a:r>
            <a:r>
              <a:rPr dirty="0" err="1"/>
              <a:t>라는</a:t>
            </a:r>
            <a:r>
              <a:rPr dirty="0"/>
              <a:t> </a:t>
            </a:r>
            <a:r>
              <a:rPr dirty="0" err="1"/>
              <a:t>질문으로</a:t>
            </a:r>
            <a:r>
              <a:rPr dirty="0"/>
              <a:t> </a:t>
            </a:r>
            <a:r>
              <a:rPr dirty="0" err="1"/>
              <a:t>닫는다</a:t>
            </a:r>
            <a:r>
              <a:rPr dirty="0"/>
              <a:t>. </a:t>
            </a:r>
            <a:r>
              <a:rPr dirty="0" err="1"/>
              <a:t>harness의</a:t>
            </a:r>
            <a:r>
              <a:rPr dirty="0"/>
              <a:t> </a:t>
            </a:r>
            <a:r>
              <a:rPr dirty="0" err="1"/>
              <a:t>품질은</a:t>
            </a:r>
            <a:r>
              <a:rPr dirty="0"/>
              <a:t> </a:t>
            </a:r>
            <a:r>
              <a:rPr dirty="0" err="1"/>
              <a:t>도구</a:t>
            </a:r>
            <a:r>
              <a:rPr dirty="0"/>
              <a:t> </a:t>
            </a:r>
            <a:r>
              <a:rPr dirty="0" err="1"/>
              <a:t>수가</a:t>
            </a:r>
            <a:r>
              <a:rPr dirty="0"/>
              <a:t> </a:t>
            </a:r>
            <a:r>
              <a:rPr dirty="0" err="1"/>
              <a:t>아니라</a:t>
            </a:r>
            <a:r>
              <a:rPr dirty="0"/>
              <a:t> 이 </a:t>
            </a:r>
            <a:r>
              <a:rPr dirty="0" err="1"/>
              <a:t>질문에</a:t>
            </a:r>
            <a:r>
              <a:rPr dirty="0"/>
              <a:t> </a:t>
            </a:r>
            <a:r>
              <a:rPr dirty="0" err="1"/>
              <a:t>그렇다고</a:t>
            </a:r>
            <a:r>
              <a:rPr dirty="0"/>
              <a:t> </a:t>
            </a:r>
            <a:r>
              <a:rPr dirty="0" err="1"/>
              <a:t>답할</a:t>
            </a:r>
            <a:r>
              <a:rPr dirty="0"/>
              <a:t> 수 </a:t>
            </a:r>
            <a:r>
              <a:rPr dirty="0" err="1"/>
              <a:t>있는</a:t>
            </a:r>
            <a:r>
              <a:rPr dirty="0"/>
              <a:t> </a:t>
            </a:r>
            <a:r>
              <a:rPr dirty="0" err="1"/>
              <a:t>근거로</a:t>
            </a:r>
            <a:r>
              <a:rPr dirty="0"/>
              <a:t> </a:t>
            </a:r>
            <a:r>
              <a:rPr dirty="0" err="1"/>
              <a:t>평가한다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전환</a:t>
            </a:r>
            <a:r>
              <a:rPr dirty="0"/>
              <a:t>: </a:t>
            </a:r>
            <a:r>
              <a:rPr dirty="0" err="1"/>
              <a:t>이제</a:t>
            </a:r>
            <a:r>
              <a:rPr dirty="0"/>
              <a:t> 그 </a:t>
            </a:r>
            <a:r>
              <a:rPr dirty="0" err="1"/>
              <a:t>환경</a:t>
            </a:r>
            <a:r>
              <a:rPr dirty="0"/>
              <a:t> </a:t>
            </a:r>
            <a:r>
              <a:rPr dirty="0" err="1"/>
              <a:t>안에서</a:t>
            </a:r>
            <a:r>
              <a:rPr dirty="0"/>
              <a:t> </a:t>
            </a:r>
            <a:r>
              <a:rPr dirty="0" err="1"/>
              <a:t>무엇을</a:t>
            </a:r>
            <a:r>
              <a:rPr dirty="0"/>
              <a:t> </a:t>
            </a:r>
            <a:r>
              <a:rPr dirty="0" err="1"/>
              <a:t>강제할지</a:t>
            </a:r>
            <a:r>
              <a:rPr dirty="0"/>
              <a:t> </a:t>
            </a:r>
            <a:r>
              <a:rPr dirty="0" err="1"/>
              <a:t>본다</a:t>
            </a:r>
            <a:r>
              <a:rPr dirty="0"/>
              <a:t>.</a:t>
            </a:r>
          </a:p>
          <a:p>
            <a:r>
              <a:rPr dirty="0" err="1"/>
              <a:t>예상</a:t>
            </a:r>
            <a:r>
              <a:rPr dirty="0"/>
              <a:t> </a:t>
            </a:r>
            <a:r>
              <a:rPr dirty="0" err="1"/>
              <a:t>시간</a:t>
            </a:r>
            <a:r>
              <a:rPr dirty="0"/>
              <a:t>: 4분</a:t>
            </a:r>
          </a:p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방법론을 구호로 소개하는 막이 아니다. AI가 다음 단계로 넘어가기 전에 무엇을 남기고 무엇으로 검증할지를 정하는 운용 규율로 설명한다.</a:t>
            </a:r>
          </a:p>
          <a:p>
            <a:endParaRPr/>
          </a:p>
          <a:p>
            <a:r>
              <a:t>전환: 먼저 네 방법론이 흐름 어디에 놓이는지 큰 지도를 본다.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harness/02-개발방법론.md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2편의 전체 흐름을 먼저 보여주되 단계별 도구 설명은 4막으로 미룬다. 각 방법론이 독립된 구호가 아니라 특정 산출물과 질문으로 반복된다는 점만 잡는다.</a:t>
            </a:r>
          </a:p>
          <a:p>
            <a:endParaRPr/>
          </a:p>
          <a:p>
            <a:r>
              <a:t>전환: 첫 번째는 틀린 것을 빠르게 만들지 않는 SDD다.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harness/02-개발방법론.md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강의에서 SDD는 하나로 통일된 업계 정의가 아니라 브룩스의 문제의식을 저자가 운용하는 방식이다. 목적은 문서 양이 아니라 해석 차이를 구현 전에 드러내는 것이다.</a:t>
            </a:r>
          </a:p>
          <a:p>
            <a:endParaRPr/>
          </a:p>
          <a:p>
            <a:r>
              <a:t>전환: AI 시대에는 잘못된 방향도 훨씬 빨리 완성된다.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harness/02-개발방법론.md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속도의 역설을 설명한다. 생성 속도가 빨라질수록 구현 전에 목적·범위·완료 조건을 합의하는 비용의 가치가 더 커진다.</a:t>
            </a:r>
          </a:p>
          <a:p>
            <a:endParaRPr/>
          </a:p>
          <a:p>
            <a:r>
              <a:t>전환: 주니어가 SDD를 긴 프롬프트로 오해하기 쉽다.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harness/02-개발방법론.md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주니어가 먼저 익힐 것은 AI에게 더 자세히 말하는 기술이 아니라 모호함을 질문하고 관찰 가능한 성공 조건으로 바꾸는 습관이다.</a:t>
            </a:r>
          </a:p>
          <a:p>
            <a:endParaRPr/>
          </a:p>
          <a:p>
            <a:r>
              <a:t>전환: harness는 그 결과가 파일로 남도록 강제한다.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harness/02-개발방법론.md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AI가 사용자를 인터뷰하게 하고 목적·범위·제외 범위·제약·성공 조건을 묻게 한다. 산출물이 spec 파일로 떨어지지 않으면 다음 단계로 가지 못하게 한다.</a:t>
            </a:r>
          </a:p>
          <a:p>
            <a:endParaRPr/>
          </a:p>
          <a:p>
            <a:r>
              <a:t>전환: 다음은 단어의 뜻을 맞추는 DDD다.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harness/02-개발방법론.md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DDD 전체를 Aggregate나 Repository 패턴으로 가르치지 않는다. 이 강의는 harness에서 가장 먼저 강제할 값어치가 있는 유비쿼터스 언어 하나에 초점을 둔다.</a:t>
            </a:r>
          </a:p>
          <a:p>
            <a:endParaRPr/>
          </a:p>
          <a:p>
            <a:r>
              <a:t>전환: 도메인 용어가 흔들리면 AI는 낯선 이름을 거침없이 만든다.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harness/02-개발방법론.md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고객, 주문, 취소 같은 평범한 단어도 프로젝트마다 뜻이 다르다. AI는 빈칸을 조용히 채우므로 뜻이 애매하면 구현을 멈추고 묻게 해야 한다.</a:t>
            </a:r>
          </a:p>
          <a:p>
            <a:endParaRPr/>
          </a:p>
          <a:p>
            <a:r>
              <a:t>전환: 용어집은 사람만 가능하던 판단을 대조 가능한 규칙으로 내린다.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harness/02-개발방법론.md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Meaningful Naming을 완전히 자동 게이트로 만들 수는 없다. 다만 프로젝트 전용 정의가 있으면 빨강에 가까운 판단을 노랑으로 끌어내려 AI도 대조할 근거를 갖는다.</a:t>
            </a:r>
          </a:p>
          <a:p>
            <a:endParaRPr/>
          </a:p>
          <a:p>
            <a:r>
              <a:t>전환: 다음은 원하는 행동을 코드보다 먼저 정하는 TDD다.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harness/02-개발방법론.md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테스트 수를 늘리는 기법으로 축소하지 않는다. AI에게 결과의 모양을 자연어가 아니라 실행 가능한 예로 먼저 제시하는 계약이다.</a:t>
            </a:r>
          </a:p>
          <a:p>
            <a:endParaRPr/>
          </a:p>
          <a:p>
            <a:r>
              <a:t>전환: 실패하는 테스트를 먼저 봐야 증거가 생긴다.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harness/02-개발방법론.md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AI가 만든 테스트가 이미 통과하거나 엉뚱한 이유로 실패할 수 있다. 실패를 먼저 확인해야 테스트가 요구 행동을 실제로 감시한다는 증거가 생긴다.</a:t>
            </a:r>
          </a:p>
          <a:p>
            <a:endParaRPr/>
          </a:p>
          <a:p>
            <a:r>
              <a:t>전환: harness는 이 순서를 건너뛰지 못하게 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harness/02-개발방법론.md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큰 기능 전체를 한 번에 맡기는 대신 task별 실패 테스트와 최소 구현으로 쪼갠다. 각 단위가 독립적으로 검토되고 되돌릴 수 있어야 한다.</a:t>
            </a:r>
          </a:p>
          <a:p>
            <a:endParaRPr/>
          </a:p>
          <a:p>
            <a:r>
              <a:t>전환: 마지막 원칙은 인터페이스의 깊이를 묻는 Deep Module이다.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harness/02-개발방법론.md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코드 줄 수가 많은 모듈을 뜻하지 않는다. 호출자가 알아야 할 것보다 내부가 훨씬 많은 모듈이 깊다. 복잡성을 없애는 것이 아니라 경계 안으로 숨긴다.</a:t>
            </a:r>
          </a:p>
          <a:p>
            <a:endParaRPr/>
          </a:p>
          <a:p>
            <a:r>
              <a:t>전환: 하지만 이 원칙은 자동 게이트로 판정하기 어렵다.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harness/02-개발방법론.md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SDD·DDD·TDD처럼 특정 산출물이 없으면 다음으로 못 가는 게이트로 만들기 어렵다. 구현 후 코드 리뷰와 흐름 복원에서 반복해서 던지는 질문으로 운용한다.</a:t>
            </a:r>
          </a:p>
          <a:p>
            <a:endParaRPr/>
          </a:p>
          <a:p>
            <a:r>
              <a:t>전환: 네 방법론을 한 표로 정리한다.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harness/02-개발방법론.md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방법론 이름보다 각 질문과 남는 증거를 기억하게 한다. SDD와 DDD는 상태를, TDD는 검증과 도구를, Deep Module은 사람의 리뷰 질문을 강화한다.</a:t>
            </a:r>
          </a:p>
          <a:p>
            <a:endParaRPr/>
          </a:p>
          <a:p>
            <a:r>
              <a:t>전환: 계약을 먼저 정할수록 위임 경계가 넓어진다.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harness/02-개발방법론.md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사람이 모든 인터페이스를 완전히 선언해야만 AI가 시작할 수 있다는 뜻은 아니다. 계약이 흐릴수록 검증에서 더 많은 일을 하게 된다. 원칙의 가치는 실제 다음 행동과 게이트를 바꾸는 데 있다.</a:t>
            </a:r>
          </a:p>
          <a:p>
            <a:endParaRPr/>
          </a:p>
          <a:p>
            <a:r>
              <a:t>전환: 이제 이 원칙들이 실제 여섯 단계에서 어떻게 도는지 본다.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harness/02-개발방법론.md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앞 막의 원칙을 실제 작업 흐름으로 옮긴다. 단계 이름보다 각 단계의 입력, 산출물, 사람의 판단 지점, 다음 단계로 넘어가는 조건을 본다.</a:t>
            </a:r>
          </a:p>
          <a:p>
            <a:endParaRPr/>
          </a:p>
          <a:p>
            <a:r>
              <a:t>전환: 이 흐름이 필요한 이유는 생성 속도 뒤에 남는 인지 부채다.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인지 부채는 AI가 만든 코드를 사람이 이해하지 못한 채 쌓아 다음 변경에서 조사 비용이 커지는 문제로 설명한다. 이 글의 처방은 참고 글을 복제한 것이 아니라 저자의 harness에 맞춘 해석이다.</a:t>
            </a:r>
          </a:p>
          <a:p>
            <a:endParaRPr/>
          </a:p>
          <a:p>
            <a:r>
              <a:t>전환: 여섯 단계는 이해와 증거가 함께 남도록 연결한다.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  <a:p>
            <a:r>
              <a:t>- https://margaretstorey.com/blog/2026/02/09/cognitive-debt/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각 단계의 산출물을 나란히 보여준다. 파일 이름은 저자의 구현 선택이며 harness의 보편적 필수 요소는 아니다. 필수는 합의·증거·현재 흐름·다음 작업의 지식이 연결된다는 성질이다.</a:t>
            </a:r>
          </a:p>
          <a:p>
            <a:endParaRPr/>
          </a:p>
          <a:p>
            <a:r>
              <a:t>전환: 이 흐름 안에는 두 개의 루프가 있다.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안쪽 루프는 한 task의 코드 정확성을 닫는다. 바깥 루프는 작업이 끝난 뒤 실제 구현과 문서를 연결해 다음 brainstorming의 입력으로 돌려보낸다.</a:t>
            </a:r>
          </a:p>
          <a:p>
            <a:endParaRPr/>
          </a:p>
          <a:p>
            <a:r>
              <a:t>전환: 두 루프 사이에서 정본도 이동한다.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정본이 하나가 아니라 질문마다 다르다는 핵심을 설명한다. 구현 전 의도는 spec과 plan이 권위다. 구현 후 현재 동작은 실제 소스코드가 권위이며 e2e는 그것을 읽는 지도다.</a:t>
            </a:r>
          </a:p>
          <a:p>
            <a:endParaRPr/>
          </a:p>
          <a:p>
            <a:r>
              <a:t>전환: 그렇다고 모든 작업에 여섯 단계를 다 돌지는 않는다.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오타 하나에 brainstorming부터 wiki까지 도는 것은 harness가 아니라 의식이다. 합의 비용과 검증 비용을 작업 위험에 맞춘다.</a:t>
            </a:r>
          </a:p>
          <a:p>
            <a:endParaRPr/>
          </a:p>
          <a:p>
            <a:r>
              <a:t>전환: 생략 여부는 세 질문으로 판단할 수 있다.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단계 수가 많을수록 좋은 것이 아니다. 어느 연결을 끊었는지 알고, 그 위험을 받아들이는지가 판단이다.</a:t>
            </a:r>
          </a:p>
          <a:p>
            <a:endParaRPr/>
          </a:p>
          <a:p>
            <a:r>
              <a:t>전환: 첫 단계는 무엇을 만들지 합의하는 일이다.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AI가 목적, 범위, 제외 범위, 제약, 성공 조건을 질문하도록 강제한다. 답할 수 없는 것을 드러내는 질문도 포함해 AI가 모호함을 조용히 채우지 못하게 한다.</a:t>
            </a:r>
          </a:p>
          <a:p>
            <a:endParaRPr/>
          </a:p>
          <a:p>
            <a:r>
              <a:t>전환: 주문 취소 예시로 합의가 어떻게 구체화되는지 본다.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좋은 대화 자체가 목적이 아니다. 모호함을 드러내고 결정된 내용이 spec으로 남아야 한다. 질문 없이 바로 구현하면 AI가 가장 그럴듯한 정의를 선택한다.</a:t>
            </a:r>
          </a:p>
          <a:p>
            <a:endParaRPr/>
          </a:p>
          <a:p>
            <a:r>
              <a:t>전환: 합의된 spec은 범위와 성공 조건을 한 문장으로 닫는다.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주문 취소 사례의 합의 결과다. 사람은 목적과 받아들일 범위를 승인하고, AI는 빈칸과 해석 차이를 드러내고 기록한다.</a:t>
            </a:r>
          </a:p>
          <a:p>
            <a:endParaRPr/>
          </a:p>
          <a:p>
            <a:r>
              <a:t>전환: 다음 단계는 이 합의를 검증 가능한 구현 순서로 바꾼다.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상세한 plan을 구현 완료로 착각하지 않는다. plan은 각 task가 spec의 어느 요구를 만족하고 어떤 테스트로 증명하는지를 작게 나눈 계약이다.</a:t>
            </a:r>
          </a:p>
          <a:p>
            <a:endParaRPr/>
          </a:p>
          <a:p>
            <a:r>
              <a:t>전환: 위험이 큰 규칙을 먼저 증명한다.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상태 전이가 틀리면 재고·이벤트·API가 모두 무의미해진다. 기술 레이어 순서가 아니라 실패 비용이 큰 행동을 먼저 증명하는 순서다.</a:t>
            </a:r>
          </a:p>
          <a:p>
            <a:endParaRPr/>
          </a:p>
          <a:p>
            <a:r>
              <a:t>전환: 구현 전에 사람이 그 순서와 이유를 이해해야 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spec과 plan이 정확해도 밀도가 높으면 설계의 줄거리를 놓칠 수 있다. explained 문서는 사람이 이유와 순서를 이해하고 오해를 구현 전에 찾게 하는 보조물이다. 정본은 아니다.</a:t>
            </a:r>
          </a:p>
          <a:p>
            <a:endParaRPr/>
          </a:p>
          <a:p>
            <a:r>
              <a:t>전환: 주문 취소에서 기각된 대안이 순서를 설명한다.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해설이 원문에 없는 결정을 새로 만들면 안 된다. 이 예는 spec에서 결제 취소를 별도 이벤트로 정한 이유를 설명해 task 3의 위치를 납득하게 한다.</a:t>
            </a:r>
          </a:p>
          <a:p>
            <a:endParaRPr/>
          </a:p>
          <a:p>
            <a:r>
              <a:t>전환: 이제 문서 세계를 실행 가능한 증거로 바꾼다.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구현 전 문서 세계와 구현된 시스템을 잇는 전환점이다. 테스트를 실제로 실행하고, 요구사항 적합성 리뷰와 코드 품질 리뷰를 구분한다.</a:t>
            </a:r>
          </a:p>
          <a:p>
            <a:endParaRPr/>
          </a:p>
          <a:p>
            <a:r>
              <a:t>전환: 주문 취소의 첫 규칙을 TDD로 본다.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가드를 먼저 넣고 테스트를 나중에 쓰면 테스트가 가드를 실제로 검증하는지 알기 어렵다. 실패를 먼저 본 기록이 실행 가능한 증거다.</a:t>
            </a:r>
          </a:p>
          <a:p>
            <a:endParaRPr/>
          </a:p>
          <a:p>
            <a:r>
              <a:t>전환: 이 순간부터 현재 동작의 정본은 실제 소스코드다.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계획과 실제 구현은 달라질 수 있다. 구현 후 plan을 현재 동작의 권위로 읽으면 문서가 그럴듯한 거짓말이 된다.</a:t>
            </a:r>
          </a:p>
          <a:p>
            <a:endParaRPr/>
          </a:p>
          <a:p>
            <a:r>
              <a:t>전환: 그래서 실제 코드에서 흐름을 다시 복원한다.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e2e라는 이름이 있어도 테스트 코드를 만드는 단계가 아니다. 실제 파일을 열어 진입점, gate, 실패, transaction, persistence, 로그 지점을 추적해 구현 흐름 문서를 만든다.</a:t>
            </a:r>
          </a:p>
          <a:p>
            <a:endParaRPr/>
          </a:p>
          <a:p>
            <a:r>
              <a:t>전환: 차이를 발견한 뒤 사람의 판단이 필요하다.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차이를 흠으로 숨기면 다음 작업에서 같은 문제가 반복된다. 코드가 맞는지 spec이 맞는지, 둘 다 애매했는지를 사람이 판단한다.</a:t>
            </a:r>
          </a:p>
          <a:p>
            <a:endParaRPr/>
          </a:p>
          <a:p>
            <a:r>
              <a:t>전환: 마지막 단계는 이 판단과 흐름을 다음 작업의 지식으로 바꾼다.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wiki는 정본이 아니라 탐색 도구다. e2e가 없으면 지금 어떻게 도는지 상상으로 채우지 않고 부재를 드러낸다. 같은 stem의 원문을 연결해 다음 brainstorming이 같은 조사를 반복하지 않게 한다.</a:t>
            </a:r>
          </a:p>
          <a:p>
            <a:endParaRPr/>
          </a:p>
          <a:p>
            <a:r>
              <a:t>전환: 마지막으로 시간에 따라 어떤 모듈을 덜어낼지 정리한다.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발표자용 운영 가이드다. 3시간에서는 optional 표시된 AI 기초, 방법론 보충, 주문 취소 상세 예시를 덜어낸다. 2시간에서는 핵심 질문과 다섯 축, 검증 루프, 네 방법론 요약, 여섯 단계 지도와 정본 이동만 유지한다.</a:t>
            </a:r>
          </a:p>
          <a:p>
            <a:endParaRPr/>
          </a:p>
          <a:p>
            <a:r>
              <a:t>전환: 강의의 첫 질문으로 돌아가 결론을 닫는다.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docs/superpowers/specs/2026-08-03-ai-harness-lecture-deck-design.md</a:t>
            </a:r>
          </a:p>
          <a:p>
            <a:r>
              <a:t>- harness/01-하네스란무엇인가.md</a:t>
            </a:r>
          </a:p>
          <a:p>
            <a:r>
              <a:t>- harness/02-개발방법론.md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강의 첫 질문을 책임의 질문으로 닫는다. harness는 AI를 믿게 만드는 장치가 아니라, 생성된 결과를 확인하고 사람이 책임질 수 있는 근거를 만드는 환경이다.</a:t>
            </a:r>
          </a:p>
          <a:p>
            <a:endParaRPr/>
          </a:p>
          <a:p>
            <a:r>
              <a:t>전환: 질의응답으로 이어간다.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docs/superpowers/specs/2026-08-03-ai-harness-lecture-deck-design.md</a:t>
            </a:r>
          </a:p>
          <a:p>
            <a:r>
              <a:t>- harness/01-하네스란무엇인가.md</a:t>
            </a:r>
          </a:p>
          <a:p>
            <a:r>
              <a:t>- harness/02-개발방법론.md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01-01-accent-rule">
            <a:extLst>
              <a:ext uri="{FF2B5EF4-FFF2-40B4-BE49-F238E27FC236}">
                <a16:creationId xmlns:a16="http://schemas.microsoft.com/office/drawing/2014/main" id="{777EBD76-074E-4103-ACC7-C644D06FE336}"/>
              </a:ext>
            </a:extLst>
          </p:cNvPr>
          <p:cNvSpPr>
            <a:spLocks noGrp="1"/>
          </p:cNvSpPr>
          <p:nvPr/>
        </p:nvSpPr>
        <p:spPr>
          <a:xfrm>
            <a:off x="723900" y="800100"/>
            <a:ext cx="91440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01-01-eyebrow">
            <a:extLst>
              <a:ext uri="{FF2B5EF4-FFF2-40B4-BE49-F238E27FC236}">
                <a16:creationId xmlns:a16="http://schemas.microsoft.com/office/drawing/2014/main" id="{6AE49D4F-1BD5-499D-A7EB-56C9CACDEF37}"/>
              </a:ext>
            </a:extLst>
          </p:cNvPr>
          <p:cNvSpPr>
            <a:spLocks noGrp="1"/>
          </p:cNvSpPr>
          <p:nvPr/>
        </p:nvSpPr>
        <p:spPr>
          <a:xfrm>
            <a:off x="723900" y="1143000"/>
            <a:ext cx="5143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12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AI HARNESS · 5H LECTURE</a:t>
            </a:r>
          </a:p>
        </p:txBody>
      </p:sp>
      <p:sp>
        <p:nvSpPr>
          <p:cNvPr id="3" name="01-01-title">
            <a:extLst>
              <a:ext uri="{FF2B5EF4-FFF2-40B4-BE49-F238E27FC236}">
                <a16:creationId xmlns:a16="http://schemas.microsoft.com/office/drawing/2014/main" id="{D5BC28C6-7CCD-4059-AFDC-FAF6755234F1}"/>
              </a:ext>
            </a:extLst>
          </p:cNvPr>
          <p:cNvSpPr>
            <a:spLocks noGrp="1"/>
          </p:cNvSpPr>
          <p:nvPr/>
        </p:nvSpPr>
        <p:spPr>
          <a:xfrm>
            <a:off x="723900" y="1809750"/>
            <a:ext cx="809625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4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4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AI Harness</a:t>
            </a:r>
          </a:p>
        </p:txBody>
      </p:sp>
      <p:sp>
        <p:nvSpPr>
          <p:cNvPr id="4" name="01-01-subtitle">
            <a:extLst>
              <a:ext uri="{FF2B5EF4-FFF2-40B4-BE49-F238E27FC236}">
                <a16:creationId xmlns:a16="http://schemas.microsoft.com/office/drawing/2014/main" id="{98539008-A683-4B5D-AD3D-CAFBA2DAAAAA}"/>
              </a:ext>
            </a:extLst>
          </p:cNvPr>
          <p:cNvSpPr>
            <a:spLocks noGrp="1"/>
          </p:cNvSpPr>
          <p:nvPr/>
        </p:nvSpPr>
        <p:spPr>
          <a:xfrm>
            <a:off x="742950" y="3048000"/>
            <a:ext cx="87630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100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AI에게 일을 맡기기 전에 만들어야 하는 것</a:t>
            </a:r>
          </a:p>
        </p:txBody>
      </p:sp>
      <p:sp>
        <p:nvSpPr>
          <p:cNvPr id="5" name="01-01-body">
            <a:extLst>
              <a:ext uri="{FF2B5EF4-FFF2-40B4-BE49-F238E27FC236}">
                <a16:creationId xmlns:a16="http://schemas.microsoft.com/office/drawing/2014/main" id="{A2B23CFB-92A5-4F2B-8BB3-123C99612395}"/>
              </a:ext>
            </a:extLst>
          </p:cNvPr>
          <p:cNvSpPr>
            <a:spLocks noGrp="1"/>
          </p:cNvSpPr>
          <p:nvPr/>
        </p:nvSpPr>
        <p:spPr>
          <a:xfrm>
            <a:off x="742950" y="4953000"/>
            <a:ext cx="93345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500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30년째 코드를 짜고 있는 개발자가, AI와 일하는 방식을 다시 설계한 기록</a:t>
            </a:r>
          </a:p>
        </p:txBody>
      </p:sp>
      <p:sp>
        <p:nvSpPr>
          <p:cNvPr id="6" name="01-01-page">
            <a:extLst>
              <a:ext uri="{FF2B5EF4-FFF2-40B4-BE49-F238E27FC236}">
                <a16:creationId xmlns:a16="http://schemas.microsoft.com/office/drawing/2014/main" id="{F27FFF15-DEA4-4AC1-B3A0-DDB24C8312C9}"/>
              </a:ext>
            </a:extLst>
          </p:cNvPr>
          <p:cNvSpPr>
            <a:spLocks noGrp="1"/>
          </p:cNvSpPr>
          <p:nvPr/>
        </p:nvSpPr>
        <p:spPr>
          <a:xfrm>
            <a:off x="10287000" y="6153150"/>
            <a:ext cx="114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75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01 / 70</a:t>
            </a:r>
          </a:p>
        </p:txBody>
      </p:sp>
    </p:spTree>
    <p:extLst>
      <p:ext uri="{BB962C8B-B14F-4D97-AF65-F5344CB8AC3E}">
        <p14:creationId xmlns:p14="http://schemas.microsoft.com/office/powerpoint/2010/main" val="3049154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01-02-footer-section">
            <a:extLst>
              <a:ext uri="{FF2B5EF4-FFF2-40B4-BE49-F238E27FC236}">
                <a16:creationId xmlns:a16="http://schemas.microsoft.com/office/drawing/2014/main" id="{4C7E6D95-AA18-4E8B-BDD8-CBB020FEB0AF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VIBE CODING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1-02-footer-page">
            <a:extLst>
              <a:ext uri="{FF2B5EF4-FFF2-40B4-BE49-F238E27FC236}">
                <a16:creationId xmlns:a16="http://schemas.microsoft.com/office/drawing/2014/main" id="{E812C0BB-F7A3-4F42-8E38-C6E2094923FB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2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1-02-accent-rule">
            <a:extLst>
              <a:ext uri="{FF2B5EF4-FFF2-40B4-BE49-F238E27FC236}">
                <a16:creationId xmlns:a16="http://schemas.microsoft.com/office/drawing/2014/main" id="{4932A085-60BF-4DCB-94F0-70A02F77AD99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1-02-title">
            <a:extLst>
              <a:ext uri="{FF2B5EF4-FFF2-40B4-BE49-F238E27FC236}">
                <a16:creationId xmlns:a16="http://schemas.microsoft.com/office/drawing/2014/main" id="{EC9144F7-2584-4AA2-A705-9D9BB5302D36}"/>
              </a:ext>
            </a:extLst>
          </p:cNvPr>
          <p:cNvSpPr>
            <a:spLocks noGrp="1"/>
          </p:cNvSpPr>
          <p:nvPr/>
        </p:nvSpPr>
        <p:spPr>
          <a:xfrm>
            <a:off x="723900" y="704850"/>
            <a:ext cx="1028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진짜 질문은 ‘쓰느냐’가 아니다</a:t>
            </a:r>
          </a:p>
        </p:txBody>
      </p:sp>
      <p:sp>
        <p:nvSpPr>
          <p:cNvPr id="5" name="01-02-body-1">
            <a:extLst>
              <a:ext uri="{FF2B5EF4-FFF2-40B4-BE49-F238E27FC236}">
                <a16:creationId xmlns:a16="http://schemas.microsoft.com/office/drawing/2014/main" id="{688FE88B-952F-448D-87D4-DADE86CBE052}"/>
              </a:ext>
            </a:extLst>
          </p:cNvPr>
          <p:cNvSpPr>
            <a:spLocks noGrp="1"/>
          </p:cNvSpPr>
          <p:nvPr/>
        </p:nvSpPr>
        <p:spPr>
          <a:xfrm>
            <a:off x="876300" y="2333625"/>
            <a:ext cx="97155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5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내 코드베이스의 어디까지를 AI에게 넘길 것인가?</a:t>
            </a:r>
          </a:p>
        </p:txBody>
      </p:sp>
    </p:spTree>
    <p:extLst>
      <p:ext uri="{BB962C8B-B14F-4D97-AF65-F5344CB8AC3E}">
        <p14:creationId xmlns:p14="http://schemas.microsoft.com/office/powerpoint/2010/main" val="7434705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-03-page">
            <a:extLst>
              <a:ext uri="{FF2B5EF4-FFF2-40B4-BE49-F238E27FC236}">
                <a16:creationId xmlns:a16="http://schemas.microsoft.com/office/drawing/2014/main" id="{651D0A2D-AE95-4DC1-A55E-D361B30D0613}"/>
              </a:ext>
            </a:extLst>
          </p:cNvPr>
          <p:cNvSpPr>
            <a:spLocks noGrp="1"/>
          </p:cNvSpPr>
          <p:nvPr/>
        </p:nvSpPr>
        <p:spPr>
          <a:xfrm>
            <a:off x="10572750" y="6477000"/>
            <a:ext cx="8953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825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03 / 70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E07081-91F9-C6CA-6308-0DC9C64C27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4512" y="223837"/>
            <a:ext cx="8562975" cy="6410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508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01-04-footer-section">
            <a:extLst>
              <a:ext uri="{FF2B5EF4-FFF2-40B4-BE49-F238E27FC236}">
                <a16:creationId xmlns:a16="http://schemas.microsoft.com/office/drawing/2014/main" id="{1913E38A-200B-41B5-B64E-32B849D30306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VIBE CODING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1-04-footer-page">
            <a:extLst>
              <a:ext uri="{FF2B5EF4-FFF2-40B4-BE49-F238E27FC236}">
                <a16:creationId xmlns:a16="http://schemas.microsoft.com/office/drawing/2014/main" id="{C9F365E7-0A73-4614-9379-D24082D0D1EB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4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1-04-accent-rule">
            <a:extLst>
              <a:ext uri="{FF2B5EF4-FFF2-40B4-BE49-F238E27FC236}">
                <a16:creationId xmlns:a16="http://schemas.microsoft.com/office/drawing/2014/main" id="{3AECD33D-B12D-4D07-AA90-2134A7EC3927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1-04-title">
            <a:extLst>
              <a:ext uri="{FF2B5EF4-FFF2-40B4-BE49-F238E27FC236}">
                <a16:creationId xmlns:a16="http://schemas.microsoft.com/office/drawing/2014/main" id="{074AED4C-8929-4551-9EB1-970DD3499CD9}"/>
              </a:ext>
            </a:extLst>
          </p:cNvPr>
          <p:cNvSpPr>
            <a:spLocks noGrp="1"/>
          </p:cNvSpPr>
          <p:nvPr/>
        </p:nvSpPr>
        <p:spPr>
          <a:xfrm>
            <a:off x="723900" y="704850"/>
            <a:ext cx="1028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카파시는 가능성을 선언했다</a:t>
            </a:r>
          </a:p>
        </p:txBody>
      </p:sp>
      <p:sp>
        <p:nvSpPr>
          <p:cNvPr id="5" name="01-04-bullet-1">
            <a:extLst>
              <a:ext uri="{FF2B5EF4-FFF2-40B4-BE49-F238E27FC236}">
                <a16:creationId xmlns:a16="http://schemas.microsoft.com/office/drawing/2014/main" id="{6AA1BFB4-C3E1-402F-848E-1D90FC2575CD}"/>
              </a:ext>
            </a:extLst>
          </p:cNvPr>
          <p:cNvSpPr>
            <a:spLocks noGrp="1"/>
          </p:cNvSpPr>
          <p:nvPr/>
        </p:nvSpPr>
        <p:spPr>
          <a:xfrm>
            <a:off x="876300" y="206692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1-04-body-1">
            <a:extLst>
              <a:ext uri="{FF2B5EF4-FFF2-40B4-BE49-F238E27FC236}">
                <a16:creationId xmlns:a16="http://schemas.microsoft.com/office/drawing/2014/main" id="{60119A0F-59F6-473B-9159-D0D1095DF180}"/>
              </a:ext>
            </a:extLst>
          </p:cNvPr>
          <p:cNvSpPr>
            <a:spLocks noGrp="1"/>
          </p:cNvSpPr>
          <p:nvPr/>
        </p:nvSpPr>
        <p:spPr>
          <a:xfrm>
            <a:off x="1143000" y="195262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자연어로 말하면 코드가 나오는 시대</a:t>
            </a:r>
          </a:p>
        </p:txBody>
      </p:sp>
      <p:sp>
        <p:nvSpPr>
          <p:cNvPr id="7" name="01-04-bullet-2">
            <a:extLst>
              <a:ext uri="{FF2B5EF4-FFF2-40B4-BE49-F238E27FC236}">
                <a16:creationId xmlns:a16="http://schemas.microsoft.com/office/drawing/2014/main" id="{36314C34-7818-48DE-BD1F-CB3809B4722F}"/>
              </a:ext>
            </a:extLst>
          </p:cNvPr>
          <p:cNvSpPr>
            <a:spLocks noGrp="1"/>
          </p:cNvSpPr>
          <p:nvPr/>
        </p:nvSpPr>
        <p:spPr>
          <a:xfrm>
            <a:off x="876300" y="284797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1-04-body-2">
            <a:extLst>
              <a:ext uri="{FF2B5EF4-FFF2-40B4-BE49-F238E27FC236}">
                <a16:creationId xmlns:a16="http://schemas.microsoft.com/office/drawing/2014/main" id="{B26A7204-3DFC-43E5-8C69-27D64585CF38}"/>
              </a:ext>
            </a:extLst>
          </p:cNvPr>
          <p:cNvSpPr>
            <a:spLocks noGrp="1"/>
          </p:cNvSpPr>
          <p:nvPr/>
        </p:nvSpPr>
        <p:spPr>
          <a:xfrm>
            <a:off x="1143000" y="273367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코드의 존재를 잊고 흐름에 몸을 맡긴다</a:t>
            </a:r>
          </a:p>
        </p:txBody>
      </p:sp>
    </p:spTree>
    <p:extLst>
      <p:ext uri="{BB962C8B-B14F-4D97-AF65-F5344CB8AC3E}">
        <p14:creationId xmlns:p14="http://schemas.microsoft.com/office/powerpoint/2010/main" val="15768166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3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01-05-footer-section">
            <a:extLst>
              <a:ext uri="{FF2B5EF4-FFF2-40B4-BE49-F238E27FC236}">
                <a16:creationId xmlns:a16="http://schemas.microsoft.com/office/drawing/2014/main" id="{A31594BA-3912-4032-9F76-65D417B660B0}"/>
              </a:ext>
            </a:extLst>
          </p:cNvPr>
          <p:cNvSpPr>
            <a:spLocks noGrp="1"/>
          </p:cNvSpPr>
          <p:nvPr/>
        </p:nvSpPr>
        <p:spPr>
          <a:xfrm>
            <a:off x="723900" y="190500"/>
            <a:ext cx="5842000" cy="279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en-US" altLang="ko-KR" sz="1400" b="1">
                <a:solidFill>
                  <a:srgbClr val="8FC7EA"/>
                </a:solidFill>
                <a:latin typeface="Consolas"/>
                <a:ea typeface="Consolas"/>
                <a:cs typeface="Consolas"/>
              </a:rPr>
              <a:t>VIBE CODING</a:t>
            </a:r>
            <a:endParaRPr lang="ko-KR" sz="1400" b="1" dirty="0">
              <a:solidFill>
                <a:srgbClr val="8FC7EA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1-05-footer-page">
            <a:extLst>
              <a:ext uri="{FF2B5EF4-FFF2-40B4-BE49-F238E27FC236}">
                <a16:creationId xmlns:a16="http://schemas.microsoft.com/office/drawing/2014/main" id="{F648C6D9-9E04-482C-A9DE-D9BBDB8F6084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AFC2D6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AFC2D6"/>
                </a:solidFill>
                <a:latin typeface="Consolas"/>
                <a:ea typeface="Consolas"/>
                <a:cs typeface="Consolas"/>
              </a:rPr>
              <a:t>5 / 71</a:t>
            </a:r>
            <a:endParaRPr sz="900">
              <a:solidFill>
                <a:srgbClr val="AFC2D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1-05-prompt">
            <a:extLst>
              <a:ext uri="{FF2B5EF4-FFF2-40B4-BE49-F238E27FC236}">
                <a16:creationId xmlns:a16="http://schemas.microsoft.com/office/drawing/2014/main" id="{E92384B8-C94D-4E70-8A74-61CE55F56331}"/>
              </a:ext>
            </a:extLst>
          </p:cNvPr>
          <p:cNvSpPr>
            <a:spLocks noGrp="1"/>
          </p:cNvSpPr>
          <p:nvPr/>
        </p:nvSpPr>
        <p:spPr>
          <a:xfrm>
            <a:off x="723900" y="546100"/>
            <a:ext cx="6858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00" b="0">
                <a:solidFill>
                  <a:srgbClr val="78B7FF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78B7FF"/>
                </a:solidFill>
                <a:latin typeface="Consolas"/>
                <a:ea typeface="Consolas"/>
                <a:cs typeface="Consolas"/>
              </a:rPr>
              <a:t>$ git show --format=fuller 93a7256</a:t>
            </a:r>
          </a:p>
        </p:txBody>
      </p:sp>
      <p:sp>
        <p:nvSpPr>
          <p:cNvPr id="4" name="01-05-title">
            <a:extLst>
              <a:ext uri="{FF2B5EF4-FFF2-40B4-BE49-F238E27FC236}">
                <a16:creationId xmlns:a16="http://schemas.microsoft.com/office/drawing/2014/main" id="{EF60241B-E28A-4D58-9AB2-138CC36D1BBD}"/>
              </a:ext>
            </a:extLst>
          </p:cNvPr>
          <p:cNvSpPr>
            <a:spLocks noGrp="1"/>
          </p:cNvSpPr>
          <p:nvPr/>
        </p:nvSpPr>
        <p:spPr>
          <a:xfrm>
            <a:off x="723900" y="895350"/>
            <a:ext cx="952500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토발즈의 커밋 원문</a:t>
            </a:r>
          </a:p>
        </p:txBody>
      </p:sp>
      <p:sp>
        <p:nvSpPr>
          <p:cNvPr id="5" name="01-05-code">
            <a:extLst>
              <a:ext uri="{FF2B5EF4-FFF2-40B4-BE49-F238E27FC236}">
                <a16:creationId xmlns:a16="http://schemas.microsoft.com/office/drawing/2014/main" id="{965A353E-3C25-40DD-8E03-8A165796A8AA}"/>
              </a:ext>
            </a:extLst>
          </p:cNvPr>
          <p:cNvSpPr>
            <a:spLocks noGrp="1"/>
          </p:cNvSpPr>
          <p:nvPr/>
        </p:nvSpPr>
        <p:spPr>
          <a:xfrm>
            <a:off x="723900" y="1657350"/>
            <a:ext cx="10744200" cy="4191000"/>
          </a:xfrm>
          <a:prstGeom prst="rect">
            <a:avLst/>
          </a:prstGeom>
          <a:solidFill>
            <a:srgbClr val="0E151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228600" tIns="228600" rIns="228600" bIns="228600" anchor="t"/>
          <a:lstStyle/>
          <a:p>
            <a:pPr algn="l">
              <a:defRPr sz="1350" b="0">
                <a:solidFill>
                  <a:srgbClr val="DCEBFA"/>
                </a:solidFill>
                <a:latin typeface="Consolas"/>
                <a:ea typeface="Consolas"/>
                <a:cs typeface="Consolas"/>
              </a:defRPr>
            </a:pPr>
            <a:r>
              <a:rPr sz="1350" b="0" dirty="0">
                <a:solidFill>
                  <a:srgbClr val="DCEBFA"/>
                </a:solidFill>
                <a:latin typeface="Consolas"/>
                <a:ea typeface="Consolas"/>
                <a:cs typeface="Consolas"/>
              </a:rPr>
              <a:t>Merge branch 'antigravity'</a:t>
            </a:r>
          </a:p>
          <a:p>
            <a:endParaRPr sz="1350" b="0" dirty="0">
              <a:solidFill>
                <a:srgbClr val="DCEBFA"/>
              </a:solidFill>
              <a:latin typeface="Consolas"/>
              <a:ea typeface="Consolas"/>
              <a:cs typeface="Consolas"/>
            </a:endParaRPr>
          </a:p>
          <a:p>
            <a:pPr algn="l">
              <a:defRPr sz="1350" b="0">
                <a:solidFill>
                  <a:srgbClr val="DCEBFA"/>
                </a:solidFill>
                <a:latin typeface="Consolas"/>
                <a:ea typeface="Consolas"/>
                <a:cs typeface="Consolas"/>
              </a:defRPr>
            </a:pPr>
            <a:r>
              <a:rPr sz="1350" b="0" dirty="0">
                <a:solidFill>
                  <a:srgbClr val="DCEBFA"/>
                </a:solidFill>
                <a:latin typeface="Consolas"/>
                <a:ea typeface="Consolas"/>
                <a:cs typeface="Consolas"/>
              </a:rPr>
              <a:t>This is Google Antigravity fixing up my visualization tool (which was</a:t>
            </a:r>
          </a:p>
          <a:p>
            <a:pPr algn="l">
              <a:defRPr sz="1350" b="0">
                <a:solidFill>
                  <a:srgbClr val="DCEBFA"/>
                </a:solidFill>
                <a:latin typeface="Consolas"/>
                <a:ea typeface="Consolas"/>
                <a:cs typeface="Consolas"/>
              </a:defRPr>
            </a:pPr>
            <a:r>
              <a:rPr sz="1350" b="0" dirty="0">
                <a:solidFill>
                  <a:srgbClr val="DCEBFA"/>
                </a:solidFill>
                <a:latin typeface="Consolas"/>
                <a:ea typeface="Consolas"/>
                <a:cs typeface="Consolas"/>
              </a:rPr>
              <a:t>also generated with help from google, but of the normal kind).</a:t>
            </a:r>
          </a:p>
          <a:p>
            <a:endParaRPr sz="1350" b="0" dirty="0">
              <a:solidFill>
                <a:srgbClr val="DCEBFA"/>
              </a:solidFill>
              <a:latin typeface="Consolas"/>
              <a:ea typeface="Consolas"/>
              <a:cs typeface="Consolas"/>
            </a:endParaRPr>
          </a:p>
          <a:p>
            <a:pPr algn="l">
              <a:defRPr sz="1350" b="0">
                <a:solidFill>
                  <a:srgbClr val="DCEBFA"/>
                </a:solidFill>
                <a:latin typeface="Consolas"/>
                <a:ea typeface="Consolas"/>
                <a:cs typeface="Consolas"/>
              </a:defRPr>
            </a:pPr>
            <a:r>
              <a:rPr sz="1350" b="0" dirty="0">
                <a:solidFill>
                  <a:srgbClr val="DCEBFA"/>
                </a:solidFill>
                <a:latin typeface="Consolas"/>
                <a:ea typeface="Consolas"/>
                <a:cs typeface="Consolas"/>
              </a:rPr>
              <a:t>It mostly went smoothly, although I had to figure out what the problem</a:t>
            </a:r>
          </a:p>
          <a:p>
            <a:pPr algn="l">
              <a:defRPr sz="1350" b="0">
                <a:solidFill>
                  <a:srgbClr val="DCEBFA"/>
                </a:solidFill>
                <a:latin typeface="Consolas"/>
                <a:ea typeface="Consolas"/>
                <a:cs typeface="Consolas"/>
              </a:defRPr>
            </a:pPr>
            <a:r>
              <a:rPr sz="1350" b="0" dirty="0">
                <a:solidFill>
                  <a:srgbClr val="DCEBFA"/>
                </a:solidFill>
                <a:latin typeface="Consolas"/>
                <a:ea typeface="Consolas"/>
                <a:cs typeface="Consolas"/>
              </a:rPr>
              <a:t>with using the </a:t>
            </a:r>
            <a:r>
              <a:rPr sz="1350" b="0" dirty="0" err="1">
                <a:solidFill>
                  <a:srgbClr val="DCEBFA"/>
                </a:solidFill>
                <a:latin typeface="Consolas"/>
                <a:ea typeface="Consolas"/>
                <a:cs typeface="Consolas"/>
              </a:rPr>
              <a:t>builtin</a:t>
            </a:r>
            <a:r>
              <a:rPr sz="1350" b="0" dirty="0">
                <a:solidFill>
                  <a:srgbClr val="DCEBFA"/>
                </a:solidFill>
                <a:latin typeface="Consolas"/>
                <a:ea typeface="Consolas"/>
                <a:cs typeface="Consolas"/>
              </a:rPr>
              <a:t> rectangle select was. After telling antigravity</a:t>
            </a:r>
          </a:p>
          <a:p>
            <a:pPr algn="l">
              <a:defRPr sz="1350" b="0">
                <a:solidFill>
                  <a:srgbClr val="DCEBFA"/>
                </a:solidFill>
                <a:latin typeface="Consolas"/>
                <a:ea typeface="Consolas"/>
                <a:cs typeface="Consolas"/>
              </a:defRPr>
            </a:pPr>
            <a:r>
              <a:rPr sz="1350" b="0" dirty="0">
                <a:solidFill>
                  <a:srgbClr val="DCEBFA"/>
                </a:solidFill>
                <a:latin typeface="Consolas"/>
                <a:ea typeface="Consolas"/>
                <a:cs typeface="Consolas"/>
              </a:rPr>
              <a:t>to just do a custom </a:t>
            </a:r>
            <a:r>
              <a:rPr sz="1350" b="0" dirty="0" err="1">
                <a:solidFill>
                  <a:srgbClr val="DCEBFA"/>
                </a:solidFill>
                <a:latin typeface="Consolas"/>
                <a:ea typeface="Consolas"/>
                <a:cs typeface="Consolas"/>
              </a:rPr>
              <a:t>RectangleSelector</a:t>
            </a:r>
            <a:r>
              <a:rPr sz="1350" b="0" dirty="0">
                <a:solidFill>
                  <a:srgbClr val="DCEBFA"/>
                </a:solidFill>
                <a:latin typeface="Consolas"/>
                <a:ea typeface="Consolas"/>
                <a:cs typeface="Consolas"/>
              </a:rPr>
              <a:t>, things went much better.</a:t>
            </a:r>
          </a:p>
          <a:p>
            <a:endParaRPr sz="1350" b="0" dirty="0">
              <a:solidFill>
                <a:srgbClr val="DCEBFA"/>
              </a:solidFill>
              <a:latin typeface="Consolas"/>
              <a:ea typeface="Consolas"/>
              <a:cs typeface="Consolas"/>
            </a:endParaRPr>
          </a:p>
          <a:p>
            <a:pPr algn="l">
              <a:defRPr sz="1350" b="0">
                <a:solidFill>
                  <a:srgbClr val="DCEBFA"/>
                </a:solidFill>
                <a:latin typeface="Consolas"/>
                <a:ea typeface="Consolas"/>
                <a:cs typeface="Consolas"/>
              </a:defRPr>
            </a:pPr>
            <a:r>
              <a:rPr sz="1350" b="0" dirty="0">
                <a:solidFill>
                  <a:srgbClr val="DCEBFA"/>
                </a:solidFill>
                <a:latin typeface="Consolas"/>
                <a:ea typeface="Consolas"/>
                <a:cs typeface="Consolas"/>
              </a:rPr>
              <a:t>Is this much better than I could do by hand? Sure is.</a:t>
            </a:r>
          </a:p>
        </p:txBody>
      </p:sp>
    </p:spTree>
    <p:extLst>
      <p:ext uri="{BB962C8B-B14F-4D97-AF65-F5344CB8AC3E}">
        <p14:creationId xmlns:p14="http://schemas.microsoft.com/office/powerpoint/2010/main" val="35940970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01-06-footer-section">
            <a:extLst>
              <a:ext uri="{FF2B5EF4-FFF2-40B4-BE49-F238E27FC236}">
                <a16:creationId xmlns:a16="http://schemas.microsoft.com/office/drawing/2014/main" id="{6B9C0183-8291-4947-9BD0-854981B7B4C0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VIBE CODING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1-06-footer-page">
            <a:extLst>
              <a:ext uri="{FF2B5EF4-FFF2-40B4-BE49-F238E27FC236}">
                <a16:creationId xmlns:a16="http://schemas.microsoft.com/office/drawing/2014/main" id="{74A169C7-8096-40CC-8D61-D926756A2F7F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6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1-06-accent-rule">
            <a:extLst>
              <a:ext uri="{FF2B5EF4-FFF2-40B4-BE49-F238E27FC236}">
                <a16:creationId xmlns:a16="http://schemas.microsoft.com/office/drawing/2014/main" id="{DDCDEE5E-33C1-4B0A-BCA8-236B64F73D5C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1-06-title">
            <a:extLst>
              <a:ext uri="{FF2B5EF4-FFF2-40B4-BE49-F238E27FC236}">
                <a16:creationId xmlns:a16="http://schemas.microsoft.com/office/drawing/2014/main" id="{28FD74D0-8C55-4F9A-B0FB-3FDDE48AA63A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사실과 해석을 분리해 읽는다</a:t>
            </a:r>
          </a:p>
        </p:txBody>
      </p:sp>
      <p:sp>
        <p:nvSpPr>
          <p:cNvPr id="5" name="01-06-divider">
            <a:extLst>
              <a:ext uri="{FF2B5EF4-FFF2-40B4-BE49-F238E27FC236}">
                <a16:creationId xmlns:a16="http://schemas.microsoft.com/office/drawing/2014/main" id="{7E176241-4FD1-4959-97E1-DAB3DCC7C81E}"/>
              </a:ext>
            </a:extLst>
          </p:cNvPr>
          <p:cNvSpPr>
            <a:spLocks noGrp="1"/>
          </p:cNvSpPr>
          <p:nvPr/>
        </p:nvSpPr>
        <p:spPr>
          <a:xfrm>
            <a:off x="6096000" y="1676400"/>
            <a:ext cx="0" cy="390525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1-06-left-heading">
            <a:extLst>
              <a:ext uri="{FF2B5EF4-FFF2-40B4-BE49-F238E27FC236}">
                <a16:creationId xmlns:a16="http://schemas.microsoft.com/office/drawing/2014/main" id="{B250662B-4206-4928-BFF3-D80CC1651171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4857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커밋이 말하는 사실</a:t>
            </a:r>
          </a:p>
        </p:txBody>
      </p:sp>
      <p:sp>
        <p:nvSpPr>
          <p:cNvPr id="7" name="01-06-left-dot-1">
            <a:extLst>
              <a:ext uri="{FF2B5EF4-FFF2-40B4-BE49-F238E27FC236}">
                <a16:creationId xmlns:a16="http://schemas.microsoft.com/office/drawing/2014/main" id="{B2B67753-8863-44C8-88BA-FD04FF85062A}"/>
              </a:ext>
            </a:extLst>
          </p:cNvPr>
          <p:cNvSpPr>
            <a:spLocks noGrp="1"/>
          </p:cNvSpPr>
          <p:nvPr/>
        </p:nvSpPr>
        <p:spPr>
          <a:xfrm>
            <a:off x="72390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1-06-left-line-1">
            <a:extLst>
              <a:ext uri="{FF2B5EF4-FFF2-40B4-BE49-F238E27FC236}">
                <a16:creationId xmlns:a16="http://schemas.microsoft.com/office/drawing/2014/main" id="{F5F102B4-7B8C-46F8-AE34-39297A398C75}"/>
              </a:ext>
            </a:extLst>
          </p:cNvPr>
          <p:cNvSpPr>
            <a:spLocks noGrp="1"/>
          </p:cNvSpPr>
          <p:nvPr/>
        </p:nvSpPr>
        <p:spPr>
          <a:xfrm>
            <a:off x="952500" y="2362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visualize.py 한 파일만 바뀌었다</a:t>
            </a:r>
          </a:p>
        </p:txBody>
      </p:sp>
      <p:sp>
        <p:nvSpPr>
          <p:cNvPr id="9" name="01-06-left-dot-2">
            <a:extLst>
              <a:ext uri="{FF2B5EF4-FFF2-40B4-BE49-F238E27FC236}">
                <a16:creationId xmlns:a16="http://schemas.microsoft.com/office/drawing/2014/main" id="{4533A723-B0A2-4980-AC74-7552633EB39F}"/>
              </a:ext>
            </a:extLst>
          </p:cNvPr>
          <p:cNvSpPr>
            <a:spLocks noGrp="1"/>
          </p:cNvSpPr>
          <p:nvPr/>
        </p:nvSpPr>
        <p:spPr>
          <a:xfrm>
            <a:off x="72390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1-06-left-line-2">
            <a:extLst>
              <a:ext uri="{FF2B5EF4-FFF2-40B4-BE49-F238E27FC236}">
                <a16:creationId xmlns:a16="http://schemas.microsoft.com/office/drawing/2014/main" id="{75E6E13A-CC1E-41D3-809F-A65E11D67CB6}"/>
              </a:ext>
            </a:extLst>
          </p:cNvPr>
          <p:cNvSpPr>
            <a:spLocks noGrp="1"/>
          </p:cNvSpPr>
          <p:nvPr/>
        </p:nvSpPr>
        <p:spPr>
          <a:xfrm>
            <a:off x="952500" y="310515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RectangleSelector를 커스텀으로 교체했다</a:t>
            </a:r>
          </a:p>
        </p:txBody>
      </p:sp>
      <p:sp>
        <p:nvSpPr>
          <p:cNvPr id="11" name="01-06-left-dot-3">
            <a:extLst>
              <a:ext uri="{FF2B5EF4-FFF2-40B4-BE49-F238E27FC236}">
                <a16:creationId xmlns:a16="http://schemas.microsoft.com/office/drawing/2014/main" id="{821D6434-E970-49A0-859C-D582E333ABE2}"/>
              </a:ext>
            </a:extLst>
          </p:cNvPr>
          <p:cNvSpPr>
            <a:spLocks noGrp="1"/>
          </p:cNvSpPr>
          <p:nvPr/>
        </p:nvSpPr>
        <p:spPr>
          <a:xfrm>
            <a:off x="72390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1-06-left-line-3">
            <a:extLst>
              <a:ext uri="{FF2B5EF4-FFF2-40B4-BE49-F238E27FC236}">
                <a16:creationId xmlns:a16="http://schemas.microsoft.com/office/drawing/2014/main" id="{C274D89D-5712-41D6-90F9-35FB85DF9711}"/>
              </a:ext>
            </a:extLst>
          </p:cNvPr>
          <p:cNvSpPr>
            <a:spLocks noGrp="1"/>
          </p:cNvSpPr>
          <p:nvPr/>
        </p:nvSpPr>
        <p:spPr>
          <a:xfrm>
            <a:off x="952500" y="38481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본인이 평가한 뒤 직접 머지했다</a:t>
            </a:r>
          </a:p>
        </p:txBody>
      </p:sp>
      <p:sp>
        <p:nvSpPr>
          <p:cNvPr id="13" name="01-06-right-heading">
            <a:extLst>
              <a:ext uri="{FF2B5EF4-FFF2-40B4-BE49-F238E27FC236}">
                <a16:creationId xmlns:a16="http://schemas.microsoft.com/office/drawing/2014/main" id="{D86FCFEF-DA4B-4D9A-8EF9-15F616425077}"/>
              </a:ext>
            </a:extLst>
          </p:cNvPr>
          <p:cNvSpPr>
            <a:spLocks noGrp="1"/>
          </p:cNvSpPr>
          <p:nvPr/>
        </p:nvSpPr>
        <p:spPr>
          <a:xfrm>
            <a:off x="6572250" y="1676400"/>
            <a:ext cx="4762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여기서부터는 내 해석</a:t>
            </a:r>
          </a:p>
        </p:txBody>
      </p:sp>
      <p:sp>
        <p:nvSpPr>
          <p:cNvPr id="14" name="01-06-right-dot-1">
            <a:extLst>
              <a:ext uri="{FF2B5EF4-FFF2-40B4-BE49-F238E27FC236}">
                <a16:creationId xmlns:a16="http://schemas.microsoft.com/office/drawing/2014/main" id="{A636C632-4F31-4C3F-A98F-017555C66DA9}"/>
              </a:ext>
            </a:extLst>
          </p:cNvPr>
          <p:cNvSpPr>
            <a:spLocks noGrp="1"/>
          </p:cNvSpPr>
          <p:nvPr/>
        </p:nvSpPr>
        <p:spPr>
          <a:xfrm>
            <a:off x="657225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01-06-right-line-1">
            <a:extLst>
              <a:ext uri="{FF2B5EF4-FFF2-40B4-BE49-F238E27FC236}">
                <a16:creationId xmlns:a16="http://schemas.microsoft.com/office/drawing/2014/main" id="{4F75C449-48B1-4774-AC55-F1977CCBE4ED}"/>
              </a:ext>
            </a:extLst>
          </p:cNvPr>
          <p:cNvSpPr>
            <a:spLocks noGrp="1"/>
          </p:cNvSpPr>
          <p:nvPr/>
        </p:nvSpPr>
        <p:spPr>
          <a:xfrm>
            <a:off x="6800850" y="2362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전문 밖 주변부를 위임했다</a:t>
            </a:r>
          </a:p>
        </p:txBody>
      </p:sp>
      <p:sp>
        <p:nvSpPr>
          <p:cNvPr id="16" name="01-06-right-dot-2">
            <a:extLst>
              <a:ext uri="{FF2B5EF4-FFF2-40B4-BE49-F238E27FC236}">
                <a16:creationId xmlns:a16="http://schemas.microsoft.com/office/drawing/2014/main" id="{2FC2A933-57FE-476D-9BE5-B1D044D43888}"/>
              </a:ext>
            </a:extLst>
          </p:cNvPr>
          <p:cNvSpPr>
            <a:spLocks noGrp="1"/>
          </p:cNvSpPr>
          <p:nvPr/>
        </p:nvSpPr>
        <p:spPr>
          <a:xfrm>
            <a:off x="657225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01-06-right-line-2">
            <a:extLst>
              <a:ext uri="{FF2B5EF4-FFF2-40B4-BE49-F238E27FC236}">
                <a16:creationId xmlns:a16="http://schemas.microsoft.com/office/drawing/2014/main" id="{01E3BC0C-BE8D-450B-85C7-209EF23655B8}"/>
              </a:ext>
            </a:extLst>
          </p:cNvPr>
          <p:cNvSpPr>
            <a:spLocks noGrp="1"/>
          </p:cNvSpPr>
          <p:nvPr/>
        </p:nvSpPr>
        <p:spPr>
          <a:xfrm>
            <a:off x="6800850" y="310515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막힐 때 답이 아니라 방향을 줬다</a:t>
            </a:r>
          </a:p>
        </p:txBody>
      </p:sp>
      <p:sp>
        <p:nvSpPr>
          <p:cNvPr id="18" name="01-06-right-dot-3">
            <a:extLst>
              <a:ext uri="{FF2B5EF4-FFF2-40B4-BE49-F238E27FC236}">
                <a16:creationId xmlns:a16="http://schemas.microsoft.com/office/drawing/2014/main" id="{5E5415FD-DEF5-4EFF-AE6F-B853E7738200}"/>
              </a:ext>
            </a:extLst>
          </p:cNvPr>
          <p:cNvSpPr>
            <a:spLocks noGrp="1"/>
          </p:cNvSpPr>
          <p:nvPr/>
        </p:nvSpPr>
        <p:spPr>
          <a:xfrm>
            <a:off x="657225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01-06-right-line-3">
            <a:extLst>
              <a:ext uri="{FF2B5EF4-FFF2-40B4-BE49-F238E27FC236}">
                <a16:creationId xmlns:a16="http://schemas.microsoft.com/office/drawing/2014/main" id="{35682E85-1F71-41B8-9760-A3EA28A5C0E0}"/>
              </a:ext>
            </a:extLst>
          </p:cNvPr>
          <p:cNvSpPr>
            <a:spLocks noGrp="1"/>
          </p:cNvSpPr>
          <p:nvPr/>
        </p:nvSpPr>
        <p:spPr>
          <a:xfrm>
            <a:off x="6800850" y="38481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품질 기준은 여전히 사람이 쥐고 있다</a:t>
            </a:r>
          </a:p>
        </p:txBody>
      </p:sp>
    </p:spTree>
    <p:extLst>
      <p:ext uri="{BB962C8B-B14F-4D97-AF65-F5344CB8AC3E}">
        <p14:creationId xmlns:p14="http://schemas.microsoft.com/office/powerpoint/2010/main" val="10616944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01-07-footer-section">
            <a:extLst>
              <a:ext uri="{FF2B5EF4-FFF2-40B4-BE49-F238E27FC236}">
                <a16:creationId xmlns:a16="http://schemas.microsoft.com/office/drawing/2014/main" id="{03E95A59-EDC6-46B8-A02A-12685F8B2812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VIBE CODING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1-07-footer-page">
            <a:extLst>
              <a:ext uri="{FF2B5EF4-FFF2-40B4-BE49-F238E27FC236}">
                <a16:creationId xmlns:a16="http://schemas.microsoft.com/office/drawing/2014/main" id="{2F9FE4B1-62BA-40CC-AEDB-EB451EACC427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7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1-07-accent-rule">
            <a:extLst>
              <a:ext uri="{FF2B5EF4-FFF2-40B4-BE49-F238E27FC236}">
                <a16:creationId xmlns:a16="http://schemas.microsoft.com/office/drawing/2014/main" id="{FECBE536-BF98-4E4A-B232-BB291AB549E3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1-07-title">
            <a:extLst>
              <a:ext uri="{FF2B5EF4-FFF2-40B4-BE49-F238E27FC236}">
                <a16:creationId xmlns:a16="http://schemas.microsoft.com/office/drawing/2014/main" id="{3816124D-2F88-47E6-87D2-DA9BEEC41F80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한 커밋 안에 harness가 있었다</a:t>
            </a:r>
          </a:p>
        </p:txBody>
      </p:sp>
      <p:sp>
        <p:nvSpPr>
          <p:cNvPr id="5" name="01-07-arrow-1">
            <a:extLst>
              <a:ext uri="{FF2B5EF4-FFF2-40B4-BE49-F238E27FC236}">
                <a16:creationId xmlns:a16="http://schemas.microsoft.com/office/drawing/2014/main" id="{596F50C1-E21C-4312-BDBD-719A5F8B72CC}"/>
              </a:ext>
            </a:extLst>
          </p:cNvPr>
          <p:cNvSpPr>
            <a:spLocks noGrp="1"/>
          </p:cNvSpPr>
          <p:nvPr/>
        </p:nvSpPr>
        <p:spPr>
          <a:xfrm>
            <a:off x="3175000" y="2997200"/>
            <a:ext cx="2032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6" name="01-07-arrow-2">
            <a:extLst>
              <a:ext uri="{FF2B5EF4-FFF2-40B4-BE49-F238E27FC236}">
                <a16:creationId xmlns:a16="http://schemas.microsoft.com/office/drawing/2014/main" id="{9956CAA4-9F69-4E60-B4B7-F12CA921A7A8}"/>
              </a:ext>
            </a:extLst>
          </p:cNvPr>
          <p:cNvSpPr>
            <a:spLocks noGrp="1"/>
          </p:cNvSpPr>
          <p:nvPr/>
        </p:nvSpPr>
        <p:spPr>
          <a:xfrm>
            <a:off x="5994400" y="2997200"/>
            <a:ext cx="2032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7" name="01-07-arrow-3">
            <a:extLst>
              <a:ext uri="{FF2B5EF4-FFF2-40B4-BE49-F238E27FC236}">
                <a16:creationId xmlns:a16="http://schemas.microsoft.com/office/drawing/2014/main" id="{700D41F1-A5BE-4ECF-B0AC-193384473B9E}"/>
              </a:ext>
            </a:extLst>
          </p:cNvPr>
          <p:cNvSpPr>
            <a:spLocks noGrp="1"/>
          </p:cNvSpPr>
          <p:nvPr/>
        </p:nvSpPr>
        <p:spPr>
          <a:xfrm>
            <a:off x="8813800" y="2997200"/>
            <a:ext cx="2032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8" name="01-07-node-1">
            <a:extLst>
              <a:ext uri="{FF2B5EF4-FFF2-40B4-BE49-F238E27FC236}">
                <a16:creationId xmlns:a16="http://schemas.microsoft.com/office/drawing/2014/main" id="{6839876C-76B1-4C00-8450-2A70EE74A5FE}"/>
              </a:ext>
            </a:extLst>
          </p:cNvPr>
          <p:cNvSpPr>
            <a:spLocks noGrp="1"/>
          </p:cNvSpPr>
          <p:nvPr/>
        </p:nvSpPr>
        <p:spPr>
          <a:xfrm>
            <a:off x="723900" y="2362200"/>
            <a:ext cx="2286000" cy="1270000"/>
          </a:xfrm>
          <a:prstGeom prst="roundRect">
            <a:avLst>
              <a:gd name="adj" fmla="val 15217"/>
            </a:avLst>
          </a:prstGeom>
          <a:solidFill>
            <a:srgbClr val="2878C7"/>
          </a:solidFill>
          <a:ln w="19050">
            <a:solidFill>
              <a:srgbClr val="2878C7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5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(</a:t>
            </a:r>
            <a:r>
              <a:rPr lang="ko-KR" altLang="en-US" sz="15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되돌린 수 있는</a:t>
            </a:r>
            <a:r>
              <a:rPr lang="en-US" sz="15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)</a:t>
            </a:r>
            <a:r>
              <a:rPr sz="1500" b="1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경계</a:t>
            </a:r>
            <a:endParaRPr sz="1500" b="1" dirty="0">
              <a:solidFill>
                <a:srgbClr val="FFFFFF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01-07-node-2">
            <a:extLst>
              <a:ext uri="{FF2B5EF4-FFF2-40B4-BE49-F238E27FC236}">
                <a16:creationId xmlns:a16="http://schemas.microsoft.com/office/drawing/2014/main" id="{A9853F4B-8B79-43B6-A971-172BA4B303E9}"/>
              </a:ext>
            </a:extLst>
          </p:cNvPr>
          <p:cNvSpPr>
            <a:spLocks noGrp="1"/>
          </p:cNvSpPr>
          <p:nvPr/>
        </p:nvSpPr>
        <p:spPr>
          <a:xfrm>
            <a:off x="3543300" y="2362200"/>
            <a:ext cx="2286000" cy="12700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500" b="1" dirty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(</a:t>
            </a:r>
            <a:r>
              <a:rPr lang="ko-KR" altLang="en-US" sz="1500" b="1" dirty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손될 범위</a:t>
            </a:r>
            <a:r>
              <a:rPr lang="en-US" sz="1500" b="1" dirty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)</a:t>
            </a:r>
            <a:r>
              <a:rPr sz="1500" b="1" dirty="0" err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격리</a:t>
            </a:r>
            <a:endParaRPr sz="1500" b="1" dirty="0">
              <a:solidFill>
                <a:srgbClr val="18222D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" name="01-07-node-3">
            <a:extLst>
              <a:ext uri="{FF2B5EF4-FFF2-40B4-BE49-F238E27FC236}">
                <a16:creationId xmlns:a16="http://schemas.microsoft.com/office/drawing/2014/main" id="{F8BA0B7F-9F2D-4197-A1AD-1CE114EFF16D}"/>
              </a:ext>
            </a:extLst>
          </p:cNvPr>
          <p:cNvSpPr>
            <a:spLocks noGrp="1"/>
          </p:cNvSpPr>
          <p:nvPr/>
        </p:nvSpPr>
        <p:spPr>
          <a:xfrm>
            <a:off x="6362700" y="2362200"/>
            <a:ext cx="2286000" cy="12700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개입</a:t>
            </a:r>
          </a:p>
        </p:txBody>
      </p:sp>
      <p:sp>
        <p:nvSpPr>
          <p:cNvPr id="11" name="01-07-node-4">
            <a:extLst>
              <a:ext uri="{FF2B5EF4-FFF2-40B4-BE49-F238E27FC236}">
                <a16:creationId xmlns:a16="http://schemas.microsoft.com/office/drawing/2014/main" id="{7B8AF674-5498-43C4-B68C-5821EED2C5D1}"/>
              </a:ext>
            </a:extLst>
          </p:cNvPr>
          <p:cNvSpPr>
            <a:spLocks noGrp="1"/>
          </p:cNvSpPr>
          <p:nvPr/>
        </p:nvSpPr>
        <p:spPr>
          <a:xfrm>
            <a:off x="9182100" y="2362200"/>
            <a:ext cx="2286000" cy="12700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평가 기준</a:t>
            </a:r>
          </a:p>
        </p:txBody>
      </p:sp>
      <p:sp>
        <p:nvSpPr>
          <p:cNvPr id="12" name="01-07-caption">
            <a:extLst>
              <a:ext uri="{FF2B5EF4-FFF2-40B4-BE49-F238E27FC236}">
                <a16:creationId xmlns:a16="http://schemas.microsoft.com/office/drawing/2014/main" id="{2E044E3D-765B-491F-A4FA-808686F2226E}"/>
              </a:ext>
            </a:extLst>
          </p:cNvPr>
          <p:cNvSpPr>
            <a:spLocks noGrp="1"/>
          </p:cNvSpPr>
          <p:nvPr/>
        </p:nvSpPr>
        <p:spPr>
          <a:xfrm>
            <a:off x="723900" y="5080000"/>
            <a:ext cx="10744200" cy="584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6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이 네 가지를 묶어 </a:t>
            </a:r>
            <a:r>
              <a:rPr sz="1600" b="1">
                <a:solidFill>
                  <a:srgbClr val="156082"/>
                </a:solidFill>
                <a:latin typeface="Malgun Gothic"/>
                <a:ea typeface="Malgun Gothic"/>
                <a:cs typeface="Malgun Gothic"/>
              </a:rPr>
              <a:t>harness</a:t>
            </a:r>
            <a:r>
              <a:rPr sz="16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라고 부른다</a:t>
            </a:r>
          </a:p>
        </p:txBody>
      </p:sp>
      <p:sp>
        <p:nvSpPr>
          <p:cNvPr id="14" name="01-07-evidence-1">
            <a:extLst>
              <a:ext uri="{FF2B5EF4-FFF2-40B4-BE49-F238E27FC236}">
                <a16:creationId xmlns:a16="http://schemas.microsoft.com/office/drawing/2014/main" id="{F7AAC331-650F-40A7-AFBA-6B28F8B4BDCF}"/>
              </a:ext>
            </a:extLst>
          </p:cNvPr>
          <p:cNvSpPr txBox="1"/>
          <p:nvPr/>
        </p:nvSpPr>
        <p:spPr>
          <a:xfrm>
            <a:off x="723900" y="3962400"/>
            <a:ext cx="2286000" cy="939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ctr"/>
            <a:r>
              <a:rPr lang="en-US" altLang="ko-KR" sz="1600">
                <a:solidFill>
                  <a:srgbClr val="1F2A37"/>
                </a:solidFill>
                <a:latin typeface="Malgun Gothic"/>
                <a:ea typeface="Malgun Gothic"/>
              </a:rPr>
              <a:t>브랜치를 따로 파서 되돌릴 수 있게 했다</a:t>
            </a:r>
            <a:endParaRPr lang="en-US" sz="1600">
              <a:solidFill>
                <a:srgbClr val="4A5563"/>
              </a:solidFill>
              <a:latin typeface="Malgun Gothic"/>
              <a:ea typeface="Malgun Gothic"/>
            </a:endParaRPr>
          </a:p>
        </p:txBody>
      </p:sp>
      <p:sp>
        <p:nvSpPr>
          <p:cNvPr id="15" name="01-07-evidence-2">
            <a:extLst>
              <a:ext uri="{FF2B5EF4-FFF2-40B4-BE49-F238E27FC236}">
                <a16:creationId xmlns:a16="http://schemas.microsoft.com/office/drawing/2014/main" id="{332058FE-BB09-43B5-AEB6-89131F3A6306}"/>
              </a:ext>
            </a:extLst>
          </p:cNvPr>
          <p:cNvSpPr txBox="1"/>
          <p:nvPr/>
        </p:nvSpPr>
        <p:spPr>
          <a:xfrm>
            <a:off x="3543300" y="3962400"/>
            <a:ext cx="2286000" cy="939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ctr"/>
            <a:r>
              <a:rPr lang="en-US" altLang="ko-KR" sz="1600">
                <a:solidFill>
                  <a:srgbClr val="1F2A37"/>
                </a:solidFill>
                <a:latin typeface="Malgun Gothic"/>
                <a:ea typeface="Malgun Gothic"/>
              </a:rPr>
              <a:t>visualize.py 한 파일로 손댈 범위를 묶었다</a:t>
            </a:r>
            <a:endParaRPr lang="en-US" sz="1600">
              <a:solidFill>
                <a:srgbClr val="4A5563"/>
              </a:solidFill>
              <a:latin typeface="Malgun Gothic"/>
              <a:ea typeface="Malgun Gothic"/>
            </a:endParaRPr>
          </a:p>
        </p:txBody>
      </p:sp>
      <p:sp>
        <p:nvSpPr>
          <p:cNvPr id="16" name="01-07-evidence-3">
            <a:extLst>
              <a:ext uri="{FF2B5EF4-FFF2-40B4-BE49-F238E27FC236}">
                <a16:creationId xmlns:a16="http://schemas.microsoft.com/office/drawing/2014/main" id="{17ABB016-B297-4AD6-8858-A00E637216D0}"/>
              </a:ext>
            </a:extLst>
          </p:cNvPr>
          <p:cNvSpPr txBox="1"/>
          <p:nvPr/>
        </p:nvSpPr>
        <p:spPr>
          <a:xfrm>
            <a:off x="6362700" y="3962400"/>
            <a:ext cx="2286000" cy="939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ctr"/>
            <a:r>
              <a:rPr lang="ko-KR" altLang="en-US" sz="1600">
                <a:solidFill>
                  <a:srgbClr val="1F2A37"/>
                </a:solidFill>
                <a:latin typeface="Malgun Gothic"/>
                <a:ea typeface="Malgun Gothic"/>
              </a:rPr>
              <a:t>막힐 때 커스텀 구현을 지시했다</a:t>
            </a:r>
            <a:endParaRPr lang="en-US" sz="1600">
              <a:solidFill>
                <a:srgbClr val="4A5563"/>
              </a:solidFill>
              <a:latin typeface="Malgun Gothic"/>
              <a:ea typeface="Malgun Gothic"/>
            </a:endParaRPr>
          </a:p>
        </p:txBody>
      </p:sp>
      <p:sp>
        <p:nvSpPr>
          <p:cNvPr id="17" name="01-07-evidence-4">
            <a:extLst>
              <a:ext uri="{FF2B5EF4-FFF2-40B4-BE49-F238E27FC236}">
                <a16:creationId xmlns:a16="http://schemas.microsoft.com/office/drawing/2014/main" id="{430A09E9-0622-4C25-9687-0549EA9093B7}"/>
              </a:ext>
            </a:extLst>
          </p:cNvPr>
          <p:cNvSpPr txBox="1"/>
          <p:nvPr/>
        </p:nvSpPr>
        <p:spPr>
          <a:xfrm>
            <a:off x="9182100" y="3962400"/>
            <a:ext cx="2286000" cy="939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ctr"/>
            <a:r>
              <a:rPr lang="ko-KR" altLang="en-US" sz="1600">
                <a:solidFill>
                  <a:srgbClr val="1F2A37"/>
                </a:solidFill>
                <a:latin typeface="Malgun Gothic"/>
                <a:ea typeface="Malgun Gothic"/>
              </a:rPr>
              <a:t>손으로 짠 것보다 나은가로 판정했다</a:t>
            </a:r>
            <a:endParaRPr lang="en-US" sz="1600">
              <a:solidFill>
                <a:srgbClr val="4A5563"/>
              </a:solidFill>
              <a:latin typeface="Malgun Gothic"/>
              <a:ea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14150824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01-08-footer-section">
            <a:extLst>
              <a:ext uri="{FF2B5EF4-FFF2-40B4-BE49-F238E27FC236}">
                <a16:creationId xmlns:a16="http://schemas.microsoft.com/office/drawing/2014/main" id="{A56D8276-C5AE-4A7B-BDB5-1EDAEF8DA71B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VIBE CODING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1-08-footer-page">
            <a:extLst>
              <a:ext uri="{FF2B5EF4-FFF2-40B4-BE49-F238E27FC236}">
                <a16:creationId xmlns:a16="http://schemas.microsoft.com/office/drawing/2014/main" id="{8D86C414-BA3F-4F27-A6E7-7F52C754ADFB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8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1-08-accent-rule">
            <a:extLst>
              <a:ext uri="{FF2B5EF4-FFF2-40B4-BE49-F238E27FC236}">
                <a16:creationId xmlns:a16="http://schemas.microsoft.com/office/drawing/2014/main" id="{33A1D570-8F1A-40B1-87F8-898F1E92D8F3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1-08-title">
            <a:extLst>
              <a:ext uri="{FF2B5EF4-FFF2-40B4-BE49-F238E27FC236}">
                <a16:creationId xmlns:a16="http://schemas.microsoft.com/office/drawing/2014/main" id="{85C84D47-8B1B-42F2-909E-7D4E29A49165}"/>
              </a:ext>
            </a:extLst>
          </p:cNvPr>
          <p:cNvSpPr>
            <a:spLocks noGrp="1"/>
          </p:cNvSpPr>
          <p:nvPr/>
        </p:nvSpPr>
        <p:spPr>
          <a:xfrm>
            <a:off x="723900" y="704850"/>
            <a:ext cx="1028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커밋에는 사람의 이름이 남는다</a:t>
            </a:r>
          </a:p>
        </p:txBody>
      </p:sp>
      <p:sp>
        <p:nvSpPr>
          <p:cNvPr id="5" name="01-08-body-1">
            <a:extLst>
              <a:ext uri="{FF2B5EF4-FFF2-40B4-BE49-F238E27FC236}">
                <a16:creationId xmlns:a16="http://schemas.microsoft.com/office/drawing/2014/main" id="{3A42D85F-A9DD-401C-9C45-04E34A850966}"/>
              </a:ext>
            </a:extLst>
          </p:cNvPr>
          <p:cNvSpPr>
            <a:spLocks noGrp="1"/>
          </p:cNvSpPr>
          <p:nvPr/>
        </p:nvSpPr>
        <p:spPr>
          <a:xfrm>
            <a:off x="876300" y="2333625"/>
            <a:ext cx="97155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5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책임은 도구가 아니라 머지한 사람에게 있다.</a:t>
            </a:r>
          </a:p>
        </p:txBody>
      </p:sp>
    </p:spTree>
    <p:extLst>
      <p:ext uri="{BB962C8B-B14F-4D97-AF65-F5344CB8AC3E}">
        <p14:creationId xmlns:p14="http://schemas.microsoft.com/office/powerpoint/2010/main" val="1803933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01-09-footer-section">
            <a:extLst>
              <a:ext uri="{FF2B5EF4-FFF2-40B4-BE49-F238E27FC236}">
                <a16:creationId xmlns:a16="http://schemas.microsoft.com/office/drawing/2014/main" id="{A34678D6-23C2-484D-876B-ED2AAB888FDC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AI LITERACY</a:t>
            </a:r>
          </a:p>
        </p:txBody>
      </p:sp>
      <p:sp>
        <p:nvSpPr>
          <p:cNvPr id="2" name="01-09-footer-page">
            <a:extLst>
              <a:ext uri="{FF2B5EF4-FFF2-40B4-BE49-F238E27FC236}">
                <a16:creationId xmlns:a16="http://schemas.microsoft.com/office/drawing/2014/main" id="{03442993-747E-48AF-9CA1-EFD113A1AFA7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9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1-09-accent-rule">
            <a:extLst>
              <a:ext uri="{FF2B5EF4-FFF2-40B4-BE49-F238E27FC236}">
                <a16:creationId xmlns:a16="http://schemas.microsoft.com/office/drawing/2014/main" id="{3DE36413-DCFF-4C90-87A5-4C05326662A2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477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1-09-label">
            <a:extLst>
              <a:ext uri="{FF2B5EF4-FFF2-40B4-BE49-F238E27FC236}">
                <a16:creationId xmlns:a16="http://schemas.microsoft.com/office/drawing/2014/main" id="{181CBD20-394D-4467-9DCC-F627A5AA62BB}"/>
              </a:ext>
            </a:extLst>
          </p:cNvPr>
          <p:cNvSpPr>
            <a:spLocks noGrp="1"/>
          </p:cNvSpPr>
          <p:nvPr/>
        </p:nvSpPr>
        <p:spPr>
          <a:xfrm>
            <a:off x="723900" y="1200150"/>
            <a:ext cx="7048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12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AI LITERACY</a:t>
            </a:r>
          </a:p>
        </p:txBody>
      </p:sp>
      <p:sp>
        <p:nvSpPr>
          <p:cNvPr id="5" name="01-09-title">
            <a:extLst>
              <a:ext uri="{FF2B5EF4-FFF2-40B4-BE49-F238E27FC236}">
                <a16:creationId xmlns:a16="http://schemas.microsoft.com/office/drawing/2014/main" id="{C41B0572-B3DC-4F17-BCC6-A05B3EF85EC5}"/>
              </a:ext>
            </a:extLst>
          </p:cNvPr>
          <p:cNvSpPr>
            <a:spLocks noGrp="1"/>
          </p:cNvSpPr>
          <p:nvPr/>
        </p:nvSpPr>
        <p:spPr>
          <a:xfrm>
            <a:off x="723900" y="2000250"/>
            <a:ext cx="10001250" cy="1676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5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5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규칙에서 확률로</a:t>
            </a:r>
          </a:p>
        </p:txBody>
      </p:sp>
      <p:sp>
        <p:nvSpPr>
          <p:cNvPr id="6" name="01-09-subtitle">
            <a:extLst>
              <a:ext uri="{FF2B5EF4-FFF2-40B4-BE49-F238E27FC236}">
                <a16:creationId xmlns:a16="http://schemas.microsoft.com/office/drawing/2014/main" id="{2D248ACD-03F0-4751-B848-6DCAA6F34C4D}"/>
              </a:ext>
            </a:extLst>
          </p:cNvPr>
          <p:cNvSpPr>
            <a:spLocks noGrp="1"/>
          </p:cNvSpPr>
          <p:nvPr/>
        </p:nvSpPr>
        <p:spPr>
          <a:xfrm>
            <a:off x="742950" y="3905250"/>
            <a:ext cx="885825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유창함과 정확함은 다른 속성이다</a:t>
            </a:r>
          </a:p>
        </p:txBody>
      </p:sp>
    </p:spTree>
    <p:extLst>
      <p:ext uri="{BB962C8B-B14F-4D97-AF65-F5344CB8AC3E}">
        <p14:creationId xmlns:p14="http://schemas.microsoft.com/office/powerpoint/2010/main" val="12483296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01-10-footer-section">
            <a:extLst>
              <a:ext uri="{FF2B5EF4-FFF2-40B4-BE49-F238E27FC236}">
                <a16:creationId xmlns:a16="http://schemas.microsoft.com/office/drawing/2014/main" id="{D2F35F23-3D24-48C7-9D6B-F55D31A16164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AI LITERACY</a:t>
            </a:r>
          </a:p>
        </p:txBody>
      </p:sp>
      <p:sp>
        <p:nvSpPr>
          <p:cNvPr id="2" name="01-10-footer-page">
            <a:extLst>
              <a:ext uri="{FF2B5EF4-FFF2-40B4-BE49-F238E27FC236}">
                <a16:creationId xmlns:a16="http://schemas.microsoft.com/office/drawing/2014/main" id="{F928FC5C-336E-480C-BF95-915D48053D59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10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1-10-accent-rule">
            <a:extLst>
              <a:ext uri="{FF2B5EF4-FFF2-40B4-BE49-F238E27FC236}">
                <a16:creationId xmlns:a16="http://schemas.microsoft.com/office/drawing/2014/main" id="{24B593B9-DAB3-4F03-A2E0-E1B1F73B5E6F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1-10-title">
            <a:extLst>
              <a:ext uri="{FF2B5EF4-FFF2-40B4-BE49-F238E27FC236}">
                <a16:creationId xmlns:a16="http://schemas.microsoft.com/office/drawing/2014/main" id="{61B5EB5A-45F6-4E27-BEA6-32FB933318A9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규칙은 사람이 쓰고, 학습은 관계를 조정한다</a:t>
            </a:r>
          </a:p>
        </p:txBody>
      </p:sp>
      <p:sp>
        <p:nvSpPr>
          <p:cNvPr id="5" name="01-10-divider">
            <a:extLst>
              <a:ext uri="{FF2B5EF4-FFF2-40B4-BE49-F238E27FC236}">
                <a16:creationId xmlns:a16="http://schemas.microsoft.com/office/drawing/2014/main" id="{F009EBE9-EEE4-4101-A5E1-D3618F8433C6}"/>
              </a:ext>
            </a:extLst>
          </p:cNvPr>
          <p:cNvSpPr>
            <a:spLocks noGrp="1"/>
          </p:cNvSpPr>
          <p:nvPr/>
        </p:nvSpPr>
        <p:spPr>
          <a:xfrm>
            <a:off x="6096000" y="1676400"/>
            <a:ext cx="0" cy="219075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1-10-left-heading">
            <a:extLst>
              <a:ext uri="{FF2B5EF4-FFF2-40B4-BE49-F238E27FC236}">
                <a16:creationId xmlns:a16="http://schemas.microsoft.com/office/drawing/2014/main" id="{7342ACE1-6496-4F52-B8C8-888C2CE10203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4857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규칙 기반</a:t>
            </a:r>
          </a:p>
        </p:txBody>
      </p:sp>
      <p:sp>
        <p:nvSpPr>
          <p:cNvPr id="7" name="01-10-left-dot-1">
            <a:extLst>
              <a:ext uri="{FF2B5EF4-FFF2-40B4-BE49-F238E27FC236}">
                <a16:creationId xmlns:a16="http://schemas.microsoft.com/office/drawing/2014/main" id="{533B0C50-36AF-4FF3-94F3-A7AC2F136125}"/>
              </a:ext>
            </a:extLst>
          </p:cNvPr>
          <p:cNvSpPr>
            <a:spLocks noGrp="1"/>
          </p:cNvSpPr>
          <p:nvPr/>
        </p:nvSpPr>
        <p:spPr>
          <a:xfrm>
            <a:off x="723900" y="23431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1-10-left-line-1">
            <a:extLst>
              <a:ext uri="{FF2B5EF4-FFF2-40B4-BE49-F238E27FC236}">
                <a16:creationId xmlns:a16="http://schemas.microsoft.com/office/drawing/2014/main" id="{5733D9E4-81FC-46A0-A88D-0EA010E10127}"/>
              </a:ext>
            </a:extLst>
          </p:cNvPr>
          <p:cNvSpPr>
            <a:spLocks noGrp="1"/>
          </p:cNvSpPr>
          <p:nvPr/>
        </p:nvSpPr>
        <p:spPr>
          <a:xfrm>
            <a:off x="952500" y="2228850"/>
            <a:ext cx="46291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3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조건을 사람이 정한다</a:t>
            </a:r>
          </a:p>
        </p:txBody>
      </p:sp>
      <p:sp>
        <p:nvSpPr>
          <p:cNvPr id="9" name="01-10-left-dot-2">
            <a:extLst>
              <a:ext uri="{FF2B5EF4-FFF2-40B4-BE49-F238E27FC236}">
                <a16:creationId xmlns:a16="http://schemas.microsoft.com/office/drawing/2014/main" id="{5E91FB64-06D9-4348-98C4-5F53DD54E2E7}"/>
              </a:ext>
            </a:extLst>
          </p:cNvPr>
          <p:cNvSpPr>
            <a:spLocks noGrp="1"/>
          </p:cNvSpPr>
          <p:nvPr/>
        </p:nvSpPr>
        <p:spPr>
          <a:xfrm>
            <a:off x="723900" y="28003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1-10-left-line-2">
            <a:extLst>
              <a:ext uri="{FF2B5EF4-FFF2-40B4-BE49-F238E27FC236}">
                <a16:creationId xmlns:a16="http://schemas.microsoft.com/office/drawing/2014/main" id="{868C84F5-D232-4A7B-94F2-42784DFCCB9F}"/>
              </a:ext>
            </a:extLst>
          </p:cNvPr>
          <p:cNvSpPr>
            <a:spLocks noGrp="1"/>
          </p:cNvSpPr>
          <p:nvPr/>
        </p:nvSpPr>
        <p:spPr>
          <a:xfrm>
            <a:off x="952500" y="2686050"/>
            <a:ext cx="46291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3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틀리면 코드를 찾아 고친다</a:t>
            </a:r>
          </a:p>
        </p:txBody>
      </p:sp>
      <p:sp>
        <p:nvSpPr>
          <p:cNvPr id="11" name="01-10-left-dot-3">
            <a:extLst>
              <a:ext uri="{FF2B5EF4-FFF2-40B4-BE49-F238E27FC236}">
                <a16:creationId xmlns:a16="http://schemas.microsoft.com/office/drawing/2014/main" id="{255831FD-0C7F-4AFF-B106-22A18DD85EF0}"/>
              </a:ext>
            </a:extLst>
          </p:cNvPr>
          <p:cNvSpPr>
            <a:spLocks noGrp="1"/>
          </p:cNvSpPr>
          <p:nvPr/>
        </p:nvSpPr>
        <p:spPr>
          <a:xfrm>
            <a:off x="723900" y="32575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1-10-left-line-3">
            <a:extLst>
              <a:ext uri="{FF2B5EF4-FFF2-40B4-BE49-F238E27FC236}">
                <a16:creationId xmlns:a16="http://schemas.microsoft.com/office/drawing/2014/main" id="{E83E9C3A-78B6-4EFA-89A5-3BD1A009BFA5}"/>
              </a:ext>
            </a:extLst>
          </p:cNvPr>
          <p:cNvSpPr>
            <a:spLocks noGrp="1"/>
          </p:cNvSpPr>
          <p:nvPr/>
        </p:nvSpPr>
        <p:spPr>
          <a:xfrm>
            <a:off x="952500" y="3143250"/>
            <a:ext cx="46291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3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동작 이유를 설명하기 쉽다</a:t>
            </a:r>
          </a:p>
        </p:txBody>
      </p:sp>
      <p:sp>
        <p:nvSpPr>
          <p:cNvPr id="13" name="01-10-right-heading">
            <a:extLst>
              <a:ext uri="{FF2B5EF4-FFF2-40B4-BE49-F238E27FC236}">
                <a16:creationId xmlns:a16="http://schemas.microsoft.com/office/drawing/2014/main" id="{8FF77E8F-7271-4E73-85C6-A292E8E49581}"/>
              </a:ext>
            </a:extLst>
          </p:cNvPr>
          <p:cNvSpPr>
            <a:spLocks noGrp="1"/>
          </p:cNvSpPr>
          <p:nvPr/>
        </p:nvSpPr>
        <p:spPr>
          <a:xfrm>
            <a:off x="6572250" y="1676400"/>
            <a:ext cx="4762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학습 기반</a:t>
            </a:r>
          </a:p>
        </p:txBody>
      </p:sp>
      <p:sp>
        <p:nvSpPr>
          <p:cNvPr id="14" name="01-10-right-dot-1">
            <a:extLst>
              <a:ext uri="{FF2B5EF4-FFF2-40B4-BE49-F238E27FC236}">
                <a16:creationId xmlns:a16="http://schemas.microsoft.com/office/drawing/2014/main" id="{AD8FA24C-3F19-4192-B1F7-8205C52D78B1}"/>
              </a:ext>
            </a:extLst>
          </p:cNvPr>
          <p:cNvSpPr>
            <a:spLocks noGrp="1"/>
          </p:cNvSpPr>
          <p:nvPr/>
        </p:nvSpPr>
        <p:spPr>
          <a:xfrm>
            <a:off x="6572250" y="23431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01-10-right-line-1">
            <a:extLst>
              <a:ext uri="{FF2B5EF4-FFF2-40B4-BE49-F238E27FC236}">
                <a16:creationId xmlns:a16="http://schemas.microsoft.com/office/drawing/2014/main" id="{ADD9989C-E40C-40E9-AD8C-5983A054A111}"/>
              </a:ext>
            </a:extLst>
          </p:cNvPr>
          <p:cNvSpPr>
            <a:spLocks noGrp="1"/>
          </p:cNvSpPr>
          <p:nvPr/>
        </p:nvSpPr>
        <p:spPr>
          <a:xfrm>
            <a:off x="6800850" y="2228850"/>
            <a:ext cx="45339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3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데이터로 오차를 줄인다</a:t>
            </a:r>
          </a:p>
        </p:txBody>
      </p:sp>
      <p:sp>
        <p:nvSpPr>
          <p:cNvPr id="16" name="01-10-right-dot-2">
            <a:extLst>
              <a:ext uri="{FF2B5EF4-FFF2-40B4-BE49-F238E27FC236}">
                <a16:creationId xmlns:a16="http://schemas.microsoft.com/office/drawing/2014/main" id="{28F90C03-6D6C-45B4-BF16-E34E995E254D}"/>
              </a:ext>
            </a:extLst>
          </p:cNvPr>
          <p:cNvSpPr>
            <a:spLocks noGrp="1"/>
          </p:cNvSpPr>
          <p:nvPr/>
        </p:nvSpPr>
        <p:spPr>
          <a:xfrm>
            <a:off x="6572250" y="28003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01-10-right-line-2">
            <a:extLst>
              <a:ext uri="{FF2B5EF4-FFF2-40B4-BE49-F238E27FC236}">
                <a16:creationId xmlns:a16="http://schemas.microsoft.com/office/drawing/2014/main" id="{2FD31AB4-54D5-45E7-BECB-24DACD53002E}"/>
              </a:ext>
            </a:extLst>
          </p:cNvPr>
          <p:cNvSpPr>
            <a:spLocks noGrp="1"/>
          </p:cNvSpPr>
          <p:nvPr/>
        </p:nvSpPr>
        <p:spPr>
          <a:xfrm>
            <a:off x="6800850" y="2686050"/>
            <a:ext cx="45339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3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관계를 수치로 조정한다</a:t>
            </a:r>
          </a:p>
        </p:txBody>
      </p:sp>
      <p:sp>
        <p:nvSpPr>
          <p:cNvPr id="18" name="01-10-right-dot-3">
            <a:extLst>
              <a:ext uri="{FF2B5EF4-FFF2-40B4-BE49-F238E27FC236}">
                <a16:creationId xmlns:a16="http://schemas.microsoft.com/office/drawing/2014/main" id="{B44F8235-833D-4024-9448-7182069B0915}"/>
              </a:ext>
            </a:extLst>
          </p:cNvPr>
          <p:cNvSpPr>
            <a:spLocks noGrp="1"/>
          </p:cNvSpPr>
          <p:nvPr/>
        </p:nvSpPr>
        <p:spPr>
          <a:xfrm>
            <a:off x="6572250" y="32575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01-10-right-line-3">
            <a:extLst>
              <a:ext uri="{FF2B5EF4-FFF2-40B4-BE49-F238E27FC236}">
                <a16:creationId xmlns:a16="http://schemas.microsoft.com/office/drawing/2014/main" id="{845F9594-CAD4-407F-AB1E-DF59CE0F2AF6}"/>
              </a:ext>
            </a:extLst>
          </p:cNvPr>
          <p:cNvSpPr>
            <a:spLocks noGrp="1"/>
          </p:cNvSpPr>
          <p:nvPr/>
        </p:nvSpPr>
        <p:spPr>
          <a:xfrm>
            <a:off x="6800850" y="3143250"/>
            <a:ext cx="45339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3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데이터의 한계를 물려받는다</a:t>
            </a:r>
          </a:p>
        </p:txBody>
      </p:sp>
      <p:pic>
        <p:nvPicPr>
          <p:cNvPr id="41" name="Picture 4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714750" y="3708085"/>
            <a:ext cx="4762499" cy="2680330"/>
          </a:xfrm>
          <a:prstGeom prst="rect">
            <a:avLst/>
          </a:prstGeom>
        </p:spPr>
      </p:pic>
      <p:sp>
        <p:nvSpPr>
          <p:cNvPr id="21" name="01-10-optional">
            <a:extLst>
              <a:ext uri="{FF2B5EF4-FFF2-40B4-BE49-F238E27FC236}">
                <a16:creationId xmlns:a16="http://schemas.microsoft.com/office/drawing/2014/main" id="{1DF7B4D3-C43F-49E8-AAFD-3071825C1087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7880885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01-11-footer-section">
            <a:extLst>
              <a:ext uri="{FF2B5EF4-FFF2-40B4-BE49-F238E27FC236}">
                <a16:creationId xmlns:a16="http://schemas.microsoft.com/office/drawing/2014/main" id="{F12A248B-EFC8-4FAC-B8E4-DBFFCF4A6F40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AI LITERACY</a:t>
            </a:r>
          </a:p>
        </p:txBody>
      </p:sp>
      <p:sp>
        <p:nvSpPr>
          <p:cNvPr id="2" name="01-11-footer-page">
            <a:extLst>
              <a:ext uri="{FF2B5EF4-FFF2-40B4-BE49-F238E27FC236}">
                <a16:creationId xmlns:a16="http://schemas.microsoft.com/office/drawing/2014/main" id="{7873B618-41A9-4AF5-B775-D5E06E70162B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11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1-11-accent-rule">
            <a:extLst>
              <a:ext uri="{FF2B5EF4-FFF2-40B4-BE49-F238E27FC236}">
                <a16:creationId xmlns:a16="http://schemas.microsoft.com/office/drawing/2014/main" id="{B03DEC31-A28A-40D4-B1F3-3F00370F0B9C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1-11-title">
            <a:extLst>
              <a:ext uri="{FF2B5EF4-FFF2-40B4-BE49-F238E27FC236}">
                <a16:creationId xmlns:a16="http://schemas.microsoft.com/office/drawing/2014/main" id="{8D3C44CD-4ED9-4207-8D81-A2C142E32D5B}"/>
              </a:ext>
            </a:extLst>
          </p:cNvPr>
          <p:cNvSpPr>
            <a:spLocks noGrp="1"/>
          </p:cNvSpPr>
          <p:nvPr/>
        </p:nvSpPr>
        <p:spPr>
          <a:xfrm>
            <a:off x="723900" y="704850"/>
            <a:ext cx="59055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파라미터는 지식 목록이 아니다</a:t>
            </a:r>
          </a:p>
        </p:txBody>
      </p:sp>
      <p:sp>
        <p:nvSpPr>
          <p:cNvPr id="5" name="01-11-bullet-1">
            <a:extLst>
              <a:ext uri="{FF2B5EF4-FFF2-40B4-BE49-F238E27FC236}">
                <a16:creationId xmlns:a16="http://schemas.microsoft.com/office/drawing/2014/main" id="{E724268D-25BC-4411-9271-A9F936219E56}"/>
              </a:ext>
            </a:extLst>
          </p:cNvPr>
          <p:cNvSpPr>
            <a:spLocks noGrp="1"/>
          </p:cNvSpPr>
          <p:nvPr/>
        </p:nvSpPr>
        <p:spPr>
          <a:xfrm>
            <a:off x="723900" y="21145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1-11-body-1">
            <a:extLst>
              <a:ext uri="{FF2B5EF4-FFF2-40B4-BE49-F238E27FC236}">
                <a16:creationId xmlns:a16="http://schemas.microsoft.com/office/drawing/2014/main" id="{A3E33E5F-DA06-4DD2-8CF1-FB0C7AA7C5DB}"/>
              </a:ext>
            </a:extLst>
          </p:cNvPr>
          <p:cNvSpPr>
            <a:spLocks noGrp="1"/>
          </p:cNvSpPr>
          <p:nvPr/>
        </p:nvSpPr>
        <p:spPr>
          <a:xfrm>
            <a:off x="990600" y="2000250"/>
            <a:ext cx="4495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하나의 값이 하나의 규칙을 뜻하지 않는다</a:t>
            </a:r>
          </a:p>
        </p:txBody>
      </p:sp>
      <p:sp>
        <p:nvSpPr>
          <p:cNvPr id="7" name="01-11-bullet-2">
            <a:extLst>
              <a:ext uri="{FF2B5EF4-FFF2-40B4-BE49-F238E27FC236}">
                <a16:creationId xmlns:a16="http://schemas.microsoft.com/office/drawing/2014/main" id="{48CF7F7E-3295-4BBD-869C-756B8613D423}"/>
              </a:ext>
            </a:extLst>
          </p:cNvPr>
          <p:cNvSpPr>
            <a:spLocks noGrp="1"/>
          </p:cNvSpPr>
          <p:nvPr/>
        </p:nvSpPr>
        <p:spPr>
          <a:xfrm>
            <a:off x="723900" y="28956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1-11-body-2">
            <a:extLst>
              <a:ext uri="{FF2B5EF4-FFF2-40B4-BE49-F238E27FC236}">
                <a16:creationId xmlns:a16="http://schemas.microsoft.com/office/drawing/2014/main" id="{BA7469DE-51DD-483C-B4C2-B02A10299DD0}"/>
              </a:ext>
            </a:extLst>
          </p:cNvPr>
          <p:cNvSpPr>
            <a:spLocks noGrp="1"/>
          </p:cNvSpPr>
          <p:nvPr/>
        </p:nvSpPr>
        <p:spPr>
          <a:xfrm>
            <a:off x="990600" y="2781300"/>
            <a:ext cx="4495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수많은 값의 조합이 출력을 만든다</a:t>
            </a:r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191250" y="2082853"/>
            <a:ext cx="4953000" cy="2787544"/>
          </a:xfrm>
          <a:prstGeom prst="rect">
            <a:avLst/>
          </a:prstGeom>
        </p:spPr>
      </p:pic>
      <p:sp>
        <p:nvSpPr>
          <p:cNvPr id="10" name="01-11-optional">
            <a:extLst>
              <a:ext uri="{FF2B5EF4-FFF2-40B4-BE49-F238E27FC236}">
                <a16:creationId xmlns:a16="http://schemas.microsoft.com/office/drawing/2014/main" id="{ABBC0077-0D42-4C1F-AA24-B2292FCF4F9F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3422404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01-12-footer-section">
            <a:extLst>
              <a:ext uri="{FF2B5EF4-FFF2-40B4-BE49-F238E27FC236}">
                <a16:creationId xmlns:a16="http://schemas.microsoft.com/office/drawing/2014/main" id="{5F712064-4F18-4DA7-A4FF-18A3AF7A856E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AI LITERACY</a:t>
            </a:r>
          </a:p>
        </p:txBody>
      </p:sp>
      <p:sp>
        <p:nvSpPr>
          <p:cNvPr id="2" name="01-12-footer-page">
            <a:extLst>
              <a:ext uri="{FF2B5EF4-FFF2-40B4-BE49-F238E27FC236}">
                <a16:creationId xmlns:a16="http://schemas.microsoft.com/office/drawing/2014/main" id="{8E7914B0-B029-486D-8674-180335F61BA0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12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1-12-accent-rule">
            <a:extLst>
              <a:ext uri="{FF2B5EF4-FFF2-40B4-BE49-F238E27FC236}">
                <a16:creationId xmlns:a16="http://schemas.microsoft.com/office/drawing/2014/main" id="{4BA45568-63D2-4201-9BDC-7109E2C738CC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1-12-title">
            <a:extLst>
              <a:ext uri="{FF2B5EF4-FFF2-40B4-BE49-F238E27FC236}">
                <a16:creationId xmlns:a16="http://schemas.microsoft.com/office/drawing/2014/main" id="{CF7DF94F-87CD-4FED-BCF0-6F1818F56326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619125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55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같은 입력도 맥락에 따라 후보가 달라진다</a:t>
            </a:r>
          </a:p>
        </p:txBody>
      </p:sp>
      <p:sp>
        <p:nvSpPr>
          <p:cNvPr id="5" name="01-12-prompt">
            <a:extLst>
              <a:ext uri="{FF2B5EF4-FFF2-40B4-BE49-F238E27FC236}">
                <a16:creationId xmlns:a16="http://schemas.microsoft.com/office/drawing/2014/main" id="{A65188F2-FD2E-455D-9F2F-A37455095B67}"/>
              </a:ext>
            </a:extLst>
          </p:cNvPr>
          <p:cNvSpPr>
            <a:spLocks noGrp="1"/>
          </p:cNvSpPr>
          <p:nvPr/>
        </p:nvSpPr>
        <p:spPr>
          <a:xfrm>
            <a:off x="723900" y="1638300"/>
            <a:ext cx="476250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“휴스턴은…”</a:t>
            </a:r>
          </a:p>
        </p:txBody>
      </p:sp>
      <p:sp>
        <p:nvSpPr>
          <p:cNvPr id="6" name="01-12-bullet-1">
            <a:extLst>
              <a:ext uri="{FF2B5EF4-FFF2-40B4-BE49-F238E27FC236}">
                <a16:creationId xmlns:a16="http://schemas.microsoft.com/office/drawing/2014/main" id="{9C26A0B8-392C-4CA5-B389-52D2756CFC39}"/>
              </a:ext>
            </a:extLst>
          </p:cNvPr>
          <p:cNvSpPr>
            <a:spLocks noGrp="1"/>
          </p:cNvSpPr>
          <p:nvPr/>
        </p:nvSpPr>
        <p:spPr>
          <a:xfrm>
            <a:off x="876300" y="24955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1-12-body-1">
            <a:extLst>
              <a:ext uri="{FF2B5EF4-FFF2-40B4-BE49-F238E27FC236}">
                <a16:creationId xmlns:a16="http://schemas.microsoft.com/office/drawing/2014/main" id="{03179854-8268-4F47-878D-A3B39FF44F39}"/>
              </a:ext>
            </a:extLst>
          </p:cNvPr>
          <p:cNvSpPr>
            <a:spLocks noGrp="1"/>
          </p:cNvSpPr>
          <p:nvPr/>
        </p:nvSpPr>
        <p:spPr>
          <a:xfrm>
            <a:off x="1143000" y="2381250"/>
            <a:ext cx="4495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5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텍사스에 있다</a:t>
            </a:r>
          </a:p>
        </p:txBody>
      </p:sp>
      <p:sp>
        <p:nvSpPr>
          <p:cNvPr id="8" name="01-12-bullet-2">
            <a:extLst>
              <a:ext uri="{FF2B5EF4-FFF2-40B4-BE49-F238E27FC236}">
                <a16:creationId xmlns:a16="http://schemas.microsoft.com/office/drawing/2014/main" id="{9128EA9D-4D58-4D26-B14D-05C50A2417A0}"/>
              </a:ext>
            </a:extLst>
          </p:cNvPr>
          <p:cNvSpPr>
            <a:spLocks noGrp="1"/>
          </p:cNvSpPr>
          <p:nvPr/>
        </p:nvSpPr>
        <p:spPr>
          <a:xfrm>
            <a:off x="876300" y="32766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01-12-body-2">
            <a:extLst>
              <a:ext uri="{FF2B5EF4-FFF2-40B4-BE49-F238E27FC236}">
                <a16:creationId xmlns:a16="http://schemas.microsoft.com/office/drawing/2014/main" id="{313BD71D-E16C-4649-A3A2-241A54E15F89}"/>
              </a:ext>
            </a:extLst>
          </p:cNvPr>
          <p:cNvSpPr>
            <a:spLocks noGrp="1"/>
          </p:cNvSpPr>
          <p:nvPr/>
        </p:nvSpPr>
        <p:spPr>
          <a:xfrm>
            <a:off x="1143000" y="3162300"/>
            <a:ext cx="4495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5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NASA가 있다</a:t>
            </a:r>
          </a:p>
        </p:txBody>
      </p:sp>
      <p:sp>
        <p:nvSpPr>
          <p:cNvPr id="10" name="01-12-bullet-3">
            <a:extLst>
              <a:ext uri="{FF2B5EF4-FFF2-40B4-BE49-F238E27FC236}">
                <a16:creationId xmlns:a16="http://schemas.microsoft.com/office/drawing/2014/main" id="{5D821822-657E-4A72-A4D6-17BBDE0E3700}"/>
              </a:ext>
            </a:extLst>
          </p:cNvPr>
          <p:cNvSpPr>
            <a:spLocks noGrp="1"/>
          </p:cNvSpPr>
          <p:nvPr/>
        </p:nvSpPr>
        <p:spPr>
          <a:xfrm>
            <a:off x="876300" y="40576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01-12-body-3">
            <a:extLst>
              <a:ext uri="{FF2B5EF4-FFF2-40B4-BE49-F238E27FC236}">
                <a16:creationId xmlns:a16="http://schemas.microsoft.com/office/drawing/2014/main" id="{12228C77-9F3A-40CE-98AF-D00925CAD425}"/>
              </a:ext>
            </a:extLst>
          </p:cNvPr>
          <p:cNvSpPr>
            <a:spLocks noGrp="1"/>
          </p:cNvSpPr>
          <p:nvPr/>
        </p:nvSpPr>
        <p:spPr>
          <a:xfrm>
            <a:off x="1143000" y="3943350"/>
            <a:ext cx="4495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5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아주 덥다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191250" y="2320978"/>
            <a:ext cx="4953000" cy="2787544"/>
          </a:xfrm>
          <a:prstGeom prst="rect">
            <a:avLst/>
          </a:prstGeom>
        </p:spPr>
      </p:pic>
      <p:sp>
        <p:nvSpPr>
          <p:cNvPr id="13" name="01-12-optional">
            <a:extLst>
              <a:ext uri="{FF2B5EF4-FFF2-40B4-BE49-F238E27FC236}">
                <a16:creationId xmlns:a16="http://schemas.microsoft.com/office/drawing/2014/main" id="{1012DEBA-AF18-4BFF-9399-600E2C1228E5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18048708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01-13-footer-section">
            <a:extLst>
              <a:ext uri="{FF2B5EF4-FFF2-40B4-BE49-F238E27FC236}">
                <a16:creationId xmlns:a16="http://schemas.microsoft.com/office/drawing/2014/main" id="{A3964F85-F9BC-4FCF-936A-1270479F7B9E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AI LITERACY</a:t>
            </a:r>
          </a:p>
        </p:txBody>
      </p:sp>
      <p:sp>
        <p:nvSpPr>
          <p:cNvPr id="2" name="01-13-footer-page">
            <a:extLst>
              <a:ext uri="{FF2B5EF4-FFF2-40B4-BE49-F238E27FC236}">
                <a16:creationId xmlns:a16="http://schemas.microsoft.com/office/drawing/2014/main" id="{2C8BF8F2-FBB2-4DC8-A706-4408D622BDF7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13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1-13-accent-rule">
            <a:extLst>
              <a:ext uri="{FF2B5EF4-FFF2-40B4-BE49-F238E27FC236}">
                <a16:creationId xmlns:a16="http://schemas.microsoft.com/office/drawing/2014/main" id="{B937F87D-2BE8-4E14-916F-2CDC55004651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1-13-title">
            <a:extLst>
              <a:ext uri="{FF2B5EF4-FFF2-40B4-BE49-F238E27FC236}">
                <a16:creationId xmlns:a16="http://schemas.microsoft.com/office/drawing/2014/main" id="{D4951672-7AAF-4968-A4C8-A66DB248A781}"/>
              </a:ext>
            </a:extLst>
          </p:cNvPr>
          <p:cNvSpPr>
            <a:spLocks noGrp="1"/>
          </p:cNvSpPr>
          <p:nvPr/>
        </p:nvSpPr>
        <p:spPr>
          <a:xfrm>
            <a:off x="723900" y="704850"/>
            <a:ext cx="1028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유창함과 정확함은 다른 속성이다</a:t>
            </a:r>
          </a:p>
        </p:txBody>
      </p:sp>
      <p:sp>
        <p:nvSpPr>
          <p:cNvPr id="5" name="01-13-bullet-1">
            <a:extLst>
              <a:ext uri="{FF2B5EF4-FFF2-40B4-BE49-F238E27FC236}">
                <a16:creationId xmlns:a16="http://schemas.microsoft.com/office/drawing/2014/main" id="{C90C4E4B-E1B0-44EB-B52C-DE6D35637136}"/>
              </a:ext>
            </a:extLst>
          </p:cNvPr>
          <p:cNvSpPr>
            <a:spLocks noGrp="1"/>
          </p:cNvSpPr>
          <p:nvPr/>
        </p:nvSpPr>
        <p:spPr>
          <a:xfrm>
            <a:off x="876300" y="206692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1-13-body-1">
            <a:extLst>
              <a:ext uri="{FF2B5EF4-FFF2-40B4-BE49-F238E27FC236}">
                <a16:creationId xmlns:a16="http://schemas.microsoft.com/office/drawing/2014/main" id="{E35A81B7-17DA-4210-AC4D-5A3602293BCE}"/>
              </a:ext>
            </a:extLst>
          </p:cNvPr>
          <p:cNvSpPr>
            <a:spLocks noGrp="1"/>
          </p:cNvSpPr>
          <p:nvPr/>
        </p:nvSpPr>
        <p:spPr>
          <a:xfrm>
            <a:off x="1143000" y="195262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그럴듯한 문장 ≠ 이해의 증거</a:t>
            </a:r>
          </a:p>
        </p:txBody>
      </p:sp>
      <p:sp>
        <p:nvSpPr>
          <p:cNvPr id="7" name="01-13-bullet-2">
            <a:extLst>
              <a:ext uri="{FF2B5EF4-FFF2-40B4-BE49-F238E27FC236}">
                <a16:creationId xmlns:a16="http://schemas.microsoft.com/office/drawing/2014/main" id="{82FA5070-15AA-4B2A-85AA-8CA2F502C9C3}"/>
              </a:ext>
            </a:extLst>
          </p:cNvPr>
          <p:cNvSpPr>
            <a:spLocks noGrp="1"/>
          </p:cNvSpPr>
          <p:nvPr/>
        </p:nvSpPr>
        <p:spPr>
          <a:xfrm>
            <a:off x="876300" y="284797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1-13-body-2">
            <a:extLst>
              <a:ext uri="{FF2B5EF4-FFF2-40B4-BE49-F238E27FC236}">
                <a16:creationId xmlns:a16="http://schemas.microsoft.com/office/drawing/2014/main" id="{5EC36CC1-667C-4DA4-B805-B95143A473E4}"/>
              </a:ext>
            </a:extLst>
          </p:cNvPr>
          <p:cNvSpPr>
            <a:spLocks noGrp="1"/>
          </p:cNvSpPr>
          <p:nvPr/>
        </p:nvSpPr>
        <p:spPr>
          <a:xfrm>
            <a:off x="1143000" y="273367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자연스러운 번역 ≠ 사실 확인</a:t>
            </a:r>
          </a:p>
        </p:txBody>
      </p:sp>
      <p:sp>
        <p:nvSpPr>
          <p:cNvPr id="9" name="01-13-optional">
            <a:extLst>
              <a:ext uri="{FF2B5EF4-FFF2-40B4-BE49-F238E27FC236}">
                <a16:creationId xmlns:a16="http://schemas.microsoft.com/office/drawing/2014/main" id="{0B917CB8-37C4-4F37-A3CD-A1C226B32CBD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17015642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01-14-footer-section">
            <a:extLst>
              <a:ext uri="{FF2B5EF4-FFF2-40B4-BE49-F238E27FC236}">
                <a16:creationId xmlns:a16="http://schemas.microsoft.com/office/drawing/2014/main" id="{44E3686A-5076-45C6-94D8-1F8C76ECCF15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AI LITERACY</a:t>
            </a:r>
          </a:p>
        </p:txBody>
      </p:sp>
      <p:sp>
        <p:nvSpPr>
          <p:cNvPr id="2" name="01-14-footer-page">
            <a:extLst>
              <a:ext uri="{FF2B5EF4-FFF2-40B4-BE49-F238E27FC236}">
                <a16:creationId xmlns:a16="http://schemas.microsoft.com/office/drawing/2014/main" id="{995DE50E-59C2-4817-9F30-10ABB2B7A893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14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1-14-accent-rule">
            <a:extLst>
              <a:ext uri="{FF2B5EF4-FFF2-40B4-BE49-F238E27FC236}">
                <a16:creationId xmlns:a16="http://schemas.microsoft.com/office/drawing/2014/main" id="{93919837-0BA4-43D3-96B7-F13746F78FDA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1-14-title">
            <a:extLst>
              <a:ext uri="{FF2B5EF4-FFF2-40B4-BE49-F238E27FC236}">
                <a16:creationId xmlns:a16="http://schemas.microsoft.com/office/drawing/2014/main" id="{C7A8A19F-E13F-4478-B8CC-9A7C597E55A2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자연어만 번역 결과가 보장되지 않는다</a:t>
            </a:r>
          </a:p>
        </p:txBody>
      </p:sp>
      <p:sp>
        <p:nvSpPr>
          <p:cNvPr id="5" name="01-14-divider">
            <a:extLst>
              <a:ext uri="{FF2B5EF4-FFF2-40B4-BE49-F238E27FC236}">
                <a16:creationId xmlns:a16="http://schemas.microsoft.com/office/drawing/2014/main" id="{2A3C11BA-330D-4638-810C-DB0F87326031}"/>
              </a:ext>
            </a:extLst>
          </p:cNvPr>
          <p:cNvSpPr>
            <a:spLocks noGrp="1"/>
          </p:cNvSpPr>
          <p:nvPr/>
        </p:nvSpPr>
        <p:spPr>
          <a:xfrm>
            <a:off x="6096000" y="1676400"/>
            <a:ext cx="0" cy="390525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1-14-left-heading">
            <a:extLst>
              <a:ext uri="{FF2B5EF4-FFF2-40B4-BE49-F238E27FC236}">
                <a16:creationId xmlns:a16="http://schemas.microsoft.com/office/drawing/2014/main" id="{9044A31D-462B-4725-AF04-2505C488FA71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4857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컴파일러</a:t>
            </a:r>
          </a:p>
        </p:txBody>
      </p:sp>
      <p:sp>
        <p:nvSpPr>
          <p:cNvPr id="7" name="01-14-left-dot-1">
            <a:extLst>
              <a:ext uri="{FF2B5EF4-FFF2-40B4-BE49-F238E27FC236}">
                <a16:creationId xmlns:a16="http://schemas.microsoft.com/office/drawing/2014/main" id="{4D7BA3E2-7730-4DAF-8752-CF2F092D93B3}"/>
              </a:ext>
            </a:extLst>
          </p:cNvPr>
          <p:cNvSpPr>
            <a:spLocks noGrp="1"/>
          </p:cNvSpPr>
          <p:nvPr/>
        </p:nvSpPr>
        <p:spPr>
          <a:xfrm>
            <a:off x="72390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1-14-left-line-1">
            <a:extLst>
              <a:ext uri="{FF2B5EF4-FFF2-40B4-BE49-F238E27FC236}">
                <a16:creationId xmlns:a16="http://schemas.microsoft.com/office/drawing/2014/main" id="{D0444E7F-F6B8-41A1-BB53-D32888DD5394}"/>
              </a:ext>
            </a:extLst>
          </p:cNvPr>
          <p:cNvSpPr>
            <a:spLocks noGrp="1"/>
          </p:cNvSpPr>
          <p:nvPr/>
        </p:nvSpPr>
        <p:spPr>
          <a:xfrm>
            <a:off x="952500" y="2362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같은 입력</a:t>
            </a:r>
          </a:p>
        </p:txBody>
      </p:sp>
      <p:sp>
        <p:nvSpPr>
          <p:cNvPr id="9" name="01-14-left-dot-2">
            <a:extLst>
              <a:ext uri="{FF2B5EF4-FFF2-40B4-BE49-F238E27FC236}">
                <a16:creationId xmlns:a16="http://schemas.microsoft.com/office/drawing/2014/main" id="{9622E816-4297-41F8-951D-0FBF101769B3}"/>
              </a:ext>
            </a:extLst>
          </p:cNvPr>
          <p:cNvSpPr>
            <a:spLocks noGrp="1"/>
          </p:cNvSpPr>
          <p:nvPr/>
        </p:nvSpPr>
        <p:spPr>
          <a:xfrm>
            <a:off x="72390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1-14-left-line-2">
            <a:extLst>
              <a:ext uri="{FF2B5EF4-FFF2-40B4-BE49-F238E27FC236}">
                <a16:creationId xmlns:a16="http://schemas.microsoft.com/office/drawing/2014/main" id="{3F5176A3-53EA-4E36-AF70-EAECCD576F76}"/>
              </a:ext>
            </a:extLst>
          </p:cNvPr>
          <p:cNvSpPr>
            <a:spLocks noGrp="1"/>
          </p:cNvSpPr>
          <p:nvPr/>
        </p:nvSpPr>
        <p:spPr>
          <a:xfrm>
            <a:off x="952500" y="310515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같은 번역 결과</a:t>
            </a:r>
          </a:p>
        </p:txBody>
      </p:sp>
      <p:sp>
        <p:nvSpPr>
          <p:cNvPr id="11" name="01-14-left-dot-3">
            <a:extLst>
              <a:ext uri="{FF2B5EF4-FFF2-40B4-BE49-F238E27FC236}">
                <a16:creationId xmlns:a16="http://schemas.microsoft.com/office/drawing/2014/main" id="{665B3E09-9FE1-4393-8F86-1A6824B0D7EB}"/>
              </a:ext>
            </a:extLst>
          </p:cNvPr>
          <p:cNvSpPr>
            <a:spLocks noGrp="1"/>
          </p:cNvSpPr>
          <p:nvPr/>
        </p:nvSpPr>
        <p:spPr>
          <a:xfrm>
            <a:off x="72390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1-14-left-line-3">
            <a:extLst>
              <a:ext uri="{FF2B5EF4-FFF2-40B4-BE49-F238E27FC236}">
                <a16:creationId xmlns:a16="http://schemas.microsoft.com/office/drawing/2014/main" id="{51B1E36E-B97D-4696-9498-31CB49A34967}"/>
              </a:ext>
            </a:extLst>
          </p:cNvPr>
          <p:cNvSpPr>
            <a:spLocks noGrp="1"/>
          </p:cNvSpPr>
          <p:nvPr/>
        </p:nvSpPr>
        <p:spPr>
          <a:xfrm>
            <a:off x="952500" y="38481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재현 가능한 계약</a:t>
            </a:r>
          </a:p>
        </p:txBody>
      </p:sp>
      <p:sp>
        <p:nvSpPr>
          <p:cNvPr id="13" name="01-14-right-heading">
            <a:extLst>
              <a:ext uri="{FF2B5EF4-FFF2-40B4-BE49-F238E27FC236}">
                <a16:creationId xmlns:a16="http://schemas.microsoft.com/office/drawing/2014/main" id="{AEB78550-A046-4336-B9D6-BE0E52D25EC3}"/>
              </a:ext>
            </a:extLst>
          </p:cNvPr>
          <p:cNvSpPr>
            <a:spLocks noGrp="1"/>
          </p:cNvSpPr>
          <p:nvPr/>
        </p:nvSpPr>
        <p:spPr>
          <a:xfrm>
            <a:off x="6572250" y="1676400"/>
            <a:ext cx="4762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자연어 → LLM</a:t>
            </a:r>
          </a:p>
        </p:txBody>
      </p:sp>
      <p:sp>
        <p:nvSpPr>
          <p:cNvPr id="14" name="01-14-right-dot-1">
            <a:extLst>
              <a:ext uri="{FF2B5EF4-FFF2-40B4-BE49-F238E27FC236}">
                <a16:creationId xmlns:a16="http://schemas.microsoft.com/office/drawing/2014/main" id="{8483D656-91DC-477C-B8EA-75F1FC06D523}"/>
              </a:ext>
            </a:extLst>
          </p:cNvPr>
          <p:cNvSpPr>
            <a:spLocks noGrp="1"/>
          </p:cNvSpPr>
          <p:nvPr/>
        </p:nvSpPr>
        <p:spPr>
          <a:xfrm>
            <a:off x="657225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01-14-right-line-1">
            <a:extLst>
              <a:ext uri="{FF2B5EF4-FFF2-40B4-BE49-F238E27FC236}">
                <a16:creationId xmlns:a16="http://schemas.microsoft.com/office/drawing/2014/main" id="{5B852A58-B3C5-459A-A9E3-D6D4D009E92C}"/>
              </a:ext>
            </a:extLst>
          </p:cNvPr>
          <p:cNvSpPr>
            <a:spLocks noGrp="1"/>
          </p:cNvSpPr>
          <p:nvPr/>
        </p:nvSpPr>
        <p:spPr>
          <a:xfrm>
            <a:off x="6800850" y="2362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같은 문장</a:t>
            </a:r>
          </a:p>
        </p:txBody>
      </p:sp>
      <p:sp>
        <p:nvSpPr>
          <p:cNvPr id="16" name="01-14-right-dot-2">
            <a:extLst>
              <a:ext uri="{FF2B5EF4-FFF2-40B4-BE49-F238E27FC236}">
                <a16:creationId xmlns:a16="http://schemas.microsoft.com/office/drawing/2014/main" id="{E4FE8986-BAA0-4290-AEDA-FB694A40994B}"/>
              </a:ext>
            </a:extLst>
          </p:cNvPr>
          <p:cNvSpPr>
            <a:spLocks noGrp="1"/>
          </p:cNvSpPr>
          <p:nvPr/>
        </p:nvSpPr>
        <p:spPr>
          <a:xfrm>
            <a:off x="657225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01-14-right-line-2">
            <a:extLst>
              <a:ext uri="{FF2B5EF4-FFF2-40B4-BE49-F238E27FC236}">
                <a16:creationId xmlns:a16="http://schemas.microsoft.com/office/drawing/2014/main" id="{8A4616D4-0B12-47CE-9774-6FCD48545143}"/>
              </a:ext>
            </a:extLst>
          </p:cNvPr>
          <p:cNvSpPr>
            <a:spLocks noGrp="1"/>
          </p:cNvSpPr>
          <p:nvPr/>
        </p:nvSpPr>
        <p:spPr>
          <a:xfrm>
            <a:off x="6800850" y="310515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다른 코드가 가능</a:t>
            </a:r>
          </a:p>
        </p:txBody>
      </p:sp>
      <p:sp>
        <p:nvSpPr>
          <p:cNvPr id="18" name="01-14-right-dot-3">
            <a:extLst>
              <a:ext uri="{FF2B5EF4-FFF2-40B4-BE49-F238E27FC236}">
                <a16:creationId xmlns:a16="http://schemas.microsoft.com/office/drawing/2014/main" id="{0A8174A2-E572-43E2-B441-929E457EE498}"/>
              </a:ext>
            </a:extLst>
          </p:cNvPr>
          <p:cNvSpPr>
            <a:spLocks noGrp="1"/>
          </p:cNvSpPr>
          <p:nvPr/>
        </p:nvSpPr>
        <p:spPr>
          <a:xfrm>
            <a:off x="657225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01-14-right-line-3">
            <a:extLst>
              <a:ext uri="{FF2B5EF4-FFF2-40B4-BE49-F238E27FC236}">
                <a16:creationId xmlns:a16="http://schemas.microsoft.com/office/drawing/2014/main" id="{198932BE-F3BF-4970-800C-578191EFD621}"/>
              </a:ext>
            </a:extLst>
          </p:cNvPr>
          <p:cNvSpPr>
            <a:spLocks noGrp="1"/>
          </p:cNvSpPr>
          <p:nvPr/>
        </p:nvSpPr>
        <p:spPr>
          <a:xfrm>
            <a:off x="6800850" y="38481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계약을 따로 만들어야 함</a:t>
            </a:r>
          </a:p>
        </p:txBody>
      </p:sp>
    </p:spTree>
    <p:extLst>
      <p:ext uri="{BB962C8B-B14F-4D97-AF65-F5344CB8AC3E}">
        <p14:creationId xmlns:p14="http://schemas.microsoft.com/office/powerpoint/2010/main" val="3393459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01-15-footer-section">
            <a:extLst>
              <a:ext uri="{FF2B5EF4-FFF2-40B4-BE49-F238E27FC236}">
                <a16:creationId xmlns:a16="http://schemas.microsoft.com/office/drawing/2014/main" id="{725C7FD9-D563-4C8B-BC11-FC65EEAD1088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AI LITERACY</a:t>
            </a:r>
          </a:p>
        </p:txBody>
      </p:sp>
      <p:sp>
        <p:nvSpPr>
          <p:cNvPr id="2" name="01-15-footer-page">
            <a:extLst>
              <a:ext uri="{FF2B5EF4-FFF2-40B4-BE49-F238E27FC236}">
                <a16:creationId xmlns:a16="http://schemas.microsoft.com/office/drawing/2014/main" id="{BD3034D6-EF14-4AFA-A4FA-1CBF1C0D4306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15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1-15-accent-rule">
            <a:extLst>
              <a:ext uri="{FF2B5EF4-FFF2-40B4-BE49-F238E27FC236}">
                <a16:creationId xmlns:a16="http://schemas.microsoft.com/office/drawing/2014/main" id="{1C016285-8DA8-4A7A-B224-74DC270A2C6B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1-15-title">
            <a:extLst>
              <a:ext uri="{FF2B5EF4-FFF2-40B4-BE49-F238E27FC236}">
                <a16:creationId xmlns:a16="http://schemas.microsoft.com/office/drawing/2014/main" id="{FC3484C7-45E3-4325-9847-5305389818F5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실무에서는 네 방식으로 흔들린다</a:t>
            </a:r>
          </a:p>
        </p:txBody>
      </p:sp>
      <p:sp>
        <p:nvSpPr>
          <p:cNvPr id="5" name="01-15-bullet-1">
            <a:extLst>
              <a:ext uri="{FF2B5EF4-FFF2-40B4-BE49-F238E27FC236}">
                <a16:creationId xmlns:a16="http://schemas.microsoft.com/office/drawing/2014/main" id="{B34D1CD5-3869-4998-B3C2-1D62A53AF86F}"/>
              </a:ext>
            </a:extLst>
          </p:cNvPr>
          <p:cNvSpPr>
            <a:spLocks noGrp="1"/>
          </p:cNvSpPr>
          <p:nvPr/>
        </p:nvSpPr>
        <p:spPr>
          <a:xfrm>
            <a:off x="876300" y="19240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1-15-body-1">
            <a:extLst>
              <a:ext uri="{FF2B5EF4-FFF2-40B4-BE49-F238E27FC236}">
                <a16:creationId xmlns:a16="http://schemas.microsoft.com/office/drawing/2014/main" id="{C3FA06E8-F188-42F6-A44D-66545E470D25}"/>
              </a:ext>
            </a:extLst>
          </p:cNvPr>
          <p:cNvSpPr>
            <a:spLocks noGrp="1"/>
          </p:cNvSpPr>
          <p:nvPr/>
        </p:nvSpPr>
        <p:spPr>
          <a:xfrm>
            <a:off x="1143000" y="18097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할루시네이션 — 없는 API를 만든다</a:t>
            </a:r>
          </a:p>
        </p:txBody>
      </p:sp>
      <p:sp>
        <p:nvSpPr>
          <p:cNvPr id="7" name="01-15-bullet-2">
            <a:extLst>
              <a:ext uri="{FF2B5EF4-FFF2-40B4-BE49-F238E27FC236}">
                <a16:creationId xmlns:a16="http://schemas.microsoft.com/office/drawing/2014/main" id="{E73FFB9B-1768-482A-AD51-3569049DE556}"/>
              </a:ext>
            </a:extLst>
          </p:cNvPr>
          <p:cNvSpPr>
            <a:spLocks noGrp="1"/>
          </p:cNvSpPr>
          <p:nvPr/>
        </p:nvSpPr>
        <p:spPr>
          <a:xfrm>
            <a:off x="876300" y="24765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1-15-body-2">
            <a:extLst>
              <a:ext uri="{FF2B5EF4-FFF2-40B4-BE49-F238E27FC236}">
                <a16:creationId xmlns:a16="http://schemas.microsoft.com/office/drawing/2014/main" id="{7B34982F-0558-4327-A3B6-C8458AFF258F}"/>
              </a:ext>
            </a:extLst>
          </p:cNvPr>
          <p:cNvSpPr>
            <a:spLocks noGrp="1"/>
          </p:cNvSpPr>
          <p:nvPr/>
        </p:nvSpPr>
        <p:spPr>
          <a:xfrm>
            <a:off x="1143000" y="236220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과잉 구현 — 요청하지 않은 것까지 만든다</a:t>
            </a:r>
          </a:p>
        </p:txBody>
      </p:sp>
      <p:sp>
        <p:nvSpPr>
          <p:cNvPr id="9" name="01-15-bullet-3">
            <a:extLst>
              <a:ext uri="{FF2B5EF4-FFF2-40B4-BE49-F238E27FC236}">
                <a16:creationId xmlns:a16="http://schemas.microsoft.com/office/drawing/2014/main" id="{C2DB6759-74FA-4C66-9912-F4F3FB5A95F2}"/>
              </a:ext>
            </a:extLst>
          </p:cNvPr>
          <p:cNvSpPr>
            <a:spLocks noGrp="1"/>
          </p:cNvSpPr>
          <p:nvPr/>
        </p:nvSpPr>
        <p:spPr>
          <a:xfrm>
            <a:off x="876300" y="30289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1-15-body-3">
            <a:extLst>
              <a:ext uri="{FF2B5EF4-FFF2-40B4-BE49-F238E27FC236}">
                <a16:creationId xmlns:a16="http://schemas.microsoft.com/office/drawing/2014/main" id="{269DD215-40B5-4469-A796-F7C85D72B339}"/>
              </a:ext>
            </a:extLst>
          </p:cNvPr>
          <p:cNvSpPr>
            <a:spLocks noGrp="1"/>
          </p:cNvSpPr>
          <p:nvPr/>
        </p:nvSpPr>
        <p:spPr>
          <a:xfrm>
            <a:off x="1143000" y="29146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누락 — 필요한 조건을 빼먹는다</a:t>
            </a:r>
          </a:p>
        </p:txBody>
      </p:sp>
      <p:sp>
        <p:nvSpPr>
          <p:cNvPr id="11" name="01-15-bullet-4">
            <a:extLst>
              <a:ext uri="{FF2B5EF4-FFF2-40B4-BE49-F238E27FC236}">
                <a16:creationId xmlns:a16="http://schemas.microsoft.com/office/drawing/2014/main" id="{91CF32ED-7A4D-40FF-B615-263D67FF772A}"/>
              </a:ext>
            </a:extLst>
          </p:cNvPr>
          <p:cNvSpPr>
            <a:spLocks noGrp="1"/>
          </p:cNvSpPr>
          <p:nvPr/>
        </p:nvSpPr>
        <p:spPr>
          <a:xfrm>
            <a:off x="876300" y="35814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1-15-body-4">
            <a:extLst>
              <a:ext uri="{FF2B5EF4-FFF2-40B4-BE49-F238E27FC236}">
                <a16:creationId xmlns:a16="http://schemas.microsoft.com/office/drawing/2014/main" id="{A21E3CED-5000-465B-A71D-90504B7A42E2}"/>
              </a:ext>
            </a:extLst>
          </p:cNvPr>
          <p:cNvSpPr>
            <a:spLocks noGrp="1"/>
          </p:cNvSpPr>
          <p:nvPr/>
        </p:nvSpPr>
        <p:spPr>
          <a:xfrm>
            <a:off x="1143000" y="346710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왜곡 — 요구사항의 뜻을 바꾼다</a:t>
            </a:r>
          </a:p>
        </p:txBody>
      </p:sp>
      <p:sp>
        <p:nvSpPr>
          <p:cNvPr id="13" name="01-15-optional">
            <a:extLst>
              <a:ext uri="{FF2B5EF4-FFF2-40B4-BE49-F238E27FC236}">
                <a16:creationId xmlns:a16="http://schemas.microsoft.com/office/drawing/2014/main" id="{CA3AFA35-44EE-48A0-986A-10ADE2D0327F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957012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01-16-footer-section">
            <a:extLst>
              <a:ext uri="{FF2B5EF4-FFF2-40B4-BE49-F238E27FC236}">
                <a16:creationId xmlns:a16="http://schemas.microsoft.com/office/drawing/2014/main" id="{CAE7A9ED-1A22-4086-9CBE-7632FEF65B68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 dirty="0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AI LITERACY</a:t>
            </a:r>
          </a:p>
        </p:txBody>
      </p:sp>
      <p:sp>
        <p:nvSpPr>
          <p:cNvPr id="2" name="01-16-footer-page">
            <a:extLst>
              <a:ext uri="{FF2B5EF4-FFF2-40B4-BE49-F238E27FC236}">
                <a16:creationId xmlns:a16="http://schemas.microsoft.com/office/drawing/2014/main" id="{9E577E44-429F-41B6-BCB5-E847E2BE081F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16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1-16-accent-rule">
            <a:extLst>
              <a:ext uri="{FF2B5EF4-FFF2-40B4-BE49-F238E27FC236}">
                <a16:creationId xmlns:a16="http://schemas.microsoft.com/office/drawing/2014/main" id="{ED1CB675-B01A-47B4-90FA-8267DE7A1B3C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1-16-title">
            <a:extLst>
              <a:ext uri="{FF2B5EF4-FFF2-40B4-BE49-F238E27FC236}">
                <a16:creationId xmlns:a16="http://schemas.microsoft.com/office/drawing/2014/main" id="{2604C937-6D27-4F16-BFB9-C8C246B96FC0}"/>
              </a:ext>
            </a:extLst>
          </p:cNvPr>
          <p:cNvSpPr>
            <a:spLocks noGrp="1"/>
          </p:cNvSpPr>
          <p:nvPr/>
        </p:nvSpPr>
        <p:spPr>
          <a:xfrm>
            <a:off x="723900" y="704850"/>
            <a:ext cx="1028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AI를 더 좋은 컴파일러로 취급하면 실패한다</a:t>
            </a:r>
          </a:p>
        </p:txBody>
      </p:sp>
      <p:sp>
        <p:nvSpPr>
          <p:cNvPr id="5" name="01-16-bullet-1">
            <a:extLst>
              <a:ext uri="{FF2B5EF4-FFF2-40B4-BE49-F238E27FC236}">
                <a16:creationId xmlns:a16="http://schemas.microsoft.com/office/drawing/2014/main" id="{7D189572-409E-479E-AD86-E26703C038B5}"/>
              </a:ext>
            </a:extLst>
          </p:cNvPr>
          <p:cNvSpPr>
            <a:spLocks noGrp="1"/>
          </p:cNvSpPr>
          <p:nvPr/>
        </p:nvSpPr>
        <p:spPr>
          <a:xfrm>
            <a:off x="876300" y="206692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1-16-body-1">
            <a:extLst>
              <a:ext uri="{FF2B5EF4-FFF2-40B4-BE49-F238E27FC236}">
                <a16:creationId xmlns:a16="http://schemas.microsoft.com/office/drawing/2014/main" id="{95BC8DFE-EDAD-4E6C-8B41-4022D787BEE2}"/>
              </a:ext>
            </a:extLst>
          </p:cNvPr>
          <p:cNvSpPr>
            <a:spLocks noGrp="1"/>
          </p:cNvSpPr>
          <p:nvPr/>
        </p:nvSpPr>
        <p:spPr>
          <a:xfrm>
            <a:off x="1143000" y="195262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결과가 흔들리는 도구는 믿음으로 다루지 않는다</a:t>
            </a:r>
          </a:p>
        </p:txBody>
      </p:sp>
      <p:sp>
        <p:nvSpPr>
          <p:cNvPr id="7" name="01-16-bullet-2">
            <a:extLst>
              <a:ext uri="{FF2B5EF4-FFF2-40B4-BE49-F238E27FC236}">
                <a16:creationId xmlns:a16="http://schemas.microsoft.com/office/drawing/2014/main" id="{B9317FD8-F278-4DED-9CF5-5E60FF34FAA0}"/>
              </a:ext>
            </a:extLst>
          </p:cNvPr>
          <p:cNvSpPr>
            <a:spLocks noGrp="1"/>
          </p:cNvSpPr>
          <p:nvPr/>
        </p:nvSpPr>
        <p:spPr>
          <a:xfrm>
            <a:off x="876300" y="284797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1-16-body-2">
            <a:extLst>
              <a:ext uri="{FF2B5EF4-FFF2-40B4-BE49-F238E27FC236}">
                <a16:creationId xmlns:a16="http://schemas.microsoft.com/office/drawing/2014/main" id="{6A2C1DC8-CAC2-4AEA-A085-67257C0129C5}"/>
              </a:ext>
            </a:extLst>
          </p:cNvPr>
          <p:cNvSpPr>
            <a:spLocks noGrp="1"/>
          </p:cNvSpPr>
          <p:nvPr/>
        </p:nvSpPr>
        <p:spPr>
          <a:xfrm>
            <a:off x="1143000" y="273367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행동하게 하고, 관찰하고, 검증한다</a:t>
            </a:r>
          </a:p>
        </p:txBody>
      </p:sp>
      <p:sp>
        <p:nvSpPr>
          <p:cNvPr id="9" name="01-16-code">
            <a:extLst>
              <a:ext uri="{FF2B5EF4-FFF2-40B4-BE49-F238E27FC236}">
                <a16:creationId xmlns:a16="http://schemas.microsoft.com/office/drawing/2014/main" id="{641735DE-834E-450C-9620-1B4E4A432B1D}"/>
              </a:ext>
            </a:extLst>
          </p:cNvPr>
          <p:cNvSpPr>
            <a:spLocks noGrp="1"/>
          </p:cNvSpPr>
          <p:nvPr/>
        </p:nvSpPr>
        <p:spPr>
          <a:xfrm>
            <a:off x="723900" y="5048250"/>
            <a:ext cx="7239000" cy="514350"/>
          </a:xfrm>
          <a:prstGeom prst="rect">
            <a:avLst/>
          </a:prstGeom>
          <a:solidFill>
            <a:srgbClr val="16233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133350" tIns="133350" rIns="133350" bIns="133350" anchor="ctr"/>
          <a:lstStyle/>
          <a:p>
            <a:pPr algn="l">
              <a:defRPr sz="1500" b="0">
                <a:solidFill>
                  <a:srgbClr val="DCEBFA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DCEBFA"/>
                </a:solidFill>
                <a:latin typeface="Consolas"/>
                <a:ea typeface="Consolas"/>
                <a:cs typeface="Consolas"/>
              </a:rPr>
              <a:t>generate → observe → verify</a:t>
            </a:r>
          </a:p>
        </p:txBody>
      </p:sp>
    </p:spTree>
    <p:extLst>
      <p:ext uri="{BB962C8B-B14F-4D97-AF65-F5344CB8AC3E}">
        <p14:creationId xmlns:p14="http://schemas.microsoft.com/office/powerpoint/2010/main" val="16768380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01-17-footer-section">
            <a:extLst>
              <a:ext uri="{FF2B5EF4-FFF2-40B4-BE49-F238E27FC236}">
                <a16:creationId xmlns:a16="http://schemas.microsoft.com/office/drawing/2014/main" id="{F036CC4D-CEFE-4626-9163-71B59E16303E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AGENT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1-17-footer-page">
            <a:extLst>
              <a:ext uri="{FF2B5EF4-FFF2-40B4-BE49-F238E27FC236}">
                <a16:creationId xmlns:a16="http://schemas.microsoft.com/office/drawing/2014/main" id="{C4372FA1-F5E8-4B92-9B86-BC6FB7444A47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17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1-17-accent-rule">
            <a:extLst>
              <a:ext uri="{FF2B5EF4-FFF2-40B4-BE49-F238E27FC236}">
                <a16:creationId xmlns:a16="http://schemas.microsoft.com/office/drawing/2014/main" id="{E41ADE8A-C65B-4590-AF0F-CA3C586C28C4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1-17-title">
            <a:extLst>
              <a:ext uri="{FF2B5EF4-FFF2-40B4-BE49-F238E27FC236}">
                <a16:creationId xmlns:a16="http://schemas.microsoft.com/office/drawing/2014/main" id="{D24A4172-3154-4A4E-B07A-EF012A289D1F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관찰과 검증을 루프로 돌리면 Agent가 된다</a:t>
            </a:r>
          </a:p>
        </p:txBody>
      </p:sp>
      <p:sp>
        <p:nvSpPr>
          <p:cNvPr id="5" name="01-17-arrow-1">
            <a:extLst>
              <a:ext uri="{FF2B5EF4-FFF2-40B4-BE49-F238E27FC236}">
                <a16:creationId xmlns:a16="http://schemas.microsoft.com/office/drawing/2014/main" id="{369D70C4-9C7B-4772-90CB-6A22C2AD240E}"/>
              </a:ext>
            </a:extLst>
          </p:cNvPr>
          <p:cNvSpPr>
            <a:spLocks noGrp="1"/>
          </p:cNvSpPr>
          <p:nvPr/>
        </p:nvSpPr>
        <p:spPr>
          <a:xfrm>
            <a:off x="285750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1-17-arrow-2">
            <a:extLst>
              <a:ext uri="{FF2B5EF4-FFF2-40B4-BE49-F238E27FC236}">
                <a16:creationId xmlns:a16="http://schemas.microsoft.com/office/drawing/2014/main" id="{67FF0A26-CAB8-42B9-98BE-68123241A712}"/>
              </a:ext>
            </a:extLst>
          </p:cNvPr>
          <p:cNvSpPr>
            <a:spLocks noGrp="1"/>
          </p:cNvSpPr>
          <p:nvPr/>
        </p:nvSpPr>
        <p:spPr>
          <a:xfrm>
            <a:off x="485775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1-17-arrow-3">
            <a:extLst>
              <a:ext uri="{FF2B5EF4-FFF2-40B4-BE49-F238E27FC236}">
                <a16:creationId xmlns:a16="http://schemas.microsoft.com/office/drawing/2014/main" id="{B0BC67A8-5DAA-4E5D-9660-EAF8B5CCD7D8}"/>
              </a:ext>
            </a:extLst>
          </p:cNvPr>
          <p:cNvSpPr>
            <a:spLocks noGrp="1"/>
          </p:cNvSpPr>
          <p:nvPr/>
        </p:nvSpPr>
        <p:spPr>
          <a:xfrm>
            <a:off x="685800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1-17-arrow-4">
            <a:extLst>
              <a:ext uri="{FF2B5EF4-FFF2-40B4-BE49-F238E27FC236}">
                <a16:creationId xmlns:a16="http://schemas.microsoft.com/office/drawing/2014/main" id="{38178183-A496-4B8B-BBFC-9CADC211D932}"/>
              </a:ext>
            </a:extLst>
          </p:cNvPr>
          <p:cNvSpPr>
            <a:spLocks noGrp="1"/>
          </p:cNvSpPr>
          <p:nvPr/>
        </p:nvSpPr>
        <p:spPr>
          <a:xfrm>
            <a:off x="885825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01-17-node-1">
            <a:extLst>
              <a:ext uri="{FF2B5EF4-FFF2-40B4-BE49-F238E27FC236}">
                <a16:creationId xmlns:a16="http://schemas.microsoft.com/office/drawing/2014/main" id="{A602870D-8DD4-4D73-9FD8-9339BDC2452B}"/>
              </a:ext>
            </a:extLst>
          </p:cNvPr>
          <p:cNvSpPr>
            <a:spLocks noGrp="1"/>
          </p:cNvSpPr>
          <p:nvPr/>
        </p:nvSpPr>
        <p:spPr>
          <a:xfrm>
            <a:off x="104775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2878C7"/>
          </a:solidFill>
          <a:ln w="19050">
            <a:solidFill>
              <a:srgbClr val="2878C7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테스트 실행</a:t>
            </a:r>
          </a:p>
        </p:txBody>
      </p:sp>
      <p:sp>
        <p:nvSpPr>
          <p:cNvPr id="10" name="01-17-node-2">
            <a:extLst>
              <a:ext uri="{FF2B5EF4-FFF2-40B4-BE49-F238E27FC236}">
                <a16:creationId xmlns:a16="http://schemas.microsoft.com/office/drawing/2014/main" id="{9CC88B1A-DB7C-4BDD-AA03-447F52503FA3}"/>
              </a:ext>
            </a:extLst>
          </p:cNvPr>
          <p:cNvSpPr>
            <a:spLocks noGrp="1"/>
          </p:cNvSpPr>
          <p:nvPr/>
        </p:nvSpPr>
        <p:spPr>
          <a:xfrm>
            <a:off x="304800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실패 관찰</a:t>
            </a:r>
          </a:p>
        </p:txBody>
      </p:sp>
      <p:sp>
        <p:nvSpPr>
          <p:cNvPr id="11" name="01-17-node-3">
            <a:extLst>
              <a:ext uri="{FF2B5EF4-FFF2-40B4-BE49-F238E27FC236}">
                <a16:creationId xmlns:a16="http://schemas.microsoft.com/office/drawing/2014/main" id="{1FC43970-002E-49AC-B8E3-B238A11C63FA}"/>
              </a:ext>
            </a:extLst>
          </p:cNvPr>
          <p:cNvSpPr>
            <a:spLocks noGrp="1"/>
          </p:cNvSpPr>
          <p:nvPr/>
        </p:nvSpPr>
        <p:spPr>
          <a:xfrm>
            <a:off x="504825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파일 검색</a:t>
            </a:r>
          </a:p>
        </p:txBody>
      </p:sp>
      <p:sp>
        <p:nvSpPr>
          <p:cNvPr id="12" name="01-17-node-4">
            <a:extLst>
              <a:ext uri="{FF2B5EF4-FFF2-40B4-BE49-F238E27FC236}">
                <a16:creationId xmlns:a16="http://schemas.microsoft.com/office/drawing/2014/main" id="{B0F9508B-4E16-4BA9-B09D-62FF5F170DBF}"/>
              </a:ext>
            </a:extLst>
          </p:cNvPr>
          <p:cNvSpPr>
            <a:spLocks noGrp="1"/>
          </p:cNvSpPr>
          <p:nvPr/>
        </p:nvSpPr>
        <p:spPr>
          <a:xfrm>
            <a:off x="704850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수정</a:t>
            </a:r>
          </a:p>
        </p:txBody>
      </p:sp>
      <p:sp>
        <p:nvSpPr>
          <p:cNvPr id="13" name="01-17-node-5">
            <a:extLst>
              <a:ext uri="{FF2B5EF4-FFF2-40B4-BE49-F238E27FC236}">
                <a16:creationId xmlns:a16="http://schemas.microsoft.com/office/drawing/2014/main" id="{B0CF2538-8227-4480-BA65-B787A85E6D00}"/>
              </a:ext>
            </a:extLst>
          </p:cNvPr>
          <p:cNvSpPr>
            <a:spLocks noGrp="1"/>
          </p:cNvSpPr>
          <p:nvPr/>
        </p:nvSpPr>
        <p:spPr>
          <a:xfrm>
            <a:off x="904875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재실행</a:t>
            </a:r>
          </a:p>
        </p:txBody>
      </p:sp>
      <p:sp>
        <p:nvSpPr>
          <p:cNvPr id="14" name="01-17-caption">
            <a:extLst>
              <a:ext uri="{FF2B5EF4-FFF2-40B4-BE49-F238E27FC236}">
                <a16:creationId xmlns:a16="http://schemas.microsoft.com/office/drawing/2014/main" id="{D4ED7FD3-7FA5-4EF3-85C7-74E7DBAB6C45}"/>
              </a:ext>
            </a:extLst>
          </p:cNvPr>
          <p:cNvSpPr>
            <a:spLocks noGrp="1"/>
          </p:cNvSpPr>
          <p:nvPr/>
        </p:nvSpPr>
        <p:spPr>
          <a:xfrm>
            <a:off x="1143000" y="4724400"/>
            <a:ext cx="9906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spcAft>
                <a:spcPts val="900"/>
              </a:spcAft>
              <a:defRPr sz="1700" b="0">
                <a:solidFill>
                  <a:srgbClr val="4F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00" b="0">
                <a:solidFill>
                  <a:srgbClr val="4F5A68"/>
                </a:solidFill>
                <a:latin typeface="Malgun Gothic"/>
                <a:ea typeface="Malgun Gothic"/>
                <a:cs typeface="Malgun Gothic"/>
              </a:rPr>
              <a:t>LLM은 텍스트를 생성한다</a:t>
            </a:r>
          </a:p>
          <a:p>
            <a:pPr algn="ctr">
              <a:defRPr sz="1900" b="1">
                <a:solidFill>
                  <a:srgbClr val="156082"/>
                </a:solidFill>
                <a:latin typeface="Malgun Gothic"/>
                <a:ea typeface="Malgun Gothic"/>
                <a:cs typeface="Malgun Gothic"/>
              </a:defRPr>
            </a:pPr>
            <a:r>
              <a:rPr sz="1900" b="1">
                <a:solidFill>
                  <a:srgbClr val="156082"/>
                </a:solidFill>
                <a:latin typeface="Malgun Gothic"/>
                <a:ea typeface="Malgun Gothic"/>
                <a:cs typeface="Malgun Gothic"/>
              </a:rPr>
              <a:t>Agent는 다음 행동을 결정하며 루프를 돈다</a:t>
            </a:r>
          </a:p>
        </p:txBody>
      </p:sp>
      <p:sp>
        <p:nvSpPr>
          <p:cNvPr id="19" name="01-17-loop-v-right">
            <a:extLst>
              <a:ext uri="{FF2B5EF4-FFF2-40B4-BE49-F238E27FC236}">
                <a16:creationId xmlns:a16="http://schemas.microsoft.com/office/drawing/2014/main" id="{BA24501A-A9AA-4F08-A7D9-0C3757DB1494}"/>
              </a:ext>
            </a:extLst>
          </p:cNvPr>
          <p:cNvSpPr/>
          <p:nvPr/>
        </p:nvSpPr>
        <p:spPr>
          <a:xfrm>
            <a:off x="9956800" y="3263900"/>
            <a:ext cx="25400" cy="558800"/>
          </a:xfrm>
          <a:prstGeom prst="rect">
            <a:avLst/>
          </a:prstGeom>
          <a:solidFill>
            <a:srgbClr val="9AA6B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01-17-loop-h">
            <a:extLst>
              <a:ext uri="{FF2B5EF4-FFF2-40B4-BE49-F238E27FC236}">
                <a16:creationId xmlns:a16="http://schemas.microsoft.com/office/drawing/2014/main" id="{02AF3D7E-6E13-4BB5-B14B-4CD5CB294B72}"/>
              </a:ext>
            </a:extLst>
          </p:cNvPr>
          <p:cNvSpPr/>
          <p:nvPr/>
        </p:nvSpPr>
        <p:spPr>
          <a:xfrm>
            <a:off x="1955800" y="3797300"/>
            <a:ext cx="8026400" cy="25400"/>
          </a:xfrm>
          <a:prstGeom prst="rect">
            <a:avLst/>
          </a:prstGeom>
          <a:solidFill>
            <a:srgbClr val="9AA6B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01-17-loop-v-left">
            <a:extLst>
              <a:ext uri="{FF2B5EF4-FFF2-40B4-BE49-F238E27FC236}">
                <a16:creationId xmlns:a16="http://schemas.microsoft.com/office/drawing/2014/main" id="{A71DFB8D-323A-4287-87B5-EB486D740C0D}"/>
              </a:ext>
            </a:extLst>
          </p:cNvPr>
          <p:cNvSpPr/>
          <p:nvPr/>
        </p:nvSpPr>
        <p:spPr>
          <a:xfrm>
            <a:off x="1955800" y="3263900"/>
            <a:ext cx="25400" cy="558800"/>
          </a:xfrm>
          <a:prstGeom prst="rect">
            <a:avLst/>
          </a:prstGeom>
          <a:solidFill>
            <a:srgbClr val="9AA6B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01-17-loop-arrow">
            <a:extLst>
              <a:ext uri="{FF2B5EF4-FFF2-40B4-BE49-F238E27FC236}">
                <a16:creationId xmlns:a16="http://schemas.microsoft.com/office/drawing/2014/main" id="{51E4F278-F958-4362-A1C2-F32B081F8790}"/>
              </a:ext>
            </a:extLst>
          </p:cNvPr>
          <p:cNvSpPr/>
          <p:nvPr/>
        </p:nvSpPr>
        <p:spPr>
          <a:xfrm>
            <a:off x="1955800" y="3721100"/>
            <a:ext cx="190500" cy="177800"/>
          </a:xfrm>
          <a:prstGeom prst="leftArrow">
            <a:avLst/>
          </a:prstGeom>
          <a:solidFill>
            <a:srgbClr val="9AA6B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01-17-example-label">
            <a:extLst>
              <a:ext uri="{FF2B5EF4-FFF2-40B4-BE49-F238E27FC236}">
                <a16:creationId xmlns:a16="http://schemas.microsoft.com/office/drawing/2014/main" id="{0B79CA48-32A6-434C-AA20-B44F0F151C3A}"/>
              </a:ext>
            </a:extLst>
          </p:cNvPr>
          <p:cNvSpPr txBox="1"/>
          <p:nvPr/>
        </p:nvSpPr>
        <p:spPr>
          <a:xfrm>
            <a:off x="1054100" y="1905000"/>
            <a:ext cx="63500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ko-KR" altLang="en-US" sz="1400" b="1">
                <a:solidFill>
                  <a:srgbClr val="4F5A68"/>
                </a:solidFill>
                <a:latin typeface="Malgun Gothic"/>
                <a:ea typeface="Malgun Gothic"/>
              </a:rPr>
              <a:t>예 </a:t>
            </a:r>
            <a:r>
              <a:rPr lang="en-US" altLang="ko-KR" sz="1400" b="1">
                <a:solidFill>
                  <a:srgbClr val="4F5A68"/>
                </a:solidFill>
                <a:latin typeface="Malgun Gothic"/>
                <a:ea typeface="Malgun Gothic"/>
              </a:rPr>
              <a:t>— </a:t>
            </a:r>
            <a:r>
              <a:rPr lang="ko-KR" altLang="en-US" sz="1400" b="1">
                <a:solidFill>
                  <a:srgbClr val="4F5A68"/>
                </a:solidFill>
                <a:latin typeface="Malgun Gothic"/>
                <a:ea typeface="Malgun Gothic"/>
              </a:rPr>
              <a:t>테스트 실패를 고치는 루프</a:t>
            </a:r>
            <a:endParaRPr lang="en-US" sz="1400" b="1">
              <a:solidFill>
                <a:srgbClr val="4F5A68"/>
              </a:solidFill>
              <a:latin typeface="Malgun Gothic"/>
              <a:ea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16561185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01-18-footer-section">
            <a:extLst>
              <a:ext uri="{FF2B5EF4-FFF2-40B4-BE49-F238E27FC236}">
                <a16:creationId xmlns:a16="http://schemas.microsoft.com/office/drawing/2014/main" id="{223DFA79-85EB-45B2-948B-59B897CEB4B0}"/>
              </a:ext>
            </a:extLst>
          </p:cNvPr>
          <p:cNvSpPr>
            <a:spLocks noGrp="1"/>
          </p:cNvSpPr>
          <p:nvPr/>
        </p:nvSpPr>
        <p:spPr>
          <a:xfrm>
            <a:off x="19494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1400" b="1">
                <a:solidFill>
                  <a:srgbClr val="156082"/>
                </a:solidFill>
                <a:latin typeface="Consolas"/>
                <a:ea typeface="Consolas"/>
                <a:cs typeface="Consolas"/>
              </a:defRPr>
            </a:pPr>
            <a:r>
              <a:rPr 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AGENT</a:t>
            </a:r>
            <a:endParaRPr sz="1400" b="1" dirty="0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1-18-footer-page">
            <a:extLst>
              <a:ext uri="{FF2B5EF4-FFF2-40B4-BE49-F238E27FC236}">
                <a16:creationId xmlns:a16="http://schemas.microsoft.com/office/drawing/2014/main" id="{F25F0E41-B058-428C-BA7A-F9D07584C834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18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1-18-accent-rule">
            <a:extLst>
              <a:ext uri="{FF2B5EF4-FFF2-40B4-BE49-F238E27FC236}">
                <a16:creationId xmlns:a16="http://schemas.microsoft.com/office/drawing/2014/main" id="{FBC18A6C-1F07-453D-B86B-4F047CCCE497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10477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1-18-title">
            <a:extLst>
              <a:ext uri="{FF2B5EF4-FFF2-40B4-BE49-F238E27FC236}">
                <a16:creationId xmlns:a16="http://schemas.microsoft.com/office/drawing/2014/main" id="{CE85F827-DA15-4E04-9192-1585B55883D1}"/>
              </a:ext>
            </a:extLst>
          </p:cNvPr>
          <p:cNvSpPr>
            <a:spLocks noGrp="1"/>
          </p:cNvSpPr>
          <p:nvPr/>
        </p:nvSpPr>
        <p:spPr>
          <a:xfrm>
            <a:off x="723900" y="60960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9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판단 지점을 사람이 설계한다</a:t>
            </a:r>
          </a:p>
        </p:txBody>
      </p:sp>
      <p:sp>
        <p:nvSpPr>
          <p:cNvPr id="5" name="01-18-number-1">
            <a:extLst>
              <a:ext uri="{FF2B5EF4-FFF2-40B4-BE49-F238E27FC236}">
                <a16:creationId xmlns:a16="http://schemas.microsoft.com/office/drawing/2014/main" id="{23F2423E-2B96-4463-B488-B0E04EF749C6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6" name="01-18-rule-1">
            <a:extLst>
              <a:ext uri="{FF2B5EF4-FFF2-40B4-BE49-F238E27FC236}">
                <a16:creationId xmlns:a16="http://schemas.microsoft.com/office/drawing/2014/main" id="{FB87A52C-F06F-4AF3-90D8-36F7ECA2134D}"/>
              </a:ext>
            </a:extLst>
          </p:cNvPr>
          <p:cNvSpPr>
            <a:spLocks noGrp="1"/>
          </p:cNvSpPr>
          <p:nvPr/>
        </p:nvSpPr>
        <p:spPr>
          <a:xfrm>
            <a:off x="1428750" y="200025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1-18-summary-1">
            <a:extLst>
              <a:ext uri="{FF2B5EF4-FFF2-40B4-BE49-F238E27FC236}">
                <a16:creationId xmlns:a16="http://schemas.microsoft.com/office/drawing/2014/main" id="{DE30A087-BD06-43FE-903A-79A189FB351A}"/>
              </a:ext>
            </a:extLst>
          </p:cNvPr>
          <p:cNvSpPr>
            <a:spLocks noGrp="1"/>
          </p:cNvSpPr>
          <p:nvPr/>
        </p:nvSpPr>
        <p:spPr>
          <a:xfrm>
            <a:off x="2209800" y="175260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Agent는 판단을 흉내 낸다</a:t>
            </a:r>
          </a:p>
        </p:txBody>
      </p:sp>
      <p:sp>
        <p:nvSpPr>
          <p:cNvPr id="8" name="01-18-number-2">
            <a:extLst>
              <a:ext uri="{FF2B5EF4-FFF2-40B4-BE49-F238E27FC236}">
                <a16:creationId xmlns:a16="http://schemas.microsoft.com/office/drawing/2014/main" id="{E7466D51-53C3-4965-82C6-B794AAB17A2F}"/>
              </a:ext>
            </a:extLst>
          </p:cNvPr>
          <p:cNvSpPr>
            <a:spLocks noGrp="1"/>
          </p:cNvSpPr>
          <p:nvPr/>
        </p:nvSpPr>
        <p:spPr>
          <a:xfrm>
            <a:off x="876300" y="281940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9" name="01-18-rule-2">
            <a:extLst>
              <a:ext uri="{FF2B5EF4-FFF2-40B4-BE49-F238E27FC236}">
                <a16:creationId xmlns:a16="http://schemas.microsoft.com/office/drawing/2014/main" id="{05E7B85D-8ABC-41B5-BCA9-C7BF3FDC90C6}"/>
              </a:ext>
            </a:extLst>
          </p:cNvPr>
          <p:cNvSpPr>
            <a:spLocks noGrp="1"/>
          </p:cNvSpPr>
          <p:nvPr/>
        </p:nvSpPr>
        <p:spPr>
          <a:xfrm>
            <a:off x="1428750" y="306705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1-18-summary-2">
            <a:extLst>
              <a:ext uri="{FF2B5EF4-FFF2-40B4-BE49-F238E27FC236}">
                <a16:creationId xmlns:a16="http://schemas.microsoft.com/office/drawing/2014/main" id="{D47AB3BB-DA8B-4937-8A28-E5846996F2F0}"/>
              </a:ext>
            </a:extLst>
          </p:cNvPr>
          <p:cNvSpPr>
            <a:spLocks noGrp="1"/>
          </p:cNvSpPr>
          <p:nvPr/>
        </p:nvSpPr>
        <p:spPr>
          <a:xfrm>
            <a:off x="2209800" y="281940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사람은 위임 경계와 실패 비용을 저울질한다</a:t>
            </a:r>
          </a:p>
        </p:txBody>
      </p:sp>
      <p:sp>
        <p:nvSpPr>
          <p:cNvPr id="11" name="01-18-number-3">
            <a:extLst>
              <a:ext uri="{FF2B5EF4-FFF2-40B4-BE49-F238E27FC236}">
                <a16:creationId xmlns:a16="http://schemas.microsoft.com/office/drawing/2014/main" id="{E670CD8A-ADE7-4088-9944-BFE8F35BBE17}"/>
              </a:ext>
            </a:extLst>
          </p:cNvPr>
          <p:cNvSpPr>
            <a:spLocks noGrp="1"/>
          </p:cNvSpPr>
          <p:nvPr/>
        </p:nvSpPr>
        <p:spPr>
          <a:xfrm>
            <a:off x="876300" y="388620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2" name="01-18-rule-3">
            <a:extLst>
              <a:ext uri="{FF2B5EF4-FFF2-40B4-BE49-F238E27FC236}">
                <a16:creationId xmlns:a16="http://schemas.microsoft.com/office/drawing/2014/main" id="{CAA3F5E5-4C6D-4F31-9190-1C38009A9237}"/>
              </a:ext>
            </a:extLst>
          </p:cNvPr>
          <p:cNvSpPr>
            <a:spLocks noGrp="1"/>
          </p:cNvSpPr>
          <p:nvPr/>
        </p:nvSpPr>
        <p:spPr>
          <a:xfrm>
            <a:off x="1428750" y="413385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01-18-summary-3">
            <a:extLst>
              <a:ext uri="{FF2B5EF4-FFF2-40B4-BE49-F238E27FC236}">
                <a16:creationId xmlns:a16="http://schemas.microsoft.com/office/drawing/2014/main" id="{369897F9-1AD2-4138-9447-B8D693B880D4}"/>
              </a:ext>
            </a:extLst>
          </p:cNvPr>
          <p:cNvSpPr>
            <a:spLocks noGrp="1"/>
          </p:cNvSpPr>
          <p:nvPr/>
        </p:nvSpPr>
        <p:spPr>
          <a:xfrm>
            <a:off x="2209800" y="388620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검증 가능한 만큼만 맡긴다</a:t>
            </a:r>
          </a:p>
        </p:txBody>
      </p:sp>
    </p:spTree>
    <p:extLst>
      <p:ext uri="{BB962C8B-B14F-4D97-AF65-F5344CB8AC3E}">
        <p14:creationId xmlns:p14="http://schemas.microsoft.com/office/powerpoint/2010/main" val="38883117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02-01-footer-section">
            <a:extLst>
              <a:ext uri="{FF2B5EF4-FFF2-40B4-BE49-F238E27FC236}">
                <a16:creationId xmlns:a16="http://schemas.microsoft.com/office/drawing/2014/main" id="{3DFB3EC8-29A6-4164-97B0-3E0E1F5BC243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HARNESS ENGINEERING</a:t>
            </a:r>
            <a:endParaRPr sz="900" b="1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2-01-footer-page">
            <a:extLst>
              <a:ext uri="{FF2B5EF4-FFF2-40B4-BE49-F238E27FC236}">
                <a16:creationId xmlns:a16="http://schemas.microsoft.com/office/drawing/2014/main" id="{4D7FAEF9-155D-404D-9C1F-DB76CEDFEEA2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19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2-01-accent-rule">
            <a:extLst>
              <a:ext uri="{FF2B5EF4-FFF2-40B4-BE49-F238E27FC236}">
                <a16:creationId xmlns:a16="http://schemas.microsoft.com/office/drawing/2014/main" id="{0DF263C0-D5A2-4AA6-8A0D-DA01F0382B9E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477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2-01-label">
            <a:extLst>
              <a:ext uri="{FF2B5EF4-FFF2-40B4-BE49-F238E27FC236}">
                <a16:creationId xmlns:a16="http://schemas.microsoft.com/office/drawing/2014/main" id="{EEFE0E35-DE0B-4D01-B28C-6A77F404ED86}"/>
              </a:ext>
            </a:extLst>
          </p:cNvPr>
          <p:cNvSpPr>
            <a:spLocks noGrp="1"/>
          </p:cNvSpPr>
          <p:nvPr/>
        </p:nvSpPr>
        <p:spPr>
          <a:xfrm>
            <a:off x="723900" y="1200150"/>
            <a:ext cx="7048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12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lang="en-US" sz="112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HARNESS ENGINEERING</a:t>
            </a:r>
            <a:endParaRPr sz="1125" b="1">
              <a:solidFill>
                <a:srgbClr val="2878C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5" name="02-01-title">
            <a:extLst>
              <a:ext uri="{FF2B5EF4-FFF2-40B4-BE49-F238E27FC236}">
                <a16:creationId xmlns:a16="http://schemas.microsoft.com/office/drawing/2014/main" id="{CB4B2A92-8359-4BC1-9374-63B7A1454AC4}"/>
              </a:ext>
            </a:extLst>
          </p:cNvPr>
          <p:cNvSpPr>
            <a:spLocks noGrp="1"/>
          </p:cNvSpPr>
          <p:nvPr/>
        </p:nvSpPr>
        <p:spPr>
          <a:xfrm>
            <a:off x="723900" y="2000250"/>
            <a:ext cx="10001250" cy="1676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5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5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판단력은 모델이 아니라 환경에서 나온다</a:t>
            </a:r>
          </a:p>
        </p:txBody>
      </p:sp>
      <p:sp>
        <p:nvSpPr>
          <p:cNvPr id="6" name="02-01-subtitle">
            <a:extLst>
              <a:ext uri="{FF2B5EF4-FFF2-40B4-BE49-F238E27FC236}">
                <a16:creationId xmlns:a16="http://schemas.microsoft.com/office/drawing/2014/main" id="{00DC1860-A691-4219-BCEC-D5F1E45899E0}"/>
              </a:ext>
            </a:extLst>
          </p:cNvPr>
          <p:cNvSpPr>
            <a:spLocks noGrp="1"/>
          </p:cNvSpPr>
          <p:nvPr/>
        </p:nvSpPr>
        <p:spPr>
          <a:xfrm>
            <a:off x="742950" y="3905250"/>
            <a:ext cx="885825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환경이란 AI가 건드릴 범위, 지켜야 할 규칙, 통과해야 할 검증이다</a:t>
            </a:r>
          </a:p>
        </p:txBody>
      </p:sp>
    </p:spTree>
    <p:extLst>
      <p:ext uri="{BB962C8B-B14F-4D97-AF65-F5344CB8AC3E}">
        <p14:creationId xmlns:p14="http://schemas.microsoft.com/office/powerpoint/2010/main" val="10180803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02-02-footer-section">
            <a:extLst>
              <a:ext uri="{FF2B5EF4-FFF2-40B4-BE49-F238E27FC236}">
                <a16:creationId xmlns:a16="http://schemas.microsoft.com/office/drawing/2014/main" id="{892BF849-5125-4CB1-8019-13C66D07DDD7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HARNESS ENGINEERING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2-02-footer-page">
            <a:extLst>
              <a:ext uri="{FF2B5EF4-FFF2-40B4-BE49-F238E27FC236}">
                <a16:creationId xmlns:a16="http://schemas.microsoft.com/office/drawing/2014/main" id="{10DC73F4-455C-4B64-B219-9A0BED2FD218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20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2-02-accent-rule">
            <a:extLst>
              <a:ext uri="{FF2B5EF4-FFF2-40B4-BE49-F238E27FC236}">
                <a16:creationId xmlns:a16="http://schemas.microsoft.com/office/drawing/2014/main" id="{1E0E514C-57C0-4E65-A7FC-EE7F9B1BBCA8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2-02-title">
            <a:extLst>
              <a:ext uri="{FF2B5EF4-FFF2-40B4-BE49-F238E27FC236}">
                <a16:creationId xmlns:a16="http://schemas.microsoft.com/office/drawing/2014/main" id="{F11A8682-6C5D-4D01-BC76-6BAB446FA69E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2700" b="1" dirty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Loop와 Graph는 harness 위에 세워진다</a:t>
            </a:r>
          </a:p>
        </p:txBody>
      </p:sp>
      <p:sp>
        <p:nvSpPr>
          <p:cNvPr id="5" name="02-02-arrow-1">
            <a:extLst>
              <a:ext uri="{FF2B5EF4-FFF2-40B4-BE49-F238E27FC236}">
                <a16:creationId xmlns:a16="http://schemas.microsoft.com/office/drawing/2014/main" id="{CBC9AE5D-3DE9-4C92-ABA2-ECB29D14FE61}"/>
              </a:ext>
            </a:extLst>
          </p:cNvPr>
          <p:cNvSpPr>
            <a:spLocks noGrp="1"/>
          </p:cNvSpPr>
          <p:nvPr/>
        </p:nvSpPr>
        <p:spPr>
          <a:xfrm>
            <a:off x="4699000" y="4216400"/>
            <a:ext cx="2032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2-02-arrow-2">
            <a:extLst>
              <a:ext uri="{FF2B5EF4-FFF2-40B4-BE49-F238E27FC236}">
                <a16:creationId xmlns:a16="http://schemas.microsoft.com/office/drawing/2014/main" id="{20E629CF-9A74-4558-BA3A-12ADEEA1F506}"/>
              </a:ext>
            </a:extLst>
          </p:cNvPr>
          <p:cNvSpPr>
            <a:spLocks noGrp="1"/>
          </p:cNvSpPr>
          <p:nvPr/>
        </p:nvSpPr>
        <p:spPr>
          <a:xfrm>
            <a:off x="7289800" y="4216400"/>
            <a:ext cx="2032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2-02-node-1">
            <a:extLst>
              <a:ext uri="{FF2B5EF4-FFF2-40B4-BE49-F238E27FC236}">
                <a16:creationId xmlns:a16="http://schemas.microsoft.com/office/drawing/2014/main" id="{47F20B36-0423-4A18-A6BA-B17E23CCBF7F}"/>
              </a:ext>
            </a:extLst>
          </p:cNvPr>
          <p:cNvSpPr>
            <a:spLocks noGrp="1"/>
          </p:cNvSpPr>
          <p:nvPr/>
        </p:nvSpPr>
        <p:spPr>
          <a:xfrm>
            <a:off x="2362200" y="3759200"/>
            <a:ext cx="2286000" cy="9144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2878C7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500" b="1" dirty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Prompt</a:t>
            </a:r>
          </a:p>
        </p:txBody>
      </p:sp>
      <p:sp>
        <p:nvSpPr>
          <p:cNvPr id="9" name="02-02-node-2">
            <a:extLst>
              <a:ext uri="{FF2B5EF4-FFF2-40B4-BE49-F238E27FC236}">
                <a16:creationId xmlns:a16="http://schemas.microsoft.com/office/drawing/2014/main" id="{0069F3E1-90CB-4002-9363-76F9DED76C9E}"/>
              </a:ext>
            </a:extLst>
          </p:cNvPr>
          <p:cNvSpPr>
            <a:spLocks noGrp="1"/>
          </p:cNvSpPr>
          <p:nvPr/>
        </p:nvSpPr>
        <p:spPr>
          <a:xfrm>
            <a:off x="4953000" y="3759200"/>
            <a:ext cx="2286000" cy="9144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Context</a:t>
            </a:r>
          </a:p>
        </p:txBody>
      </p:sp>
      <p:sp>
        <p:nvSpPr>
          <p:cNvPr id="10" name="02-02-node-3">
            <a:extLst>
              <a:ext uri="{FF2B5EF4-FFF2-40B4-BE49-F238E27FC236}">
                <a16:creationId xmlns:a16="http://schemas.microsoft.com/office/drawing/2014/main" id="{9613CCF3-C166-41E3-8A86-E299E7AC09B7}"/>
              </a:ext>
            </a:extLst>
          </p:cNvPr>
          <p:cNvSpPr>
            <a:spLocks noGrp="1"/>
          </p:cNvSpPr>
          <p:nvPr/>
        </p:nvSpPr>
        <p:spPr>
          <a:xfrm>
            <a:off x="7543800" y="3759200"/>
            <a:ext cx="2286000" cy="914400"/>
          </a:xfrm>
          <a:prstGeom prst="roundRect">
            <a:avLst>
              <a:gd name="adj" fmla="val 15217"/>
            </a:avLst>
          </a:prstGeom>
          <a:solidFill>
            <a:srgbClr val="2878C7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5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Harness</a:t>
            </a:r>
          </a:p>
        </p:txBody>
      </p:sp>
      <p:sp>
        <p:nvSpPr>
          <p:cNvPr id="11" name="02-02-node-4">
            <a:extLst>
              <a:ext uri="{FF2B5EF4-FFF2-40B4-BE49-F238E27FC236}">
                <a16:creationId xmlns:a16="http://schemas.microsoft.com/office/drawing/2014/main" id="{21BA42F9-083E-4699-8EEC-54A230B3B2D6}"/>
              </a:ext>
            </a:extLst>
          </p:cNvPr>
          <p:cNvSpPr>
            <a:spLocks noGrp="1"/>
          </p:cNvSpPr>
          <p:nvPr/>
        </p:nvSpPr>
        <p:spPr>
          <a:xfrm>
            <a:off x="3556000" y="2235200"/>
            <a:ext cx="2286000" cy="8128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Loop</a:t>
            </a:r>
          </a:p>
        </p:txBody>
      </p:sp>
      <p:sp>
        <p:nvSpPr>
          <p:cNvPr id="12" name="02-02-caption">
            <a:extLst>
              <a:ext uri="{FF2B5EF4-FFF2-40B4-BE49-F238E27FC236}">
                <a16:creationId xmlns:a16="http://schemas.microsoft.com/office/drawing/2014/main" id="{CE39EDCA-1194-4FF9-A072-58A01A1E7363}"/>
              </a:ext>
            </a:extLst>
          </p:cNvPr>
          <p:cNvSpPr>
            <a:spLocks noGrp="1"/>
          </p:cNvSpPr>
          <p:nvPr/>
        </p:nvSpPr>
        <p:spPr>
          <a:xfrm>
            <a:off x="1143000" y="5283200"/>
            <a:ext cx="9906000" cy="1016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700" b="0">
                <a:solidFill>
                  <a:srgbClr val="4F5A68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700" b="0" dirty="0">
                <a:solidFill>
                  <a:srgbClr val="4F5A68"/>
                </a:solidFill>
                <a:latin typeface="Malgun Gothic"/>
                <a:ea typeface="Malgun Gothic"/>
                <a:cs typeface="Malgun Gothic"/>
              </a:rPr>
              <a:t>루프가 잘못 돌 때 손댈 수 있는 층이 harness다</a:t>
            </a:r>
          </a:p>
          <a:p>
            <a:pPr algn="ctr">
              <a:defRPr sz="1900" b="1">
                <a:solidFill>
                  <a:srgbClr val="156082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900" b="1" dirty="0">
                <a:solidFill>
                  <a:srgbClr val="156082"/>
                </a:solidFill>
                <a:latin typeface="Malgun Gothic"/>
                <a:ea typeface="Malgun Gothic"/>
                <a:cs typeface="Malgun Gothic"/>
              </a:rPr>
              <a:t>그래서 오늘은 harness engineering에 집중한다</a:t>
            </a:r>
          </a:p>
        </p:txBody>
      </p:sp>
      <p:sp>
        <p:nvSpPr>
          <p:cNvPr id="120" name="02-02-node-5">
            <a:extLst>
              <a:ext uri="{FF2B5EF4-FFF2-40B4-BE49-F238E27FC236}">
                <a16:creationId xmlns:a16="http://schemas.microsoft.com/office/drawing/2014/main" id="{21BA42F9-083E-4699-8EEC-54A230B3B2D6}"/>
              </a:ext>
            </a:extLst>
          </p:cNvPr>
          <p:cNvSpPr>
            <a:spLocks noGrp="1"/>
          </p:cNvSpPr>
          <p:nvPr/>
        </p:nvSpPr>
        <p:spPr>
          <a:xfrm>
            <a:off x="6350000" y="2235200"/>
            <a:ext cx="2286000" cy="8128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500" b="1" dirty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Graph</a:t>
            </a:r>
          </a:p>
        </p:txBody>
      </p:sp>
      <p:sp>
        <p:nvSpPr>
          <p:cNvPr id="122" name="02-02-grouplabel-1">
            <a:extLst>
              <a:ext uri="{FF2B5EF4-FFF2-40B4-BE49-F238E27FC236}">
                <a16:creationId xmlns:a16="http://schemas.microsoft.com/office/drawing/2014/main" id="{CE39EDCA-1194-4FF9-A072-58A01A1E7363}"/>
              </a:ext>
            </a:extLst>
          </p:cNvPr>
          <p:cNvSpPr>
            <a:spLocks noGrp="1"/>
          </p:cNvSpPr>
          <p:nvPr/>
        </p:nvSpPr>
        <p:spPr>
          <a:xfrm>
            <a:off x="2362200" y="4826000"/>
            <a:ext cx="7467600" cy="279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ctr">
              <a:defRPr sz="1400" b="0">
                <a:solidFill>
                  <a:srgbClr val="3F4A5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400" b="0" dirty="0">
                <a:solidFill>
                  <a:srgbClr val="3F4A57"/>
                </a:solidFill>
                <a:latin typeface="Malgun Gothic"/>
                <a:ea typeface="Malgun Gothic"/>
                <a:cs typeface="Malgun Gothic"/>
              </a:rPr>
              <a:t>베이스 — 무엇을 어떻게 줄 것인가</a:t>
            </a:r>
          </a:p>
        </p:txBody>
      </p:sp>
      <p:sp>
        <p:nvSpPr>
          <p:cNvPr id="123" name="02-02-grouplabel-2">
            <a:extLst>
              <a:ext uri="{FF2B5EF4-FFF2-40B4-BE49-F238E27FC236}">
                <a16:creationId xmlns:a16="http://schemas.microsoft.com/office/drawing/2014/main" id="{CE39EDCA-1194-4FF9-A072-58A01A1E7363}"/>
              </a:ext>
            </a:extLst>
          </p:cNvPr>
          <p:cNvSpPr>
            <a:spLocks noGrp="1"/>
          </p:cNvSpPr>
          <p:nvPr/>
        </p:nvSpPr>
        <p:spPr>
          <a:xfrm>
            <a:off x="3556000" y="1854200"/>
            <a:ext cx="5080000" cy="279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ctr">
              <a:defRPr sz="1400" b="0">
                <a:solidFill>
                  <a:srgbClr val="3F4A5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400" b="0" dirty="0">
                <a:solidFill>
                  <a:srgbClr val="3F4A57"/>
                </a:solidFill>
                <a:latin typeface="Malgun Gothic"/>
                <a:ea typeface="Malgun Gothic"/>
                <a:cs typeface="Malgun Gothic"/>
              </a:rPr>
              <a:t>그 위에서 도는 방법론</a:t>
            </a:r>
          </a:p>
        </p:txBody>
      </p:sp>
      <p:sp>
        <p:nvSpPr>
          <p:cNvPr id="13" name="02-02-grouprule-1">
            <a:extLst>
              <a:ext uri="{FF2B5EF4-FFF2-40B4-BE49-F238E27FC236}">
                <a16:creationId xmlns:a16="http://schemas.microsoft.com/office/drawing/2014/main" id="{C1CAB6C5-E461-4DE5-8951-95ECC0A83A5E}"/>
              </a:ext>
            </a:extLst>
          </p:cNvPr>
          <p:cNvSpPr/>
          <p:nvPr/>
        </p:nvSpPr>
        <p:spPr>
          <a:xfrm>
            <a:off x="2362200" y="3556000"/>
            <a:ext cx="7467600" cy="50800"/>
          </a:xfrm>
          <a:prstGeom prst="rect">
            <a:avLst/>
          </a:prstGeom>
          <a:solidFill>
            <a:srgbClr val="9AA6B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3799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02-03-footer-section">
            <a:extLst>
              <a:ext uri="{FF2B5EF4-FFF2-40B4-BE49-F238E27FC236}">
                <a16:creationId xmlns:a16="http://schemas.microsoft.com/office/drawing/2014/main" id="{6E757771-7127-4DEC-B4A9-0C821482273C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HARNESS ENGINEERING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2-03-footer-page">
            <a:extLst>
              <a:ext uri="{FF2B5EF4-FFF2-40B4-BE49-F238E27FC236}">
                <a16:creationId xmlns:a16="http://schemas.microsoft.com/office/drawing/2014/main" id="{39A7F83D-5FF0-40B2-8195-FDA703E3E635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21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2-03-accent-rule">
            <a:extLst>
              <a:ext uri="{FF2B5EF4-FFF2-40B4-BE49-F238E27FC236}">
                <a16:creationId xmlns:a16="http://schemas.microsoft.com/office/drawing/2014/main" id="{2EE39BBA-2A53-44E2-AC97-613A21901738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2-03-title">
            <a:extLst>
              <a:ext uri="{FF2B5EF4-FFF2-40B4-BE49-F238E27FC236}">
                <a16:creationId xmlns:a16="http://schemas.microsoft.com/office/drawing/2014/main" id="{F9956580-DC23-466B-BA98-7FF93598A6E7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목표는 인간 없는 루프가 아니다</a:t>
            </a:r>
          </a:p>
        </p:txBody>
      </p:sp>
      <p:sp>
        <p:nvSpPr>
          <p:cNvPr id="5" name="02-03-divider">
            <a:extLst>
              <a:ext uri="{FF2B5EF4-FFF2-40B4-BE49-F238E27FC236}">
                <a16:creationId xmlns:a16="http://schemas.microsoft.com/office/drawing/2014/main" id="{DF622A22-694F-4A65-98F4-920E7672E4E1}"/>
              </a:ext>
            </a:extLst>
          </p:cNvPr>
          <p:cNvSpPr>
            <a:spLocks noGrp="1"/>
          </p:cNvSpPr>
          <p:nvPr/>
        </p:nvSpPr>
        <p:spPr>
          <a:xfrm>
            <a:off x="6096000" y="1676400"/>
            <a:ext cx="0" cy="390525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2-03-left-heading">
            <a:extLst>
              <a:ext uri="{FF2B5EF4-FFF2-40B4-BE49-F238E27FC236}">
                <a16:creationId xmlns:a16="http://schemas.microsoft.com/office/drawing/2014/main" id="{1B19F983-FB91-4D77-B1CA-7F02291F75E7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4857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AI가 맡는 일</a:t>
            </a:r>
          </a:p>
        </p:txBody>
      </p:sp>
      <p:sp>
        <p:nvSpPr>
          <p:cNvPr id="7" name="02-03-left-dot-1">
            <a:extLst>
              <a:ext uri="{FF2B5EF4-FFF2-40B4-BE49-F238E27FC236}">
                <a16:creationId xmlns:a16="http://schemas.microsoft.com/office/drawing/2014/main" id="{604B7108-C009-41EC-88F9-FF221A18E0BE}"/>
              </a:ext>
            </a:extLst>
          </p:cNvPr>
          <p:cNvSpPr>
            <a:spLocks noGrp="1"/>
          </p:cNvSpPr>
          <p:nvPr/>
        </p:nvSpPr>
        <p:spPr>
          <a:xfrm>
            <a:off x="72390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2-03-left-line-1">
            <a:extLst>
              <a:ext uri="{FF2B5EF4-FFF2-40B4-BE49-F238E27FC236}">
                <a16:creationId xmlns:a16="http://schemas.microsoft.com/office/drawing/2014/main" id="{8964DD52-B4A6-4B04-B48D-93B7E156214A}"/>
              </a:ext>
            </a:extLst>
          </p:cNvPr>
          <p:cNvSpPr>
            <a:spLocks noGrp="1"/>
          </p:cNvSpPr>
          <p:nvPr/>
        </p:nvSpPr>
        <p:spPr>
          <a:xfrm>
            <a:off x="952500" y="2362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코드 생성</a:t>
            </a:r>
          </a:p>
        </p:txBody>
      </p:sp>
      <p:sp>
        <p:nvSpPr>
          <p:cNvPr id="9" name="02-03-left-dot-2">
            <a:extLst>
              <a:ext uri="{FF2B5EF4-FFF2-40B4-BE49-F238E27FC236}">
                <a16:creationId xmlns:a16="http://schemas.microsoft.com/office/drawing/2014/main" id="{CE2ED68A-A1BE-427C-A046-8D5A6028DAFA}"/>
              </a:ext>
            </a:extLst>
          </p:cNvPr>
          <p:cNvSpPr>
            <a:spLocks noGrp="1"/>
          </p:cNvSpPr>
          <p:nvPr/>
        </p:nvSpPr>
        <p:spPr>
          <a:xfrm>
            <a:off x="723900" y="30480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2-03-left-line-2">
            <a:extLst>
              <a:ext uri="{FF2B5EF4-FFF2-40B4-BE49-F238E27FC236}">
                <a16:creationId xmlns:a16="http://schemas.microsoft.com/office/drawing/2014/main" id="{E6500998-8500-45B4-8CDE-B30891834D24}"/>
              </a:ext>
            </a:extLst>
          </p:cNvPr>
          <p:cNvSpPr>
            <a:spLocks noGrp="1"/>
          </p:cNvSpPr>
          <p:nvPr/>
        </p:nvSpPr>
        <p:spPr>
          <a:xfrm>
            <a:off x="952500" y="29337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도구 실행</a:t>
            </a:r>
          </a:p>
        </p:txBody>
      </p:sp>
      <p:sp>
        <p:nvSpPr>
          <p:cNvPr id="11" name="02-03-left-dot-3">
            <a:extLst>
              <a:ext uri="{FF2B5EF4-FFF2-40B4-BE49-F238E27FC236}">
                <a16:creationId xmlns:a16="http://schemas.microsoft.com/office/drawing/2014/main" id="{2A41C390-086E-4174-A5D8-FC13E20F12C1}"/>
              </a:ext>
            </a:extLst>
          </p:cNvPr>
          <p:cNvSpPr>
            <a:spLocks noGrp="1"/>
          </p:cNvSpPr>
          <p:nvPr/>
        </p:nvSpPr>
        <p:spPr>
          <a:xfrm>
            <a:off x="723900" y="3619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2-03-left-line-3">
            <a:extLst>
              <a:ext uri="{FF2B5EF4-FFF2-40B4-BE49-F238E27FC236}">
                <a16:creationId xmlns:a16="http://schemas.microsoft.com/office/drawing/2014/main" id="{08ECD04D-ABCD-45BE-930A-F21A7115F3DC}"/>
              </a:ext>
            </a:extLst>
          </p:cNvPr>
          <p:cNvSpPr>
            <a:spLocks noGrp="1"/>
          </p:cNvSpPr>
          <p:nvPr/>
        </p:nvSpPr>
        <p:spPr>
          <a:xfrm>
            <a:off x="952500" y="3505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검증 결과 관찰</a:t>
            </a:r>
          </a:p>
        </p:txBody>
      </p:sp>
      <p:sp>
        <p:nvSpPr>
          <p:cNvPr id="13" name="02-03-left-dot-4">
            <a:extLst>
              <a:ext uri="{FF2B5EF4-FFF2-40B4-BE49-F238E27FC236}">
                <a16:creationId xmlns:a16="http://schemas.microsoft.com/office/drawing/2014/main" id="{079F390E-A5A1-43F0-BBDE-8FBB5AF2A77C}"/>
              </a:ext>
            </a:extLst>
          </p:cNvPr>
          <p:cNvSpPr>
            <a:spLocks noGrp="1"/>
          </p:cNvSpPr>
          <p:nvPr/>
        </p:nvSpPr>
        <p:spPr>
          <a:xfrm>
            <a:off x="723900" y="41910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02-03-left-line-4">
            <a:extLst>
              <a:ext uri="{FF2B5EF4-FFF2-40B4-BE49-F238E27FC236}">
                <a16:creationId xmlns:a16="http://schemas.microsoft.com/office/drawing/2014/main" id="{A84E087E-6C6F-4DC0-9806-AE1107DF0516}"/>
              </a:ext>
            </a:extLst>
          </p:cNvPr>
          <p:cNvSpPr>
            <a:spLocks noGrp="1"/>
          </p:cNvSpPr>
          <p:nvPr/>
        </p:nvSpPr>
        <p:spPr>
          <a:xfrm>
            <a:off x="952500" y="40767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수정과 재검증</a:t>
            </a:r>
          </a:p>
        </p:txBody>
      </p:sp>
      <p:sp>
        <p:nvSpPr>
          <p:cNvPr id="15" name="02-03-right-heading">
            <a:extLst>
              <a:ext uri="{FF2B5EF4-FFF2-40B4-BE49-F238E27FC236}">
                <a16:creationId xmlns:a16="http://schemas.microsoft.com/office/drawing/2014/main" id="{4255956F-7113-431D-B351-F1823C593C2B}"/>
              </a:ext>
            </a:extLst>
          </p:cNvPr>
          <p:cNvSpPr>
            <a:spLocks noGrp="1"/>
          </p:cNvSpPr>
          <p:nvPr/>
        </p:nvSpPr>
        <p:spPr>
          <a:xfrm>
            <a:off x="6572250" y="1676400"/>
            <a:ext cx="4762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사람이 맡는 일</a:t>
            </a:r>
          </a:p>
        </p:txBody>
      </p:sp>
      <p:sp>
        <p:nvSpPr>
          <p:cNvPr id="16" name="02-03-right-dot-1">
            <a:extLst>
              <a:ext uri="{FF2B5EF4-FFF2-40B4-BE49-F238E27FC236}">
                <a16:creationId xmlns:a16="http://schemas.microsoft.com/office/drawing/2014/main" id="{6CD6403B-11C0-4873-859D-C8E7E8F1622C}"/>
              </a:ext>
            </a:extLst>
          </p:cNvPr>
          <p:cNvSpPr>
            <a:spLocks noGrp="1"/>
          </p:cNvSpPr>
          <p:nvPr/>
        </p:nvSpPr>
        <p:spPr>
          <a:xfrm>
            <a:off x="657225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02-03-right-line-1">
            <a:extLst>
              <a:ext uri="{FF2B5EF4-FFF2-40B4-BE49-F238E27FC236}">
                <a16:creationId xmlns:a16="http://schemas.microsoft.com/office/drawing/2014/main" id="{1B636FA5-2469-4C58-B195-5647C351E8B0}"/>
              </a:ext>
            </a:extLst>
          </p:cNvPr>
          <p:cNvSpPr>
            <a:spLocks noGrp="1"/>
          </p:cNvSpPr>
          <p:nvPr/>
        </p:nvSpPr>
        <p:spPr>
          <a:xfrm>
            <a:off x="6800850" y="2362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목적과 범위</a:t>
            </a:r>
          </a:p>
        </p:txBody>
      </p:sp>
      <p:sp>
        <p:nvSpPr>
          <p:cNvPr id="18" name="02-03-right-dot-2">
            <a:extLst>
              <a:ext uri="{FF2B5EF4-FFF2-40B4-BE49-F238E27FC236}">
                <a16:creationId xmlns:a16="http://schemas.microsoft.com/office/drawing/2014/main" id="{D7DEEE6F-D27B-4A7A-BCB0-EB5599CBD017}"/>
              </a:ext>
            </a:extLst>
          </p:cNvPr>
          <p:cNvSpPr>
            <a:spLocks noGrp="1"/>
          </p:cNvSpPr>
          <p:nvPr/>
        </p:nvSpPr>
        <p:spPr>
          <a:xfrm>
            <a:off x="6572250" y="30480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02-03-right-line-2">
            <a:extLst>
              <a:ext uri="{FF2B5EF4-FFF2-40B4-BE49-F238E27FC236}">
                <a16:creationId xmlns:a16="http://schemas.microsoft.com/office/drawing/2014/main" id="{C69D020C-C680-4657-9C62-DF7B0D04E5A1}"/>
              </a:ext>
            </a:extLst>
          </p:cNvPr>
          <p:cNvSpPr>
            <a:spLocks noGrp="1"/>
          </p:cNvSpPr>
          <p:nvPr/>
        </p:nvSpPr>
        <p:spPr>
          <a:xfrm>
            <a:off x="6800850" y="29337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위임 경계</a:t>
            </a:r>
          </a:p>
        </p:txBody>
      </p:sp>
      <p:sp>
        <p:nvSpPr>
          <p:cNvPr id="20" name="02-03-right-dot-3">
            <a:extLst>
              <a:ext uri="{FF2B5EF4-FFF2-40B4-BE49-F238E27FC236}">
                <a16:creationId xmlns:a16="http://schemas.microsoft.com/office/drawing/2014/main" id="{4266FFB8-217B-4E9F-A4C5-1998596388CD}"/>
              </a:ext>
            </a:extLst>
          </p:cNvPr>
          <p:cNvSpPr>
            <a:spLocks noGrp="1"/>
          </p:cNvSpPr>
          <p:nvPr/>
        </p:nvSpPr>
        <p:spPr>
          <a:xfrm>
            <a:off x="6572250" y="3619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02-03-right-line-3">
            <a:extLst>
              <a:ext uri="{FF2B5EF4-FFF2-40B4-BE49-F238E27FC236}">
                <a16:creationId xmlns:a16="http://schemas.microsoft.com/office/drawing/2014/main" id="{F4C3EEF9-4368-4F1A-AE36-BAC6B1202DF6}"/>
              </a:ext>
            </a:extLst>
          </p:cNvPr>
          <p:cNvSpPr>
            <a:spLocks noGrp="1"/>
          </p:cNvSpPr>
          <p:nvPr/>
        </p:nvSpPr>
        <p:spPr>
          <a:xfrm>
            <a:off x="6800850" y="3505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승인과 우선순위</a:t>
            </a:r>
          </a:p>
        </p:txBody>
      </p:sp>
      <p:sp>
        <p:nvSpPr>
          <p:cNvPr id="22" name="02-03-right-dot-4">
            <a:extLst>
              <a:ext uri="{FF2B5EF4-FFF2-40B4-BE49-F238E27FC236}">
                <a16:creationId xmlns:a16="http://schemas.microsoft.com/office/drawing/2014/main" id="{245EE87F-F890-4C5B-BE70-4BA4B7ADC6E7}"/>
              </a:ext>
            </a:extLst>
          </p:cNvPr>
          <p:cNvSpPr>
            <a:spLocks noGrp="1"/>
          </p:cNvSpPr>
          <p:nvPr/>
        </p:nvSpPr>
        <p:spPr>
          <a:xfrm>
            <a:off x="6572250" y="41910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02-03-right-line-4">
            <a:extLst>
              <a:ext uri="{FF2B5EF4-FFF2-40B4-BE49-F238E27FC236}">
                <a16:creationId xmlns:a16="http://schemas.microsoft.com/office/drawing/2014/main" id="{ADB82D23-E7F0-4BE3-AB75-9539F572951D}"/>
              </a:ext>
            </a:extLst>
          </p:cNvPr>
          <p:cNvSpPr>
            <a:spLocks noGrp="1"/>
          </p:cNvSpPr>
          <p:nvPr/>
        </p:nvSpPr>
        <p:spPr>
          <a:xfrm>
            <a:off x="6800850" y="40767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최종 책임</a:t>
            </a:r>
          </a:p>
        </p:txBody>
      </p:sp>
    </p:spTree>
    <p:extLst>
      <p:ext uri="{BB962C8B-B14F-4D97-AF65-F5344CB8AC3E}">
        <p14:creationId xmlns:p14="http://schemas.microsoft.com/office/powerpoint/2010/main" val="16072206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02-04-footer-section">
            <a:extLst>
              <a:ext uri="{FF2B5EF4-FFF2-40B4-BE49-F238E27FC236}">
                <a16:creationId xmlns:a16="http://schemas.microsoft.com/office/drawing/2014/main" id="{6E90C702-43B7-4014-A8B2-283FBB45DA57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HARNESS ENGINEERING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2-04-footer-page">
            <a:extLst>
              <a:ext uri="{FF2B5EF4-FFF2-40B4-BE49-F238E27FC236}">
                <a16:creationId xmlns:a16="http://schemas.microsoft.com/office/drawing/2014/main" id="{C5184286-333D-4E7F-BFE7-99F70E8918B1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22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2-04-accent-rule">
            <a:extLst>
              <a:ext uri="{FF2B5EF4-FFF2-40B4-BE49-F238E27FC236}">
                <a16:creationId xmlns:a16="http://schemas.microsoft.com/office/drawing/2014/main" id="{E678E48E-D66F-42EA-AF82-533921C75AD0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2-04-title">
            <a:extLst>
              <a:ext uri="{FF2B5EF4-FFF2-40B4-BE49-F238E27FC236}">
                <a16:creationId xmlns:a16="http://schemas.microsoft.com/office/drawing/2014/main" id="{03BCD5E4-C318-4685-B7CD-A3A5F8D5FC15}"/>
              </a:ext>
            </a:extLst>
          </p:cNvPr>
          <p:cNvSpPr>
            <a:spLocks noGrp="1"/>
          </p:cNvSpPr>
          <p:nvPr/>
        </p:nvSpPr>
        <p:spPr>
          <a:xfrm>
            <a:off x="723900" y="704850"/>
            <a:ext cx="1028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Harness는 AI Agent가 일하는 환경이다</a:t>
            </a:r>
          </a:p>
        </p:txBody>
      </p:sp>
      <p:sp>
        <p:nvSpPr>
          <p:cNvPr id="5" name="02-04-bullet-1">
            <a:extLst>
              <a:ext uri="{FF2B5EF4-FFF2-40B4-BE49-F238E27FC236}">
                <a16:creationId xmlns:a16="http://schemas.microsoft.com/office/drawing/2014/main" id="{0AFF0125-BD6F-44A7-8F5A-17F91F2C9C1E}"/>
              </a:ext>
            </a:extLst>
          </p:cNvPr>
          <p:cNvSpPr>
            <a:spLocks noGrp="1"/>
          </p:cNvSpPr>
          <p:nvPr/>
        </p:nvSpPr>
        <p:spPr>
          <a:xfrm>
            <a:off x="876300" y="27051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2-04-body-1">
            <a:extLst>
              <a:ext uri="{FF2B5EF4-FFF2-40B4-BE49-F238E27FC236}">
                <a16:creationId xmlns:a16="http://schemas.microsoft.com/office/drawing/2014/main" id="{50A576FA-D9FE-452B-8E01-B2B3EA7763DC}"/>
              </a:ext>
            </a:extLst>
          </p:cNvPr>
          <p:cNvSpPr>
            <a:spLocks noGrp="1"/>
          </p:cNvSpPr>
          <p:nvPr/>
        </p:nvSpPr>
        <p:spPr>
          <a:xfrm>
            <a:off x="1143000" y="2540000"/>
            <a:ext cx="9448800" cy="1168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 anchorCtr="0"/>
          <a:lstStyle/>
          <a:p>
            <a:pPr algn="l">
              <a:lnSpc>
                <a:spcPct val="130000"/>
              </a:lnSpc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2025" b="0" dirty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harness는 원래 마구(馬具)다 — 말을 느리게 하는 장치가 아니라, 힘을 수레에 전달하는 장치다</a:t>
            </a:r>
          </a:p>
        </p:txBody>
      </p:sp>
      <p:sp>
        <p:nvSpPr>
          <p:cNvPr id="7" name="02-04-bullet-2">
            <a:extLst>
              <a:ext uri="{FF2B5EF4-FFF2-40B4-BE49-F238E27FC236}">
                <a16:creationId xmlns:a16="http://schemas.microsoft.com/office/drawing/2014/main" id="{6232B9A1-138B-4463-B53E-B15419CBF8BC}"/>
              </a:ext>
            </a:extLst>
          </p:cNvPr>
          <p:cNvSpPr>
            <a:spLocks noGrp="1"/>
          </p:cNvSpPr>
          <p:nvPr/>
        </p:nvSpPr>
        <p:spPr>
          <a:xfrm>
            <a:off x="876300" y="42291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2-04-body-2">
            <a:extLst>
              <a:ext uri="{FF2B5EF4-FFF2-40B4-BE49-F238E27FC236}">
                <a16:creationId xmlns:a16="http://schemas.microsoft.com/office/drawing/2014/main" id="{E7ED21D4-A603-48B3-A9E2-19D76BADDEFF}"/>
              </a:ext>
            </a:extLst>
          </p:cNvPr>
          <p:cNvSpPr>
            <a:spLocks noGrp="1"/>
          </p:cNvSpPr>
          <p:nvPr/>
        </p:nvSpPr>
        <p:spPr>
          <a:xfrm>
            <a:off x="1143000" y="4064000"/>
            <a:ext cx="9448800" cy="762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 anchorCtr="0"/>
          <a:lstStyle/>
          <a:p>
            <a:pPr algn="l">
              <a:lnSpc>
                <a:spcPct val="130000"/>
              </a:lnSpc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2025" b="0" dirty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AI도 마찬가지다. 제약하는 게 아니라, 출력을 쓸모 있는 방향으로 전달한다</a:t>
            </a:r>
          </a:p>
        </p:txBody>
      </p:sp>
    </p:spTree>
    <p:extLst>
      <p:ext uri="{BB962C8B-B14F-4D97-AF65-F5344CB8AC3E}">
        <p14:creationId xmlns:p14="http://schemas.microsoft.com/office/powerpoint/2010/main" val="26214496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02-05-footer-section">
            <a:extLst>
              <a:ext uri="{FF2B5EF4-FFF2-40B4-BE49-F238E27FC236}">
                <a16:creationId xmlns:a16="http://schemas.microsoft.com/office/drawing/2014/main" id="{F0306553-6AEC-40B7-98CD-3A0DDD5469AF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HARNESS ENGINEERING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2-05-footer-page">
            <a:extLst>
              <a:ext uri="{FF2B5EF4-FFF2-40B4-BE49-F238E27FC236}">
                <a16:creationId xmlns:a16="http://schemas.microsoft.com/office/drawing/2014/main" id="{55A926BB-8001-42E0-84F6-1B36CF88E298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23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2-05-accent-rule">
            <a:extLst>
              <a:ext uri="{FF2B5EF4-FFF2-40B4-BE49-F238E27FC236}">
                <a16:creationId xmlns:a16="http://schemas.microsoft.com/office/drawing/2014/main" id="{21FAE154-3559-4618-97AF-1E88994C6BC5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2-05-title">
            <a:extLst>
              <a:ext uri="{FF2B5EF4-FFF2-40B4-BE49-F238E27FC236}">
                <a16:creationId xmlns:a16="http://schemas.microsoft.com/office/drawing/2014/main" id="{E8F8E996-8C01-40EC-9158-9E6599E5F4D8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다섯 축은 다섯 개의 질문이다</a:t>
            </a:r>
          </a:p>
        </p:txBody>
      </p:sp>
      <p:sp>
        <p:nvSpPr>
          <p:cNvPr id="9" name="02-05-node-1">
            <a:extLst>
              <a:ext uri="{FF2B5EF4-FFF2-40B4-BE49-F238E27FC236}">
                <a16:creationId xmlns:a16="http://schemas.microsoft.com/office/drawing/2014/main" id="{1D6CEC84-99E9-4D11-9A85-AE581F7498A6}"/>
              </a:ext>
            </a:extLst>
          </p:cNvPr>
          <p:cNvSpPr>
            <a:spLocks noGrp="1"/>
          </p:cNvSpPr>
          <p:nvPr/>
        </p:nvSpPr>
        <p:spPr>
          <a:xfrm>
            <a:off x="1047750" y="215900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C9D3DD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500" b="1" dirty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권한</a:t>
            </a:r>
          </a:p>
        </p:txBody>
      </p:sp>
      <p:sp>
        <p:nvSpPr>
          <p:cNvPr id="10" name="02-05-node-2">
            <a:extLst>
              <a:ext uri="{FF2B5EF4-FFF2-40B4-BE49-F238E27FC236}">
                <a16:creationId xmlns:a16="http://schemas.microsoft.com/office/drawing/2014/main" id="{B4839590-C972-4D19-AD4F-40B85E5865CC}"/>
              </a:ext>
            </a:extLst>
          </p:cNvPr>
          <p:cNvSpPr>
            <a:spLocks noGrp="1"/>
          </p:cNvSpPr>
          <p:nvPr/>
        </p:nvSpPr>
        <p:spPr>
          <a:xfrm>
            <a:off x="3048000" y="215900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도구</a:t>
            </a:r>
          </a:p>
        </p:txBody>
      </p:sp>
      <p:sp>
        <p:nvSpPr>
          <p:cNvPr id="11" name="02-05-node-3">
            <a:extLst>
              <a:ext uri="{FF2B5EF4-FFF2-40B4-BE49-F238E27FC236}">
                <a16:creationId xmlns:a16="http://schemas.microsoft.com/office/drawing/2014/main" id="{1816350A-DFD0-4093-84DA-8D30C5BDF331}"/>
              </a:ext>
            </a:extLst>
          </p:cNvPr>
          <p:cNvSpPr>
            <a:spLocks noGrp="1"/>
          </p:cNvSpPr>
          <p:nvPr/>
        </p:nvSpPr>
        <p:spPr>
          <a:xfrm>
            <a:off x="5048250" y="215900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2878C7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5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검증</a:t>
            </a:r>
          </a:p>
        </p:txBody>
      </p:sp>
      <p:sp>
        <p:nvSpPr>
          <p:cNvPr id="12" name="02-05-node-4">
            <a:extLst>
              <a:ext uri="{FF2B5EF4-FFF2-40B4-BE49-F238E27FC236}">
                <a16:creationId xmlns:a16="http://schemas.microsoft.com/office/drawing/2014/main" id="{78E8CC66-2C51-4B0B-805A-6DF9CB4BA34B}"/>
              </a:ext>
            </a:extLst>
          </p:cNvPr>
          <p:cNvSpPr>
            <a:spLocks noGrp="1"/>
          </p:cNvSpPr>
          <p:nvPr/>
        </p:nvSpPr>
        <p:spPr>
          <a:xfrm>
            <a:off x="7048500" y="215900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상태</a:t>
            </a:r>
          </a:p>
        </p:txBody>
      </p:sp>
      <p:sp>
        <p:nvSpPr>
          <p:cNvPr id="13" name="02-05-node-5">
            <a:extLst>
              <a:ext uri="{FF2B5EF4-FFF2-40B4-BE49-F238E27FC236}">
                <a16:creationId xmlns:a16="http://schemas.microsoft.com/office/drawing/2014/main" id="{1B320C97-4558-4B4A-A4C1-E910FC746397}"/>
              </a:ext>
            </a:extLst>
          </p:cNvPr>
          <p:cNvSpPr>
            <a:spLocks noGrp="1"/>
          </p:cNvSpPr>
          <p:nvPr/>
        </p:nvSpPr>
        <p:spPr>
          <a:xfrm>
            <a:off x="9048750" y="215900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관측</a:t>
            </a:r>
          </a:p>
        </p:txBody>
      </p:sp>
      <p:sp>
        <p:nvSpPr>
          <p:cNvPr id="14" name="02-05-caption">
            <a:extLst>
              <a:ext uri="{FF2B5EF4-FFF2-40B4-BE49-F238E27FC236}">
                <a16:creationId xmlns:a16="http://schemas.microsoft.com/office/drawing/2014/main" id="{1062BCA3-4102-401E-A784-CBC4B38880BC}"/>
              </a:ext>
            </a:extLst>
          </p:cNvPr>
          <p:cNvSpPr>
            <a:spLocks noGrp="1"/>
          </p:cNvSpPr>
          <p:nvPr/>
        </p:nvSpPr>
        <p:spPr>
          <a:xfrm>
            <a:off x="1143000" y="4978400"/>
            <a:ext cx="9906000" cy="635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900" b="1">
                <a:solidFill>
                  <a:srgbClr val="156082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900" b="1" dirty="0">
                <a:solidFill>
                  <a:srgbClr val="156082"/>
                </a:solidFill>
                <a:latin typeface="Malgun Gothic"/>
                <a:ea typeface="Malgun Gothic"/>
                <a:cs typeface="Malgun Gothic"/>
              </a:rPr>
              <a:t>harness는 도구의 목록이 아니라, 이 질문들에 답을 갖고 있느냐다</a:t>
            </a:r>
          </a:p>
        </p:txBody>
      </p:sp>
      <p:sp>
        <p:nvSpPr>
          <p:cNvPr id="16" name="02-05-qlabel-1">
            <a:extLst>
              <a:ext uri="{FF2B5EF4-FFF2-40B4-BE49-F238E27FC236}">
                <a16:creationId xmlns:a16="http://schemas.microsoft.com/office/drawing/2014/main" id="{A3CF8E26-9BE2-4E55-96B5-79D60A0C58BA}"/>
              </a:ext>
            </a:extLst>
          </p:cNvPr>
          <p:cNvSpPr txBox="1"/>
          <p:nvPr/>
        </p:nvSpPr>
        <p:spPr>
          <a:xfrm>
            <a:off x="927100" y="3175000"/>
            <a:ext cx="2070100" cy="711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ctr">
              <a:defRPr sz="1400" b="0">
                <a:solidFill>
                  <a:srgbClr val="3F4A5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400" b="0" dirty="0">
                <a:solidFill>
                  <a:srgbClr val="3F4A57"/>
                </a:solidFill>
                <a:latin typeface="Malgun Gothic"/>
                <a:ea typeface="Malgun Gothic"/>
                <a:cs typeface="Malgun Gothic"/>
              </a:rPr>
              <a:t>무엇을 건드릴 수 있는가</a:t>
            </a:r>
          </a:p>
        </p:txBody>
      </p:sp>
      <p:sp>
        <p:nvSpPr>
          <p:cNvPr id="17" name="02-05-qlabel-2">
            <a:extLst>
              <a:ext uri="{FF2B5EF4-FFF2-40B4-BE49-F238E27FC236}">
                <a16:creationId xmlns:a16="http://schemas.microsoft.com/office/drawing/2014/main" id="{43433EA1-0F77-4A8B-BC3B-070054FB9E6E}"/>
              </a:ext>
            </a:extLst>
          </p:cNvPr>
          <p:cNvSpPr txBox="1"/>
          <p:nvPr/>
        </p:nvSpPr>
        <p:spPr>
          <a:xfrm>
            <a:off x="2921000" y="3175000"/>
            <a:ext cx="2070100" cy="711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ctr">
              <a:defRPr sz="1400" b="0">
                <a:solidFill>
                  <a:srgbClr val="3F4A5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400" b="0" dirty="0">
                <a:solidFill>
                  <a:srgbClr val="3F4A57"/>
                </a:solidFill>
                <a:latin typeface="Malgun Gothic"/>
                <a:ea typeface="Malgun Gothic"/>
                <a:cs typeface="Malgun Gothic"/>
              </a:rPr>
              <a:t>무엇을 쓸 수 있는가</a:t>
            </a:r>
          </a:p>
        </p:txBody>
      </p:sp>
      <p:sp>
        <p:nvSpPr>
          <p:cNvPr id="18" name="02-05-qlabel-3">
            <a:extLst>
              <a:ext uri="{FF2B5EF4-FFF2-40B4-BE49-F238E27FC236}">
                <a16:creationId xmlns:a16="http://schemas.microsoft.com/office/drawing/2014/main" id="{277CEB5D-D6A8-4130-BB0D-68810385EDB5}"/>
              </a:ext>
            </a:extLst>
          </p:cNvPr>
          <p:cNvSpPr txBox="1"/>
          <p:nvPr/>
        </p:nvSpPr>
        <p:spPr>
          <a:xfrm>
            <a:off x="4927600" y="3175000"/>
            <a:ext cx="2070100" cy="711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ctr">
              <a:defRPr sz="1400" b="0">
                <a:solidFill>
                  <a:srgbClr val="3F4A5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400" b="0" dirty="0">
                <a:solidFill>
                  <a:srgbClr val="3F4A57"/>
                </a:solidFill>
                <a:latin typeface="Malgun Gothic"/>
                <a:ea typeface="Malgun Gothic"/>
                <a:cs typeface="Malgun Gothic"/>
              </a:rPr>
              <a:t>맞다고 어떻게 확신하는가</a:t>
            </a:r>
          </a:p>
        </p:txBody>
      </p:sp>
      <p:sp>
        <p:nvSpPr>
          <p:cNvPr id="19" name="02-05-qlabel-4">
            <a:extLst>
              <a:ext uri="{FF2B5EF4-FFF2-40B4-BE49-F238E27FC236}">
                <a16:creationId xmlns:a16="http://schemas.microsoft.com/office/drawing/2014/main" id="{81E989F5-4C1E-4F2F-A016-1971E901E0CA}"/>
              </a:ext>
            </a:extLst>
          </p:cNvPr>
          <p:cNvSpPr txBox="1"/>
          <p:nvPr/>
        </p:nvSpPr>
        <p:spPr>
          <a:xfrm>
            <a:off x="6921500" y="3175000"/>
            <a:ext cx="2070100" cy="711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ctr">
              <a:defRPr sz="1400" b="0">
                <a:solidFill>
                  <a:srgbClr val="3F4A5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400" b="0" dirty="0">
                <a:solidFill>
                  <a:srgbClr val="3F4A57"/>
                </a:solidFill>
                <a:latin typeface="Malgun Gothic"/>
                <a:ea typeface="Malgun Gothic"/>
                <a:cs typeface="Malgun Gothic"/>
              </a:rPr>
              <a:t>무엇을 기억하는가</a:t>
            </a:r>
          </a:p>
        </p:txBody>
      </p:sp>
      <p:sp>
        <p:nvSpPr>
          <p:cNvPr id="20" name="02-05-qlabel-5">
            <a:extLst>
              <a:ext uri="{FF2B5EF4-FFF2-40B4-BE49-F238E27FC236}">
                <a16:creationId xmlns:a16="http://schemas.microsoft.com/office/drawing/2014/main" id="{A2DBAC39-DE90-444D-97E8-B4FE60C3E334}"/>
              </a:ext>
            </a:extLst>
          </p:cNvPr>
          <p:cNvSpPr txBox="1"/>
          <p:nvPr/>
        </p:nvSpPr>
        <p:spPr>
          <a:xfrm>
            <a:off x="8928100" y="3175000"/>
            <a:ext cx="2070100" cy="711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ctr">
              <a:defRPr sz="1400" b="0">
                <a:solidFill>
                  <a:srgbClr val="3F4A5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400" b="0" dirty="0">
                <a:solidFill>
                  <a:srgbClr val="3F4A57"/>
                </a:solidFill>
                <a:latin typeface="Malgun Gothic"/>
                <a:ea typeface="Malgun Gothic"/>
                <a:cs typeface="Malgun Gothic"/>
              </a:rPr>
              <a:t>무엇을 했는지 어떻게 아는가</a:t>
            </a:r>
          </a:p>
        </p:txBody>
      </p:sp>
      <p:sp>
        <p:nvSpPr>
          <p:cNvPr id="5" name="02-05-mlabel-1">
            <a:extLst>
              <a:ext uri="{FF2B5EF4-FFF2-40B4-BE49-F238E27FC236}">
                <a16:creationId xmlns:a16="http://schemas.microsoft.com/office/drawing/2014/main" id="{324BE32E-281A-47BE-B710-6D01A65A5E31}"/>
              </a:ext>
            </a:extLst>
          </p:cNvPr>
          <p:cNvSpPr txBox="1"/>
          <p:nvPr/>
        </p:nvSpPr>
        <p:spPr>
          <a:xfrm>
            <a:off x="927100" y="4013200"/>
            <a:ext cx="2070100" cy="889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ctr"/>
            <a:r>
              <a:rPr lang="ko-KR" altLang="en-US" sz="1400">
                <a:solidFill>
                  <a:srgbClr val="5A6675"/>
                </a:solidFill>
                <a:latin typeface="Malgun Gothic"/>
                <a:ea typeface="Malgun Gothic"/>
              </a:rPr>
              <a:t>파일 범위 </a:t>
            </a:r>
            <a:r>
              <a:rPr lang="en-US" altLang="ko-KR" sz="1400">
                <a:solidFill>
                  <a:srgbClr val="5A6675"/>
                </a:solidFill>
                <a:latin typeface="Malgun Gothic"/>
                <a:ea typeface="Malgun Gothic"/>
              </a:rPr>
              <a:t>· </a:t>
            </a:r>
            <a:r>
              <a:rPr lang="ko-KR" altLang="en-US" sz="1400">
                <a:solidFill>
                  <a:srgbClr val="5A6675"/>
                </a:solidFill>
                <a:latin typeface="Malgun Gothic"/>
                <a:ea typeface="Malgun Gothic"/>
              </a:rPr>
              <a:t>브랜치 격리 </a:t>
            </a:r>
            <a:r>
              <a:rPr lang="en-US" altLang="ko-KR" sz="1400">
                <a:solidFill>
                  <a:srgbClr val="5A6675"/>
                </a:solidFill>
                <a:latin typeface="Malgun Gothic"/>
                <a:ea typeface="Malgun Gothic"/>
              </a:rPr>
              <a:t>· </a:t>
            </a:r>
            <a:r>
              <a:rPr lang="ko-KR" altLang="en-US" sz="1400">
                <a:solidFill>
                  <a:srgbClr val="5A6675"/>
                </a:solidFill>
                <a:latin typeface="Malgun Gothic"/>
                <a:ea typeface="Malgun Gothic"/>
              </a:rPr>
              <a:t>승인 모드</a:t>
            </a:r>
            <a:endParaRPr lang="en-US" sz="1400">
              <a:solidFill>
                <a:srgbClr val="5A6675"/>
              </a:solidFill>
              <a:latin typeface="Malgun Gothic"/>
              <a:ea typeface="Malgun Gothic"/>
            </a:endParaRPr>
          </a:p>
        </p:txBody>
      </p:sp>
      <p:sp>
        <p:nvSpPr>
          <p:cNvPr id="6" name="02-05-mlabel-2">
            <a:extLst>
              <a:ext uri="{FF2B5EF4-FFF2-40B4-BE49-F238E27FC236}">
                <a16:creationId xmlns:a16="http://schemas.microsoft.com/office/drawing/2014/main" id="{4B93477D-94AB-4DD0-A22F-DA83499D68FD}"/>
              </a:ext>
            </a:extLst>
          </p:cNvPr>
          <p:cNvSpPr txBox="1"/>
          <p:nvPr/>
        </p:nvSpPr>
        <p:spPr>
          <a:xfrm>
            <a:off x="2921000" y="4013200"/>
            <a:ext cx="2070100" cy="889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ctr"/>
            <a:r>
              <a:rPr lang="ko-KR" altLang="en-US" sz="1400">
                <a:solidFill>
                  <a:srgbClr val="5A6675"/>
                </a:solidFill>
                <a:latin typeface="Malgun Gothic"/>
                <a:ea typeface="Malgun Gothic"/>
              </a:rPr>
              <a:t>빌드 </a:t>
            </a:r>
            <a:r>
              <a:rPr lang="en-US" altLang="ko-KR" sz="1400">
                <a:solidFill>
                  <a:srgbClr val="5A6675"/>
                </a:solidFill>
                <a:latin typeface="Malgun Gothic"/>
                <a:ea typeface="Malgun Gothic"/>
              </a:rPr>
              <a:t>· </a:t>
            </a:r>
            <a:r>
              <a:rPr lang="ko-KR" altLang="en-US" sz="1400">
                <a:solidFill>
                  <a:srgbClr val="5A6675"/>
                </a:solidFill>
                <a:latin typeface="Malgun Gothic"/>
                <a:ea typeface="Malgun Gothic"/>
              </a:rPr>
              <a:t>테스트 </a:t>
            </a:r>
            <a:r>
              <a:rPr lang="en-US" altLang="ko-KR" sz="1400">
                <a:solidFill>
                  <a:srgbClr val="5A6675"/>
                </a:solidFill>
                <a:latin typeface="Malgun Gothic"/>
                <a:ea typeface="Malgun Gothic"/>
              </a:rPr>
              <a:t>· </a:t>
            </a:r>
            <a:r>
              <a:rPr lang="ko-KR" altLang="en-US" sz="1400">
                <a:solidFill>
                  <a:srgbClr val="5A6675"/>
                </a:solidFill>
                <a:latin typeface="Malgun Gothic"/>
                <a:ea typeface="Malgun Gothic"/>
              </a:rPr>
              <a:t>린터</a:t>
            </a:r>
            <a:endParaRPr lang="en-US" sz="1400">
              <a:solidFill>
                <a:srgbClr val="5A6675"/>
              </a:solidFill>
              <a:latin typeface="Malgun Gothic"/>
              <a:ea typeface="Malgun Gothic"/>
            </a:endParaRPr>
          </a:p>
        </p:txBody>
      </p:sp>
      <p:sp>
        <p:nvSpPr>
          <p:cNvPr id="7" name="02-05-mlabel-3">
            <a:extLst>
              <a:ext uri="{FF2B5EF4-FFF2-40B4-BE49-F238E27FC236}">
                <a16:creationId xmlns:a16="http://schemas.microsoft.com/office/drawing/2014/main" id="{39A04FE1-4922-4F0B-B055-07741739C4F5}"/>
              </a:ext>
            </a:extLst>
          </p:cNvPr>
          <p:cNvSpPr txBox="1"/>
          <p:nvPr/>
        </p:nvSpPr>
        <p:spPr>
          <a:xfrm>
            <a:off x="4927600" y="4013200"/>
            <a:ext cx="2070100" cy="889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ctr"/>
            <a:r>
              <a:rPr lang="ko-KR" altLang="en-US" sz="1400">
                <a:solidFill>
                  <a:srgbClr val="5A6675"/>
                </a:solidFill>
                <a:latin typeface="Malgun Gothic"/>
                <a:ea typeface="Malgun Gothic"/>
              </a:rPr>
              <a:t>테스트 </a:t>
            </a:r>
            <a:r>
              <a:rPr lang="en-US" altLang="ko-KR" sz="1400">
                <a:solidFill>
                  <a:srgbClr val="5A6675"/>
                </a:solidFill>
                <a:latin typeface="Malgun Gothic"/>
                <a:ea typeface="Malgun Gothic"/>
              </a:rPr>
              <a:t>· </a:t>
            </a:r>
            <a:r>
              <a:rPr lang="ko-KR" altLang="en-US" sz="1400">
                <a:solidFill>
                  <a:srgbClr val="5A6675"/>
                </a:solidFill>
                <a:latin typeface="Malgun Gothic"/>
                <a:ea typeface="Malgun Gothic"/>
              </a:rPr>
              <a:t>타입 체크 </a:t>
            </a:r>
            <a:r>
              <a:rPr lang="en-US" altLang="ko-KR" sz="1400">
                <a:solidFill>
                  <a:srgbClr val="5A6675"/>
                </a:solidFill>
                <a:latin typeface="Malgun Gothic"/>
                <a:ea typeface="Malgun Gothic"/>
              </a:rPr>
              <a:t>· </a:t>
            </a:r>
            <a:r>
              <a:rPr lang="ko-KR" altLang="en-US" sz="1400">
                <a:solidFill>
                  <a:srgbClr val="5A6675"/>
                </a:solidFill>
                <a:latin typeface="Malgun Gothic"/>
                <a:ea typeface="Malgun Gothic"/>
              </a:rPr>
              <a:t>리뷰 게이트</a:t>
            </a:r>
            <a:endParaRPr lang="en-US" sz="1400">
              <a:solidFill>
                <a:srgbClr val="5A6675"/>
              </a:solidFill>
              <a:latin typeface="Malgun Gothic"/>
              <a:ea typeface="Malgun Gothic"/>
            </a:endParaRPr>
          </a:p>
        </p:txBody>
      </p:sp>
      <p:sp>
        <p:nvSpPr>
          <p:cNvPr id="8" name="02-05-mlabel-4">
            <a:extLst>
              <a:ext uri="{FF2B5EF4-FFF2-40B4-BE49-F238E27FC236}">
                <a16:creationId xmlns:a16="http://schemas.microsoft.com/office/drawing/2014/main" id="{721053D8-BB3B-407D-899E-D5A354C82F30}"/>
              </a:ext>
            </a:extLst>
          </p:cNvPr>
          <p:cNvSpPr txBox="1"/>
          <p:nvPr/>
        </p:nvSpPr>
        <p:spPr>
          <a:xfrm>
            <a:off x="6921500" y="4013200"/>
            <a:ext cx="2070100" cy="889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ctr"/>
            <a:r>
              <a:rPr lang="ko-KR" altLang="en-US" sz="1400">
                <a:solidFill>
                  <a:srgbClr val="5A6675"/>
                </a:solidFill>
                <a:latin typeface="Malgun Gothic"/>
                <a:ea typeface="Malgun Gothic"/>
              </a:rPr>
              <a:t>컨텍스트 </a:t>
            </a:r>
            <a:r>
              <a:rPr lang="en-US" altLang="ko-KR" sz="1400">
                <a:solidFill>
                  <a:srgbClr val="5A6675"/>
                </a:solidFill>
                <a:latin typeface="Malgun Gothic"/>
                <a:ea typeface="Malgun Gothic"/>
              </a:rPr>
              <a:t>· </a:t>
            </a:r>
            <a:r>
              <a:rPr lang="ko-KR" altLang="en-US" sz="1400">
                <a:solidFill>
                  <a:srgbClr val="5A6675"/>
                </a:solidFill>
                <a:latin typeface="Malgun Gothic"/>
                <a:ea typeface="Malgun Gothic"/>
              </a:rPr>
              <a:t>문서 </a:t>
            </a:r>
            <a:r>
              <a:rPr lang="en-US" altLang="ko-KR" sz="1400">
                <a:solidFill>
                  <a:srgbClr val="5A6675"/>
                </a:solidFill>
                <a:latin typeface="Malgun Gothic"/>
                <a:ea typeface="Malgun Gothic"/>
              </a:rPr>
              <a:t>· </a:t>
            </a:r>
            <a:r>
              <a:rPr lang="ko-KR" altLang="en-US" sz="1400">
                <a:solidFill>
                  <a:srgbClr val="5A6675"/>
                </a:solidFill>
                <a:latin typeface="Malgun Gothic"/>
                <a:ea typeface="Malgun Gothic"/>
              </a:rPr>
              <a:t>메모리</a:t>
            </a:r>
            <a:endParaRPr lang="en-US" sz="1400">
              <a:solidFill>
                <a:srgbClr val="5A6675"/>
              </a:solidFill>
              <a:latin typeface="Malgun Gothic"/>
              <a:ea typeface="Malgun Gothic"/>
            </a:endParaRPr>
          </a:p>
        </p:txBody>
      </p:sp>
      <p:sp>
        <p:nvSpPr>
          <p:cNvPr id="21" name="02-05-mlabel-5">
            <a:extLst>
              <a:ext uri="{FF2B5EF4-FFF2-40B4-BE49-F238E27FC236}">
                <a16:creationId xmlns:a16="http://schemas.microsoft.com/office/drawing/2014/main" id="{FC4A5886-F21E-44C7-947E-9729CB931584}"/>
              </a:ext>
            </a:extLst>
          </p:cNvPr>
          <p:cNvSpPr txBox="1"/>
          <p:nvPr/>
        </p:nvSpPr>
        <p:spPr>
          <a:xfrm>
            <a:off x="8928100" y="4013200"/>
            <a:ext cx="2070100" cy="889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ctr"/>
            <a:r>
              <a:rPr lang="ko-KR" altLang="en-US" sz="1400">
                <a:solidFill>
                  <a:srgbClr val="5A6675"/>
                </a:solidFill>
                <a:latin typeface="Malgun Gothic"/>
                <a:ea typeface="Malgun Gothic"/>
              </a:rPr>
              <a:t>로그 </a:t>
            </a:r>
            <a:r>
              <a:rPr lang="en-US" altLang="ko-KR" sz="1400">
                <a:solidFill>
                  <a:srgbClr val="5A6675"/>
                </a:solidFill>
                <a:latin typeface="Malgun Gothic"/>
                <a:ea typeface="Malgun Gothic"/>
              </a:rPr>
              <a:t>· diff · </a:t>
            </a:r>
            <a:r>
              <a:rPr lang="ko-KR" altLang="en-US" sz="1400">
                <a:solidFill>
                  <a:srgbClr val="5A6675"/>
                </a:solidFill>
                <a:latin typeface="Malgun Gothic"/>
                <a:ea typeface="Malgun Gothic"/>
              </a:rPr>
              <a:t>트레이스</a:t>
            </a:r>
            <a:endParaRPr lang="en-US" sz="1400">
              <a:solidFill>
                <a:srgbClr val="5A6675"/>
              </a:solidFill>
              <a:latin typeface="Malgun Gothic"/>
              <a:ea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13835437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02-06-footer-section">
            <a:extLst>
              <a:ext uri="{FF2B5EF4-FFF2-40B4-BE49-F238E27FC236}">
                <a16:creationId xmlns:a16="http://schemas.microsoft.com/office/drawing/2014/main" id="{1A2FF3DC-6213-466F-9E94-3C1664410C68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HARNESS ENGINEERING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2-06-footer-page">
            <a:extLst>
              <a:ext uri="{FF2B5EF4-FFF2-40B4-BE49-F238E27FC236}">
                <a16:creationId xmlns:a16="http://schemas.microsoft.com/office/drawing/2014/main" id="{298ADA5B-8D11-40BB-9815-4F57BD7F5BD0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24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2-06-accent-rule">
            <a:extLst>
              <a:ext uri="{FF2B5EF4-FFF2-40B4-BE49-F238E27FC236}">
                <a16:creationId xmlns:a16="http://schemas.microsoft.com/office/drawing/2014/main" id="{B89FAD54-91E8-40D6-AEBC-C7C145308C20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2-06-title">
            <a:extLst>
              <a:ext uri="{FF2B5EF4-FFF2-40B4-BE49-F238E27FC236}">
                <a16:creationId xmlns:a16="http://schemas.microsoft.com/office/drawing/2014/main" id="{A978F5D5-F40C-4925-B912-F2B3A373F108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도구를 새로 만들지 않아도 harness는 작동한다</a:t>
            </a:r>
          </a:p>
        </p:txBody>
      </p:sp>
      <p:sp>
        <p:nvSpPr>
          <p:cNvPr id="5" name="02-06-bullet-1">
            <a:extLst>
              <a:ext uri="{FF2B5EF4-FFF2-40B4-BE49-F238E27FC236}">
                <a16:creationId xmlns:a16="http://schemas.microsoft.com/office/drawing/2014/main" id="{6DF9464B-7B60-4CB5-B547-DE264A56E55D}"/>
              </a:ext>
            </a:extLst>
          </p:cNvPr>
          <p:cNvSpPr>
            <a:spLocks noGrp="1"/>
          </p:cNvSpPr>
          <p:nvPr/>
        </p:nvSpPr>
        <p:spPr>
          <a:xfrm>
            <a:off x="876300" y="19240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2-06-body-1">
            <a:extLst>
              <a:ext uri="{FF2B5EF4-FFF2-40B4-BE49-F238E27FC236}">
                <a16:creationId xmlns:a16="http://schemas.microsoft.com/office/drawing/2014/main" id="{A0EBDBB4-1E7E-4051-A082-60F162DF73E3}"/>
              </a:ext>
            </a:extLst>
          </p:cNvPr>
          <p:cNvSpPr>
            <a:spLocks noGrp="1"/>
          </p:cNvSpPr>
          <p:nvPr/>
        </p:nvSpPr>
        <p:spPr>
          <a:xfrm>
            <a:off x="1143000" y="18097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dirty="0" err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권한</a:t>
            </a:r>
            <a:r>
              <a:rPr sz="1800" b="0" dirty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 — </a:t>
            </a:r>
            <a:r>
              <a:rPr sz="1800" b="0" dirty="0" err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브랜치</a:t>
            </a:r>
            <a:r>
              <a:rPr sz="1800" b="0" dirty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00" b="0" dirty="0" err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격리</a:t>
            </a:r>
            <a:endParaRPr sz="1800" b="0" dirty="0">
              <a:solidFill>
                <a:srgbClr val="18222D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7" name="02-06-bullet-2">
            <a:extLst>
              <a:ext uri="{FF2B5EF4-FFF2-40B4-BE49-F238E27FC236}">
                <a16:creationId xmlns:a16="http://schemas.microsoft.com/office/drawing/2014/main" id="{A76E0632-1145-4DFE-873B-61701564257B}"/>
              </a:ext>
            </a:extLst>
          </p:cNvPr>
          <p:cNvSpPr>
            <a:spLocks noGrp="1"/>
          </p:cNvSpPr>
          <p:nvPr/>
        </p:nvSpPr>
        <p:spPr>
          <a:xfrm>
            <a:off x="876300" y="27051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2-06-body-2">
            <a:extLst>
              <a:ext uri="{FF2B5EF4-FFF2-40B4-BE49-F238E27FC236}">
                <a16:creationId xmlns:a16="http://schemas.microsoft.com/office/drawing/2014/main" id="{E252B1B7-9B0E-4D72-AB15-A95CFDA76F18}"/>
              </a:ext>
            </a:extLst>
          </p:cNvPr>
          <p:cNvSpPr>
            <a:spLocks noGrp="1"/>
          </p:cNvSpPr>
          <p:nvPr/>
        </p:nvSpPr>
        <p:spPr>
          <a:xfrm>
            <a:off x="1143000" y="259080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검증 — 손으로 짠 것보다 나은가</a:t>
            </a:r>
          </a:p>
        </p:txBody>
      </p:sp>
      <p:sp>
        <p:nvSpPr>
          <p:cNvPr id="9" name="02-06-bullet-3">
            <a:extLst>
              <a:ext uri="{FF2B5EF4-FFF2-40B4-BE49-F238E27FC236}">
                <a16:creationId xmlns:a16="http://schemas.microsoft.com/office/drawing/2014/main" id="{0427B16B-0C5F-489A-9B47-63A1DF8EC4B9}"/>
              </a:ext>
            </a:extLst>
          </p:cNvPr>
          <p:cNvSpPr>
            <a:spLocks noGrp="1"/>
          </p:cNvSpPr>
          <p:nvPr/>
        </p:nvSpPr>
        <p:spPr>
          <a:xfrm>
            <a:off x="876300" y="34861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2-06-body-3">
            <a:extLst>
              <a:ext uri="{FF2B5EF4-FFF2-40B4-BE49-F238E27FC236}">
                <a16:creationId xmlns:a16="http://schemas.microsoft.com/office/drawing/2014/main" id="{CADCDBDA-4391-4F76-98A0-951419400EF4}"/>
              </a:ext>
            </a:extLst>
          </p:cNvPr>
          <p:cNvSpPr>
            <a:spLocks noGrp="1"/>
          </p:cNvSpPr>
          <p:nvPr/>
        </p:nvSpPr>
        <p:spPr>
          <a:xfrm>
            <a:off x="1143000" y="33718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관측 — 시행착오를 커밋 메시지에 기록</a:t>
            </a:r>
          </a:p>
        </p:txBody>
      </p:sp>
      <p:sp>
        <p:nvSpPr>
          <p:cNvPr id="11" name="02-06-optional">
            <a:extLst>
              <a:ext uri="{FF2B5EF4-FFF2-40B4-BE49-F238E27FC236}">
                <a16:creationId xmlns:a16="http://schemas.microsoft.com/office/drawing/2014/main" id="{E7798571-6F53-402F-A318-8F30FB8CE7CF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156502405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02-07-footer-section">
            <a:extLst>
              <a:ext uri="{FF2B5EF4-FFF2-40B4-BE49-F238E27FC236}">
                <a16:creationId xmlns:a16="http://schemas.microsoft.com/office/drawing/2014/main" id="{D5328373-CE2B-436C-A884-BE84126876C5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HARNESS ENGINEERING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2-07-footer-page">
            <a:extLst>
              <a:ext uri="{FF2B5EF4-FFF2-40B4-BE49-F238E27FC236}">
                <a16:creationId xmlns:a16="http://schemas.microsoft.com/office/drawing/2014/main" id="{B1090508-E98B-4554-AF19-2A94912667DF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25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2-07-accent-rule">
            <a:extLst>
              <a:ext uri="{FF2B5EF4-FFF2-40B4-BE49-F238E27FC236}">
                <a16:creationId xmlns:a16="http://schemas.microsoft.com/office/drawing/2014/main" id="{CC1B6E21-EBE1-457C-938C-90E3B63EA87B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2-07-title">
            <a:extLst>
              <a:ext uri="{FF2B5EF4-FFF2-40B4-BE49-F238E27FC236}">
                <a16:creationId xmlns:a16="http://schemas.microsoft.com/office/drawing/2014/main" id="{A56721B1-4D6F-43BD-9141-2D972286C2E7}"/>
              </a:ext>
            </a:extLst>
          </p:cNvPr>
          <p:cNvSpPr>
            <a:spLocks noGrp="1"/>
          </p:cNvSpPr>
          <p:nvPr/>
        </p:nvSpPr>
        <p:spPr>
          <a:xfrm>
            <a:off x="723900" y="1930400"/>
            <a:ext cx="1028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AI가 만든 코드를 신뢰하는 방법은 믿지 않는 것이다</a:t>
            </a:r>
          </a:p>
        </p:txBody>
      </p:sp>
      <p:sp>
        <p:nvSpPr>
          <p:cNvPr id="5" name="02-07-body-1">
            <a:extLst>
              <a:ext uri="{FF2B5EF4-FFF2-40B4-BE49-F238E27FC236}">
                <a16:creationId xmlns:a16="http://schemas.microsoft.com/office/drawing/2014/main" id="{8E7958AA-B816-4717-B8F1-22E63B5AB7BE}"/>
              </a:ext>
            </a:extLst>
          </p:cNvPr>
          <p:cNvSpPr>
            <a:spLocks noGrp="1"/>
          </p:cNvSpPr>
          <p:nvPr/>
        </p:nvSpPr>
        <p:spPr>
          <a:xfrm>
            <a:off x="876300" y="3327400"/>
            <a:ext cx="9715500" cy="635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5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대신 검증한다.</a:t>
            </a:r>
          </a:p>
        </p:txBody>
      </p:sp>
      <p:sp>
        <p:nvSpPr>
          <p:cNvPr id="7" name="02-07-lead">
            <a:extLst>
              <a:ext uri="{FF2B5EF4-FFF2-40B4-BE49-F238E27FC236}">
                <a16:creationId xmlns:a16="http://schemas.microsoft.com/office/drawing/2014/main" id="{DB3FFA96-EB2B-4C0A-A041-73B8D08F7E28}"/>
              </a:ext>
            </a:extLst>
          </p:cNvPr>
          <p:cNvSpPr txBox="1"/>
          <p:nvPr/>
        </p:nvSpPr>
        <p:spPr>
          <a:xfrm>
            <a:off x="723900" y="1320800"/>
            <a:ext cx="10287000" cy="406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ko-KR" altLang="en-US">
                <a:solidFill>
                  <a:srgbClr val="4F5A68"/>
                </a:solidFill>
                <a:latin typeface="Malgun Gothic"/>
                <a:ea typeface="Malgun Gothic"/>
              </a:rPr>
              <a:t>다섯 축 중 하나만 고른다면 검증이다</a:t>
            </a:r>
            <a:endParaRPr lang="en-US">
              <a:solidFill>
                <a:srgbClr val="4F5A68"/>
              </a:solidFill>
              <a:latin typeface="Malgun Gothic"/>
              <a:ea typeface="Malgun Gothic"/>
            </a:endParaRPr>
          </a:p>
        </p:txBody>
      </p:sp>
      <p:sp>
        <p:nvSpPr>
          <p:cNvPr id="8" name="02-07-body-2">
            <a:extLst>
              <a:ext uri="{FF2B5EF4-FFF2-40B4-BE49-F238E27FC236}">
                <a16:creationId xmlns:a16="http://schemas.microsoft.com/office/drawing/2014/main" id="{BB178A4E-AB98-45FA-B5A6-BD00A3946E22}"/>
              </a:ext>
            </a:extLst>
          </p:cNvPr>
          <p:cNvSpPr txBox="1"/>
          <p:nvPr/>
        </p:nvSpPr>
        <p:spPr>
          <a:xfrm>
            <a:off x="876300" y="4267200"/>
            <a:ext cx="9715500" cy="50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ko-KR" altLang="en-US">
                <a:solidFill>
                  <a:srgbClr val="4F5A68"/>
                </a:solidFill>
                <a:latin typeface="Malgun Gothic"/>
                <a:ea typeface="Malgun Gothic"/>
              </a:rPr>
              <a:t>검증은 테스트 </a:t>
            </a:r>
            <a:r>
              <a:rPr lang="en-US" altLang="ko-KR">
                <a:solidFill>
                  <a:srgbClr val="4F5A68"/>
                </a:solidFill>
                <a:latin typeface="Malgun Gothic"/>
                <a:ea typeface="Malgun Gothic"/>
              </a:rPr>
              <a:t>· </a:t>
            </a:r>
            <a:r>
              <a:rPr lang="ko-KR" altLang="en-US">
                <a:solidFill>
                  <a:srgbClr val="4F5A68"/>
                </a:solidFill>
                <a:latin typeface="Malgun Gothic"/>
                <a:ea typeface="Malgun Gothic"/>
              </a:rPr>
              <a:t>타입 체크 </a:t>
            </a:r>
            <a:r>
              <a:rPr lang="en-US" altLang="ko-KR">
                <a:solidFill>
                  <a:srgbClr val="4F5A68"/>
                </a:solidFill>
                <a:latin typeface="Malgun Gothic"/>
                <a:ea typeface="Malgun Gothic"/>
              </a:rPr>
              <a:t>· </a:t>
            </a:r>
            <a:r>
              <a:rPr lang="ko-KR" altLang="en-US">
                <a:solidFill>
                  <a:srgbClr val="4F5A68"/>
                </a:solidFill>
                <a:latin typeface="Malgun Gothic"/>
                <a:ea typeface="Malgun Gothic"/>
              </a:rPr>
              <a:t>리뷰 게이트로 한다</a:t>
            </a:r>
            <a:endParaRPr lang="en-US">
              <a:solidFill>
                <a:srgbClr val="4F5A68"/>
              </a:solidFill>
              <a:latin typeface="Malgun Gothic"/>
              <a:ea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3230489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02-09-footer-section">
            <a:extLst>
              <a:ext uri="{FF2B5EF4-FFF2-40B4-BE49-F238E27FC236}">
                <a16:creationId xmlns:a16="http://schemas.microsoft.com/office/drawing/2014/main" id="{420395F5-54CB-4D45-940C-4FED2049DE87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HARNESS ENGINEERING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2-09-footer-page">
            <a:extLst>
              <a:ext uri="{FF2B5EF4-FFF2-40B4-BE49-F238E27FC236}">
                <a16:creationId xmlns:a16="http://schemas.microsoft.com/office/drawing/2014/main" id="{AF5BAB8B-4449-4B53-8283-915190ECAC71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26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2-09-accent-rule">
            <a:extLst>
              <a:ext uri="{FF2B5EF4-FFF2-40B4-BE49-F238E27FC236}">
                <a16:creationId xmlns:a16="http://schemas.microsoft.com/office/drawing/2014/main" id="{5F6FB774-BBA5-434D-89A3-57AA3B8F4194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2-09-title">
            <a:extLst>
              <a:ext uri="{FF2B5EF4-FFF2-40B4-BE49-F238E27FC236}">
                <a16:creationId xmlns:a16="http://schemas.microsoft.com/office/drawing/2014/main" id="{FE9AC6F2-FA1E-4CA0-BAAC-6A4B5E378120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검증 결과가 자동으로 되먹임되어야 한다</a:t>
            </a:r>
          </a:p>
        </p:txBody>
      </p:sp>
      <p:sp>
        <p:nvSpPr>
          <p:cNvPr id="5" name="02-09-arrow-1">
            <a:extLst>
              <a:ext uri="{FF2B5EF4-FFF2-40B4-BE49-F238E27FC236}">
                <a16:creationId xmlns:a16="http://schemas.microsoft.com/office/drawing/2014/main" id="{02498F7A-4796-448B-BA7E-C6483348B198}"/>
              </a:ext>
            </a:extLst>
          </p:cNvPr>
          <p:cNvSpPr>
            <a:spLocks noGrp="1"/>
          </p:cNvSpPr>
          <p:nvPr/>
        </p:nvSpPr>
        <p:spPr>
          <a:xfrm>
            <a:off x="400050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2-09-arrow-2">
            <a:extLst>
              <a:ext uri="{FF2B5EF4-FFF2-40B4-BE49-F238E27FC236}">
                <a16:creationId xmlns:a16="http://schemas.microsoft.com/office/drawing/2014/main" id="{B945B9F1-8ED1-4D72-A545-2E7EDCCACC54}"/>
              </a:ext>
            </a:extLst>
          </p:cNvPr>
          <p:cNvSpPr>
            <a:spLocks noGrp="1"/>
          </p:cNvSpPr>
          <p:nvPr/>
        </p:nvSpPr>
        <p:spPr>
          <a:xfrm>
            <a:off x="600710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2-09-arrow-3">
            <a:extLst>
              <a:ext uri="{FF2B5EF4-FFF2-40B4-BE49-F238E27FC236}">
                <a16:creationId xmlns:a16="http://schemas.microsoft.com/office/drawing/2014/main" id="{EC8EEC65-5E27-4870-8DAF-7B7E8E064EE6}"/>
              </a:ext>
            </a:extLst>
          </p:cNvPr>
          <p:cNvSpPr>
            <a:spLocks noGrp="1"/>
          </p:cNvSpPr>
          <p:nvPr/>
        </p:nvSpPr>
        <p:spPr>
          <a:xfrm>
            <a:off x="800100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2-09-node-1">
            <a:extLst>
              <a:ext uri="{FF2B5EF4-FFF2-40B4-BE49-F238E27FC236}">
                <a16:creationId xmlns:a16="http://schemas.microsoft.com/office/drawing/2014/main" id="{A0D048C6-42BF-4526-A037-08C7D0D1A02A}"/>
              </a:ext>
            </a:extLst>
          </p:cNvPr>
          <p:cNvSpPr>
            <a:spLocks noGrp="1"/>
          </p:cNvSpPr>
          <p:nvPr/>
        </p:nvSpPr>
        <p:spPr>
          <a:xfrm>
            <a:off x="219710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2878C7"/>
          </a:solidFill>
          <a:ln w="19050">
            <a:solidFill>
              <a:srgbClr val="2878C7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생성</a:t>
            </a:r>
          </a:p>
        </p:txBody>
      </p:sp>
      <p:sp>
        <p:nvSpPr>
          <p:cNvPr id="9" name="02-09-node-2">
            <a:extLst>
              <a:ext uri="{FF2B5EF4-FFF2-40B4-BE49-F238E27FC236}">
                <a16:creationId xmlns:a16="http://schemas.microsoft.com/office/drawing/2014/main" id="{6FFA4A07-5E0E-457E-9C0E-D87C1FDD82AC}"/>
              </a:ext>
            </a:extLst>
          </p:cNvPr>
          <p:cNvSpPr>
            <a:spLocks noGrp="1"/>
          </p:cNvSpPr>
          <p:nvPr/>
        </p:nvSpPr>
        <p:spPr>
          <a:xfrm>
            <a:off x="419100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검증</a:t>
            </a:r>
          </a:p>
        </p:txBody>
      </p:sp>
      <p:sp>
        <p:nvSpPr>
          <p:cNvPr id="10" name="02-09-node-3">
            <a:extLst>
              <a:ext uri="{FF2B5EF4-FFF2-40B4-BE49-F238E27FC236}">
                <a16:creationId xmlns:a16="http://schemas.microsoft.com/office/drawing/2014/main" id="{39E5459C-0E5E-4CC8-A8EF-A8EA06A7E20B}"/>
              </a:ext>
            </a:extLst>
          </p:cNvPr>
          <p:cNvSpPr>
            <a:spLocks noGrp="1"/>
          </p:cNvSpPr>
          <p:nvPr/>
        </p:nvSpPr>
        <p:spPr>
          <a:xfrm>
            <a:off x="619760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수정</a:t>
            </a:r>
          </a:p>
        </p:txBody>
      </p:sp>
      <p:sp>
        <p:nvSpPr>
          <p:cNvPr id="11" name="02-09-node-4">
            <a:extLst>
              <a:ext uri="{FF2B5EF4-FFF2-40B4-BE49-F238E27FC236}">
                <a16:creationId xmlns:a16="http://schemas.microsoft.com/office/drawing/2014/main" id="{A95E133E-46CE-48EC-A205-D322817F330D}"/>
              </a:ext>
            </a:extLst>
          </p:cNvPr>
          <p:cNvSpPr>
            <a:spLocks noGrp="1"/>
          </p:cNvSpPr>
          <p:nvPr/>
        </p:nvSpPr>
        <p:spPr>
          <a:xfrm>
            <a:off x="819150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재검증</a:t>
            </a:r>
          </a:p>
        </p:txBody>
      </p:sp>
      <p:sp>
        <p:nvSpPr>
          <p:cNvPr id="12" name="02-09-caption">
            <a:extLst>
              <a:ext uri="{FF2B5EF4-FFF2-40B4-BE49-F238E27FC236}">
                <a16:creationId xmlns:a16="http://schemas.microsoft.com/office/drawing/2014/main" id="{F266EF7F-7CAB-446A-A99C-1F3AC1C99EAF}"/>
              </a:ext>
            </a:extLst>
          </p:cNvPr>
          <p:cNvSpPr>
            <a:spLocks noGrp="1"/>
          </p:cNvSpPr>
          <p:nvPr/>
        </p:nvSpPr>
        <p:spPr>
          <a:xfrm>
            <a:off x="1143000" y="4927600"/>
            <a:ext cx="9906000" cy="635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900" b="1">
                <a:solidFill>
                  <a:srgbClr val="156082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900" b="1" dirty="0">
                <a:solidFill>
                  <a:srgbClr val="156082"/>
                </a:solidFill>
                <a:latin typeface="Malgun Gothic"/>
                <a:ea typeface="Malgun Gothic"/>
                <a:cs typeface="Malgun Gothic"/>
              </a:rPr>
              <a:t>실패가 다음 행동의 입력이 된다</a:t>
            </a:r>
          </a:p>
        </p:txBody>
      </p:sp>
      <p:sp>
        <p:nvSpPr>
          <p:cNvPr id="14" name="02-09-loop-v-right">
            <a:extLst>
              <a:ext uri="{FF2B5EF4-FFF2-40B4-BE49-F238E27FC236}">
                <a16:creationId xmlns:a16="http://schemas.microsoft.com/office/drawing/2014/main" id="{42BA8336-EA3D-46EC-A57C-B50F8FB858C5}"/>
              </a:ext>
            </a:extLst>
          </p:cNvPr>
          <p:cNvSpPr/>
          <p:nvPr/>
        </p:nvSpPr>
        <p:spPr>
          <a:xfrm>
            <a:off x="9090025" y="3263900"/>
            <a:ext cx="19050" cy="558800"/>
          </a:xfrm>
          <a:prstGeom prst="rect">
            <a:avLst/>
          </a:prstGeom>
          <a:solidFill>
            <a:srgbClr val="9AA6B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02-09-loop-h">
            <a:extLst>
              <a:ext uri="{FF2B5EF4-FFF2-40B4-BE49-F238E27FC236}">
                <a16:creationId xmlns:a16="http://schemas.microsoft.com/office/drawing/2014/main" id="{F05110EB-AAE2-4105-8C80-74605F67E257}"/>
              </a:ext>
            </a:extLst>
          </p:cNvPr>
          <p:cNvSpPr/>
          <p:nvPr/>
        </p:nvSpPr>
        <p:spPr>
          <a:xfrm>
            <a:off x="3105150" y="3803650"/>
            <a:ext cx="5988050" cy="19050"/>
          </a:xfrm>
          <a:prstGeom prst="rect">
            <a:avLst/>
          </a:prstGeom>
          <a:solidFill>
            <a:srgbClr val="9AA6B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02-09-loop-v-left">
            <a:extLst>
              <a:ext uri="{FF2B5EF4-FFF2-40B4-BE49-F238E27FC236}">
                <a16:creationId xmlns:a16="http://schemas.microsoft.com/office/drawing/2014/main" id="{B0B45C08-4C5B-40DB-A080-6355F0903D4F}"/>
              </a:ext>
            </a:extLst>
          </p:cNvPr>
          <p:cNvSpPr/>
          <p:nvPr/>
        </p:nvSpPr>
        <p:spPr>
          <a:xfrm>
            <a:off x="3098800" y="3263900"/>
            <a:ext cx="19050" cy="546100"/>
          </a:xfrm>
          <a:prstGeom prst="rect">
            <a:avLst/>
          </a:prstGeom>
          <a:solidFill>
            <a:srgbClr val="9AA6B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02-09-loop-arrow">
            <a:extLst>
              <a:ext uri="{FF2B5EF4-FFF2-40B4-BE49-F238E27FC236}">
                <a16:creationId xmlns:a16="http://schemas.microsoft.com/office/drawing/2014/main" id="{8C42C109-5799-4587-BDF8-FF9BF0E3213B}"/>
              </a:ext>
            </a:extLst>
          </p:cNvPr>
          <p:cNvSpPr/>
          <p:nvPr/>
        </p:nvSpPr>
        <p:spPr>
          <a:xfrm>
            <a:off x="3105150" y="3727450"/>
            <a:ext cx="177800" cy="152400"/>
          </a:xfrm>
          <a:prstGeom prst="leftArrow">
            <a:avLst/>
          </a:prstGeom>
          <a:solidFill>
            <a:srgbClr val="9AA6B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02-09-scopenote">
            <a:extLst>
              <a:ext uri="{FF2B5EF4-FFF2-40B4-BE49-F238E27FC236}">
                <a16:creationId xmlns:a16="http://schemas.microsoft.com/office/drawing/2014/main" id="{28611E4F-9595-4706-B9FB-6E472DFA9632}"/>
              </a:ext>
            </a:extLst>
          </p:cNvPr>
          <p:cNvSpPr txBox="1"/>
          <p:nvPr/>
        </p:nvSpPr>
        <p:spPr>
          <a:xfrm>
            <a:off x="723900" y="1600200"/>
            <a:ext cx="10744200" cy="355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ko-KR" altLang="en-US" sz="1700">
                <a:solidFill>
                  <a:srgbClr val="4F5A68"/>
                </a:solidFill>
                <a:latin typeface="Malgun Gothic"/>
                <a:ea typeface="Malgun Gothic"/>
              </a:rPr>
              <a:t>몇 번 돌릴지·언제 멈출지는 loop engineering이다. 여기서는 돌 수 있는 파이프가 있느냐만 본다.</a:t>
            </a:r>
            <a:endParaRPr lang="en-US" sz="1700">
              <a:solidFill>
                <a:srgbClr val="4F5A68"/>
              </a:solidFill>
              <a:latin typeface="Malgun Gothic"/>
              <a:ea typeface="Malgun Gothic"/>
            </a:endParaRPr>
          </a:p>
        </p:txBody>
      </p:sp>
      <p:sp>
        <p:nvSpPr>
          <p:cNvPr id="20" name="02-09-pathlabel">
            <a:extLst>
              <a:ext uri="{FF2B5EF4-FFF2-40B4-BE49-F238E27FC236}">
                <a16:creationId xmlns:a16="http://schemas.microsoft.com/office/drawing/2014/main" id="{542CF707-AC07-4DA2-9DF7-5B4D32CF0F80}"/>
              </a:ext>
            </a:extLst>
          </p:cNvPr>
          <p:cNvSpPr txBox="1"/>
          <p:nvPr/>
        </p:nvSpPr>
        <p:spPr>
          <a:xfrm>
            <a:off x="2524715" y="3911599"/>
            <a:ext cx="7344702" cy="895349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ctr">
              <a:defRPr sz="1600" b="1">
                <a:solidFill>
                  <a:srgbClr val="156082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2000" b="1" dirty="0">
                <a:solidFill>
                  <a:srgbClr val="156082"/>
                </a:solidFill>
                <a:latin typeface="Malgun Gothic"/>
                <a:ea typeface="Malgun Gothic"/>
                <a:cs typeface="Malgun Gothic"/>
              </a:rPr>
              <a:t>이 경로가 자동이면 — harness가 도는 루프</a:t>
            </a:r>
          </a:p>
          <a:p>
            <a:pPr algn="ctr">
              <a:defRPr sz="1600" b="0">
                <a:solidFill>
                  <a:srgbClr val="4F5A68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2000" b="0" dirty="0">
                <a:solidFill>
                  <a:srgbClr val="4F5A68"/>
                </a:solidFill>
                <a:latin typeface="Malgun Gothic"/>
                <a:ea typeface="Malgun Gothic"/>
                <a:cs typeface="Malgun Gothic"/>
              </a:rPr>
              <a:t>사람이 복사해 붙여넣으면 — 그 파이프를 사람이 대신한다</a:t>
            </a:r>
          </a:p>
        </p:txBody>
      </p:sp>
    </p:spTree>
    <p:extLst>
      <p:ext uri="{BB962C8B-B14F-4D97-AF65-F5344CB8AC3E}">
        <p14:creationId xmlns:p14="http://schemas.microsoft.com/office/powerpoint/2010/main" val="23043537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02-08-footer-section">
            <a:extLst>
              <a:ext uri="{FF2B5EF4-FFF2-40B4-BE49-F238E27FC236}">
                <a16:creationId xmlns:a16="http://schemas.microsoft.com/office/drawing/2014/main" id="{4F4B08B2-B495-4A5C-94AE-43465C44FAFD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HARNESS ENGINEERING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2-08-footer-page">
            <a:extLst>
              <a:ext uri="{FF2B5EF4-FFF2-40B4-BE49-F238E27FC236}">
                <a16:creationId xmlns:a16="http://schemas.microsoft.com/office/drawing/2014/main" id="{1D34FA4C-FAC1-4AC3-903D-64FCC3F9B76F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27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2-08-accent-rule">
            <a:extLst>
              <a:ext uri="{FF2B5EF4-FFF2-40B4-BE49-F238E27FC236}">
                <a16:creationId xmlns:a16="http://schemas.microsoft.com/office/drawing/2014/main" id="{639049D8-1FCF-4C18-ADD8-6AF532E6B224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2-08-title">
            <a:extLst>
              <a:ext uri="{FF2B5EF4-FFF2-40B4-BE49-F238E27FC236}">
                <a16:creationId xmlns:a16="http://schemas.microsoft.com/office/drawing/2014/main" id="{6793183F-A4AB-4E68-B35B-05559AB70627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승인과 전달은 다른 일이다</a:t>
            </a:r>
          </a:p>
        </p:txBody>
      </p:sp>
      <p:sp>
        <p:nvSpPr>
          <p:cNvPr id="5" name="02-08-divider">
            <a:extLst>
              <a:ext uri="{FF2B5EF4-FFF2-40B4-BE49-F238E27FC236}">
                <a16:creationId xmlns:a16="http://schemas.microsoft.com/office/drawing/2014/main" id="{35D1B57A-A6AA-4085-96E6-28CF25CAF9B0}"/>
              </a:ext>
            </a:extLst>
          </p:cNvPr>
          <p:cNvSpPr>
            <a:spLocks noGrp="1"/>
          </p:cNvSpPr>
          <p:nvPr/>
        </p:nvSpPr>
        <p:spPr>
          <a:xfrm>
            <a:off x="6096000" y="1676400"/>
            <a:ext cx="0" cy="317500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2-08-left-heading">
            <a:extLst>
              <a:ext uri="{FF2B5EF4-FFF2-40B4-BE49-F238E27FC236}">
                <a16:creationId xmlns:a16="http://schemas.microsoft.com/office/drawing/2014/main" id="{66AC355C-C99E-434F-83BF-311AD5FCA0F7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4857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사람이 해야 할 승인</a:t>
            </a:r>
          </a:p>
        </p:txBody>
      </p:sp>
      <p:sp>
        <p:nvSpPr>
          <p:cNvPr id="7" name="02-08-left-dot-1">
            <a:extLst>
              <a:ext uri="{FF2B5EF4-FFF2-40B4-BE49-F238E27FC236}">
                <a16:creationId xmlns:a16="http://schemas.microsoft.com/office/drawing/2014/main" id="{B7A8591B-3E60-475B-A7B2-A71DABA87A85}"/>
              </a:ext>
            </a:extLst>
          </p:cNvPr>
          <p:cNvSpPr>
            <a:spLocks noGrp="1"/>
          </p:cNvSpPr>
          <p:nvPr/>
        </p:nvSpPr>
        <p:spPr>
          <a:xfrm>
            <a:off x="72390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2-08-left-line-1">
            <a:extLst>
              <a:ext uri="{FF2B5EF4-FFF2-40B4-BE49-F238E27FC236}">
                <a16:creationId xmlns:a16="http://schemas.microsoft.com/office/drawing/2014/main" id="{F6EAD01A-BF33-4947-BE31-42BBACAA78E0}"/>
              </a:ext>
            </a:extLst>
          </p:cNvPr>
          <p:cNvSpPr>
            <a:spLocks noGrp="1"/>
          </p:cNvSpPr>
          <p:nvPr/>
        </p:nvSpPr>
        <p:spPr>
          <a:xfrm>
            <a:off x="952500" y="2362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이 diff를 머지할 것인가</a:t>
            </a:r>
          </a:p>
        </p:txBody>
      </p:sp>
      <p:sp>
        <p:nvSpPr>
          <p:cNvPr id="9" name="02-08-left-dot-2">
            <a:extLst>
              <a:ext uri="{FF2B5EF4-FFF2-40B4-BE49-F238E27FC236}">
                <a16:creationId xmlns:a16="http://schemas.microsoft.com/office/drawing/2014/main" id="{A60E93AC-74DB-4B9B-9F2F-A4CC6BC04CBD}"/>
              </a:ext>
            </a:extLst>
          </p:cNvPr>
          <p:cNvSpPr>
            <a:spLocks noGrp="1"/>
          </p:cNvSpPr>
          <p:nvPr/>
        </p:nvSpPr>
        <p:spPr>
          <a:xfrm>
            <a:off x="72390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2-08-left-line-2">
            <a:extLst>
              <a:ext uri="{FF2B5EF4-FFF2-40B4-BE49-F238E27FC236}">
                <a16:creationId xmlns:a16="http://schemas.microsoft.com/office/drawing/2014/main" id="{FD6F49AB-887A-4ABB-B50E-EC6F92DD1685}"/>
              </a:ext>
            </a:extLst>
          </p:cNvPr>
          <p:cNvSpPr>
            <a:spLocks noGrp="1"/>
          </p:cNvSpPr>
          <p:nvPr/>
        </p:nvSpPr>
        <p:spPr>
          <a:xfrm>
            <a:off x="952500" y="310515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이 위험을 받아들일 것인가</a:t>
            </a:r>
          </a:p>
        </p:txBody>
      </p:sp>
      <p:sp>
        <p:nvSpPr>
          <p:cNvPr id="11" name="02-08-left-dot-3">
            <a:extLst>
              <a:ext uri="{FF2B5EF4-FFF2-40B4-BE49-F238E27FC236}">
                <a16:creationId xmlns:a16="http://schemas.microsoft.com/office/drawing/2014/main" id="{7F63A2B1-CAA8-4C32-873C-E45BCD0719A5}"/>
              </a:ext>
            </a:extLst>
          </p:cNvPr>
          <p:cNvSpPr>
            <a:spLocks noGrp="1"/>
          </p:cNvSpPr>
          <p:nvPr/>
        </p:nvSpPr>
        <p:spPr>
          <a:xfrm>
            <a:off x="72390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2-08-left-line-3">
            <a:extLst>
              <a:ext uri="{FF2B5EF4-FFF2-40B4-BE49-F238E27FC236}">
                <a16:creationId xmlns:a16="http://schemas.microsoft.com/office/drawing/2014/main" id="{DAFC791F-B977-419D-9901-C1D7629AC79E}"/>
              </a:ext>
            </a:extLst>
          </p:cNvPr>
          <p:cNvSpPr>
            <a:spLocks noGrp="1"/>
          </p:cNvSpPr>
          <p:nvPr/>
        </p:nvSpPr>
        <p:spPr>
          <a:xfrm>
            <a:off x="952500" y="38481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요구사항에 맞는가</a:t>
            </a:r>
          </a:p>
        </p:txBody>
      </p:sp>
      <p:sp>
        <p:nvSpPr>
          <p:cNvPr id="13" name="02-08-right-heading">
            <a:extLst>
              <a:ext uri="{FF2B5EF4-FFF2-40B4-BE49-F238E27FC236}">
                <a16:creationId xmlns:a16="http://schemas.microsoft.com/office/drawing/2014/main" id="{31E77592-4F6D-44CF-B643-A9FB00F9C764}"/>
              </a:ext>
            </a:extLst>
          </p:cNvPr>
          <p:cNvSpPr>
            <a:spLocks noGrp="1"/>
          </p:cNvSpPr>
          <p:nvPr/>
        </p:nvSpPr>
        <p:spPr>
          <a:xfrm>
            <a:off x="6572250" y="1676400"/>
            <a:ext cx="4762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725" b="1" dirty="0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자동화해야 할 파이프</a:t>
            </a:r>
          </a:p>
        </p:txBody>
      </p:sp>
      <p:sp>
        <p:nvSpPr>
          <p:cNvPr id="14" name="02-08-right-dot-1">
            <a:extLst>
              <a:ext uri="{FF2B5EF4-FFF2-40B4-BE49-F238E27FC236}">
                <a16:creationId xmlns:a16="http://schemas.microsoft.com/office/drawing/2014/main" id="{79CF8810-08E0-43AB-A27D-876C0AD12D6C}"/>
              </a:ext>
            </a:extLst>
          </p:cNvPr>
          <p:cNvSpPr>
            <a:spLocks noGrp="1"/>
          </p:cNvSpPr>
          <p:nvPr/>
        </p:nvSpPr>
        <p:spPr>
          <a:xfrm>
            <a:off x="657225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02-08-right-line-1">
            <a:extLst>
              <a:ext uri="{FF2B5EF4-FFF2-40B4-BE49-F238E27FC236}">
                <a16:creationId xmlns:a16="http://schemas.microsoft.com/office/drawing/2014/main" id="{00DB35FA-36ED-44EA-966E-65897D6FB3DC}"/>
              </a:ext>
            </a:extLst>
          </p:cNvPr>
          <p:cNvSpPr>
            <a:spLocks noGrp="1"/>
          </p:cNvSpPr>
          <p:nvPr/>
        </p:nvSpPr>
        <p:spPr>
          <a:xfrm>
            <a:off x="6800850" y="2362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테스트 결과 전달</a:t>
            </a:r>
          </a:p>
        </p:txBody>
      </p:sp>
      <p:sp>
        <p:nvSpPr>
          <p:cNvPr id="16" name="02-08-right-dot-2">
            <a:extLst>
              <a:ext uri="{FF2B5EF4-FFF2-40B4-BE49-F238E27FC236}">
                <a16:creationId xmlns:a16="http://schemas.microsoft.com/office/drawing/2014/main" id="{DACEF245-07F3-4049-811C-24F13D8F2670}"/>
              </a:ext>
            </a:extLst>
          </p:cNvPr>
          <p:cNvSpPr>
            <a:spLocks noGrp="1"/>
          </p:cNvSpPr>
          <p:nvPr/>
        </p:nvSpPr>
        <p:spPr>
          <a:xfrm>
            <a:off x="657225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02-08-right-line-2">
            <a:extLst>
              <a:ext uri="{FF2B5EF4-FFF2-40B4-BE49-F238E27FC236}">
                <a16:creationId xmlns:a16="http://schemas.microsoft.com/office/drawing/2014/main" id="{5513145F-7E9E-440F-ACAF-9B95D614FF9B}"/>
              </a:ext>
            </a:extLst>
          </p:cNvPr>
          <p:cNvSpPr>
            <a:spLocks noGrp="1"/>
          </p:cNvSpPr>
          <p:nvPr/>
        </p:nvSpPr>
        <p:spPr>
          <a:xfrm>
            <a:off x="6800850" y="310515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린터 오류 전달</a:t>
            </a:r>
          </a:p>
        </p:txBody>
      </p:sp>
      <p:sp>
        <p:nvSpPr>
          <p:cNvPr id="18" name="02-08-right-dot-3">
            <a:extLst>
              <a:ext uri="{FF2B5EF4-FFF2-40B4-BE49-F238E27FC236}">
                <a16:creationId xmlns:a16="http://schemas.microsoft.com/office/drawing/2014/main" id="{83B5DEAA-C607-4751-9905-8B03CD672FC2}"/>
              </a:ext>
            </a:extLst>
          </p:cNvPr>
          <p:cNvSpPr>
            <a:spLocks noGrp="1"/>
          </p:cNvSpPr>
          <p:nvPr/>
        </p:nvSpPr>
        <p:spPr>
          <a:xfrm>
            <a:off x="657225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02-08-right-line-3">
            <a:extLst>
              <a:ext uri="{FF2B5EF4-FFF2-40B4-BE49-F238E27FC236}">
                <a16:creationId xmlns:a16="http://schemas.microsoft.com/office/drawing/2014/main" id="{07B57917-89E2-4DFE-A1B7-BBA87832B072}"/>
              </a:ext>
            </a:extLst>
          </p:cNvPr>
          <p:cNvSpPr>
            <a:spLocks noGrp="1"/>
          </p:cNvSpPr>
          <p:nvPr/>
        </p:nvSpPr>
        <p:spPr>
          <a:xfrm>
            <a:off x="6800850" y="38481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실패 로그 전달</a:t>
            </a:r>
          </a:p>
        </p:txBody>
      </p:sp>
      <p:sp>
        <p:nvSpPr>
          <p:cNvPr id="21" name="02-08-punch">
            <a:extLst>
              <a:ext uri="{FF2B5EF4-FFF2-40B4-BE49-F238E27FC236}">
                <a16:creationId xmlns:a16="http://schemas.microsoft.com/office/drawing/2014/main" id="{AA04ABA3-03B0-4DB3-8779-6247BC63514D}"/>
              </a:ext>
            </a:extLst>
          </p:cNvPr>
          <p:cNvSpPr txBox="1"/>
          <p:nvPr/>
        </p:nvSpPr>
        <p:spPr>
          <a:xfrm>
            <a:off x="723900" y="5029200"/>
            <a:ext cx="10744200" cy="558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ko-KR" altLang="en-US" sz="1900" b="1" dirty="0">
                <a:solidFill>
                  <a:srgbClr val="156082"/>
                </a:solidFill>
                <a:latin typeface="Malgun Gothic"/>
                <a:ea typeface="Malgun Gothic"/>
              </a:rPr>
              <a:t>복붙은 판단이 아니라, 없는 파이프를 사람이 대신하는 것이다</a:t>
            </a:r>
            <a:endParaRPr lang="en-US" sz="1900" b="1" dirty="0">
              <a:solidFill>
                <a:srgbClr val="156082"/>
              </a:solidFill>
              <a:latin typeface="Malgun Gothic"/>
              <a:ea typeface="Malgun Gothic"/>
            </a:endParaRPr>
          </a:p>
        </p:txBody>
      </p:sp>
      <p:sp>
        <p:nvSpPr>
          <p:cNvPr id="22" name="02-08-optional">
            <a:extLst>
              <a:ext uri="{FF2B5EF4-FFF2-40B4-BE49-F238E27FC236}">
                <a16:creationId xmlns:a16="http://schemas.microsoft.com/office/drawing/2014/main" id="{5A7FC800-6A6B-42AF-982E-B289E8CE5ADE}"/>
              </a:ext>
            </a:extLst>
          </p:cNvPr>
          <p:cNvSpPr txBox="1"/>
          <p:nvPr/>
        </p:nvSpPr>
        <p:spPr>
          <a:xfrm>
            <a:off x="9817100" y="482600"/>
            <a:ext cx="1663700" cy="254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900" b="1">
                <a:solidFill>
                  <a:srgbClr val="2878C7"/>
                </a:solidFill>
                <a:latin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34284187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02-10-footer-section">
            <a:extLst>
              <a:ext uri="{FF2B5EF4-FFF2-40B4-BE49-F238E27FC236}">
                <a16:creationId xmlns:a16="http://schemas.microsoft.com/office/drawing/2014/main" id="{B38CF382-D2E0-49CF-AB9E-F4A396DC4FDC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HARNESS ENGINEERING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2-10-footer-page">
            <a:extLst>
              <a:ext uri="{FF2B5EF4-FFF2-40B4-BE49-F238E27FC236}">
                <a16:creationId xmlns:a16="http://schemas.microsoft.com/office/drawing/2014/main" id="{ADD73263-2F0D-4113-808B-9C5CD2B894EF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28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2-10-accent-rule">
            <a:extLst>
              <a:ext uri="{FF2B5EF4-FFF2-40B4-BE49-F238E27FC236}">
                <a16:creationId xmlns:a16="http://schemas.microsoft.com/office/drawing/2014/main" id="{6C12CA69-8460-4A70-819C-A2CDB8D274C8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2-10-title">
            <a:extLst>
              <a:ext uri="{FF2B5EF4-FFF2-40B4-BE49-F238E27FC236}">
                <a16:creationId xmlns:a16="http://schemas.microsoft.com/office/drawing/2014/main" id="{120618F9-897E-467C-8FB0-7664F9860CE5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누가·무엇을·어떻게를 분리한다</a:t>
            </a:r>
          </a:p>
        </p:txBody>
      </p:sp>
      <p:sp>
        <p:nvSpPr>
          <p:cNvPr id="5" name="02-10-divider">
            <a:extLst>
              <a:ext uri="{FF2B5EF4-FFF2-40B4-BE49-F238E27FC236}">
                <a16:creationId xmlns:a16="http://schemas.microsoft.com/office/drawing/2014/main" id="{FF18BE08-E070-4EE2-AFC2-BD41BE747788}"/>
              </a:ext>
            </a:extLst>
          </p:cNvPr>
          <p:cNvSpPr>
            <a:spLocks noGrp="1"/>
          </p:cNvSpPr>
          <p:nvPr/>
        </p:nvSpPr>
        <p:spPr>
          <a:xfrm>
            <a:off x="6096000" y="2184400"/>
            <a:ext cx="0" cy="269240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2-10-left-heading">
            <a:extLst>
              <a:ext uri="{FF2B5EF4-FFF2-40B4-BE49-F238E27FC236}">
                <a16:creationId xmlns:a16="http://schemas.microsoft.com/office/drawing/2014/main" id="{18EF5B54-8A33-4F57-8FCE-F3CBBCE8E7FC}"/>
              </a:ext>
            </a:extLst>
          </p:cNvPr>
          <p:cNvSpPr>
            <a:spLocks noGrp="1"/>
          </p:cNvSpPr>
          <p:nvPr/>
        </p:nvSpPr>
        <p:spPr>
          <a:xfrm>
            <a:off x="723900" y="2184400"/>
            <a:ext cx="4857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미리 설계한다</a:t>
            </a:r>
          </a:p>
        </p:txBody>
      </p:sp>
      <p:sp>
        <p:nvSpPr>
          <p:cNvPr id="7" name="02-10-left-dot-1">
            <a:extLst>
              <a:ext uri="{FF2B5EF4-FFF2-40B4-BE49-F238E27FC236}">
                <a16:creationId xmlns:a16="http://schemas.microsoft.com/office/drawing/2014/main" id="{C695B446-9F62-47C6-9412-610A32E95F7E}"/>
              </a:ext>
            </a:extLst>
          </p:cNvPr>
          <p:cNvSpPr>
            <a:spLocks noGrp="1"/>
          </p:cNvSpPr>
          <p:nvPr/>
        </p:nvSpPr>
        <p:spPr>
          <a:xfrm>
            <a:off x="723900" y="2984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2-10-left-line-1">
            <a:extLst>
              <a:ext uri="{FF2B5EF4-FFF2-40B4-BE49-F238E27FC236}">
                <a16:creationId xmlns:a16="http://schemas.microsoft.com/office/drawing/2014/main" id="{34F7AD89-2041-46BE-81FC-93131F02515C}"/>
              </a:ext>
            </a:extLst>
          </p:cNvPr>
          <p:cNvSpPr>
            <a:spLocks noGrp="1"/>
          </p:cNvSpPr>
          <p:nvPr/>
        </p:nvSpPr>
        <p:spPr>
          <a:xfrm>
            <a:off x="952500" y="2870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Agent — 누가</a:t>
            </a:r>
          </a:p>
        </p:txBody>
      </p:sp>
      <p:sp>
        <p:nvSpPr>
          <p:cNvPr id="9" name="02-10-left-dot-2">
            <a:extLst>
              <a:ext uri="{FF2B5EF4-FFF2-40B4-BE49-F238E27FC236}">
                <a16:creationId xmlns:a16="http://schemas.microsoft.com/office/drawing/2014/main" id="{58622FA4-A053-4D46-966D-D0C57CC583CC}"/>
              </a:ext>
            </a:extLst>
          </p:cNvPr>
          <p:cNvSpPr>
            <a:spLocks noGrp="1"/>
          </p:cNvSpPr>
          <p:nvPr/>
        </p:nvSpPr>
        <p:spPr>
          <a:xfrm>
            <a:off x="723900" y="37338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2-10-left-line-2">
            <a:extLst>
              <a:ext uri="{FF2B5EF4-FFF2-40B4-BE49-F238E27FC236}">
                <a16:creationId xmlns:a16="http://schemas.microsoft.com/office/drawing/2014/main" id="{72198312-AA61-4E5F-8F15-E62C287B4675}"/>
              </a:ext>
            </a:extLst>
          </p:cNvPr>
          <p:cNvSpPr>
            <a:spLocks noGrp="1"/>
          </p:cNvSpPr>
          <p:nvPr/>
        </p:nvSpPr>
        <p:spPr>
          <a:xfrm>
            <a:off x="952500" y="36195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Skill — 어떻게</a:t>
            </a:r>
          </a:p>
        </p:txBody>
      </p:sp>
      <p:sp>
        <p:nvSpPr>
          <p:cNvPr id="11" name="02-10-right-heading">
            <a:extLst>
              <a:ext uri="{FF2B5EF4-FFF2-40B4-BE49-F238E27FC236}">
                <a16:creationId xmlns:a16="http://schemas.microsoft.com/office/drawing/2014/main" id="{96E344D8-CFB2-43E9-B6C4-AB426B4BCD97}"/>
              </a:ext>
            </a:extLst>
          </p:cNvPr>
          <p:cNvSpPr>
            <a:spLocks noGrp="1"/>
          </p:cNvSpPr>
          <p:nvPr/>
        </p:nvSpPr>
        <p:spPr>
          <a:xfrm>
            <a:off x="6572250" y="2184400"/>
            <a:ext cx="4762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매번 달라진다</a:t>
            </a:r>
          </a:p>
        </p:txBody>
      </p:sp>
      <p:sp>
        <p:nvSpPr>
          <p:cNvPr id="12" name="02-10-right-dot-1">
            <a:extLst>
              <a:ext uri="{FF2B5EF4-FFF2-40B4-BE49-F238E27FC236}">
                <a16:creationId xmlns:a16="http://schemas.microsoft.com/office/drawing/2014/main" id="{65EE8188-C2D1-437D-B0B0-DF715B0B3BE1}"/>
              </a:ext>
            </a:extLst>
          </p:cNvPr>
          <p:cNvSpPr>
            <a:spLocks noGrp="1"/>
          </p:cNvSpPr>
          <p:nvPr/>
        </p:nvSpPr>
        <p:spPr>
          <a:xfrm>
            <a:off x="6572250" y="2984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02-10-right-line-1">
            <a:extLst>
              <a:ext uri="{FF2B5EF4-FFF2-40B4-BE49-F238E27FC236}">
                <a16:creationId xmlns:a16="http://schemas.microsoft.com/office/drawing/2014/main" id="{3FC58ED5-294B-4993-9931-87798274FFAB}"/>
              </a:ext>
            </a:extLst>
          </p:cNvPr>
          <p:cNvSpPr>
            <a:spLocks noGrp="1"/>
          </p:cNvSpPr>
          <p:nvPr/>
        </p:nvSpPr>
        <p:spPr>
          <a:xfrm>
            <a:off x="6800850" y="2870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Task — 무엇을</a:t>
            </a:r>
          </a:p>
        </p:txBody>
      </p:sp>
      <p:sp>
        <p:nvSpPr>
          <p:cNvPr id="14" name="02-10-right-dot-2">
            <a:extLst>
              <a:ext uri="{FF2B5EF4-FFF2-40B4-BE49-F238E27FC236}">
                <a16:creationId xmlns:a16="http://schemas.microsoft.com/office/drawing/2014/main" id="{B3147C34-777D-4AF5-926F-365FB20FFFB7}"/>
              </a:ext>
            </a:extLst>
          </p:cNvPr>
          <p:cNvSpPr>
            <a:spLocks noGrp="1"/>
          </p:cNvSpPr>
          <p:nvPr/>
        </p:nvSpPr>
        <p:spPr>
          <a:xfrm>
            <a:off x="6572250" y="37338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02-10-right-line-2">
            <a:extLst>
              <a:ext uri="{FF2B5EF4-FFF2-40B4-BE49-F238E27FC236}">
                <a16:creationId xmlns:a16="http://schemas.microsoft.com/office/drawing/2014/main" id="{E5EAE157-9645-412E-B67F-6AC2C95DD0C2}"/>
              </a:ext>
            </a:extLst>
          </p:cNvPr>
          <p:cNvSpPr>
            <a:spLocks noGrp="1"/>
          </p:cNvSpPr>
          <p:nvPr/>
        </p:nvSpPr>
        <p:spPr>
          <a:xfrm>
            <a:off x="6800850" y="36195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오늘은 마이그레이션</a:t>
            </a:r>
          </a:p>
        </p:txBody>
      </p:sp>
      <p:sp>
        <p:nvSpPr>
          <p:cNvPr id="16" name="02-10-right-dot-3">
            <a:extLst>
              <a:ext uri="{FF2B5EF4-FFF2-40B4-BE49-F238E27FC236}">
                <a16:creationId xmlns:a16="http://schemas.microsoft.com/office/drawing/2014/main" id="{602B3E81-E48D-4C32-A08E-E813D5444185}"/>
              </a:ext>
            </a:extLst>
          </p:cNvPr>
          <p:cNvSpPr>
            <a:spLocks noGrp="1"/>
          </p:cNvSpPr>
          <p:nvPr/>
        </p:nvSpPr>
        <p:spPr>
          <a:xfrm>
            <a:off x="6572250" y="44831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02-10-right-line-3">
            <a:extLst>
              <a:ext uri="{FF2B5EF4-FFF2-40B4-BE49-F238E27FC236}">
                <a16:creationId xmlns:a16="http://schemas.microsoft.com/office/drawing/2014/main" id="{5837F4D6-456F-43AF-BD03-BE884E7BAB44}"/>
              </a:ext>
            </a:extLst>
          </p:cNvPr>
          <p:cNvSpPr>
            <a:spLocks noGrp="1"/>
          </p:cNvSpPr>
          <p:nvPr/>
        </p:nvSpPr>
        <p:spPr>
          <a:xfrm>
            <a:off x="6800850" y="43688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내일은 버그 수정</a:t>
            </a:r>
          </a:p>
        </p:txBody>
      </p:sp>
      <p:sp>
        <p:nvSpPr>
          <p:cNvPr id="19" name="02-10-scopenote">
            <a:extLst>
              <a:ext uri="{FF2B5EF4-FFF2-40B4-BE49-F238E27FC236}">
                <a16:creationId xmlns:a16="http://schemas.microsoft.com/office/drawing/2014/main" id="{9382A9F9-C382-4195-9B3D-FA43CD4D386B}"/>
              </a:ext>
            </a:extLst>
          </p:cNvPr>
          <p:cNvSpPr txBox="1"/>
          <p:nvPr/>
        </p:nvSpPr>
        <p:spPr>
          <a:xfrm>
            <a:off x="723900" y="1600200"/>
            <a:ext cx="10744200" cy="355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ko-KR" altLang="en-US" sz="1700">
                <a:solidFill>
                  <a:srgbClr val="4F5A68"/>
                </a:solidFill>
                <a:latin typeface="Malgun Gothic"/>
                <a:ea typeface="Malgun Gothic"/>
              </a:rPr>
              <a:t>다섯 축은 환경이 갖출 속성이고</a:t>
            </a:r>
            <a:r>
              <a:rPr lang="en-US" altLang="ko-KR" sz="1700">
                <a:solidFill>
                  <a:srgbClr val="4F5A68"/>
                </a:solidFill>
                <a:latin typeface="Malgun Gothic"/>
                <a:ea typeface="Malgun Gothic"/>
              </a:rPr>
              <a:t>, </a:t>
            </a:r>
            <a:r>
              <a:rPr lang="ko-KR" altLang="en-US" sz="1700">
                <a:solidFill>
                  <a:srgbClr val="4F5A68"/>
                </a:solidFill>
                <a:latin typeface="Malgun Gothic"/>
                <a:ea typeface="Malgun Gothic"/>
              </a:rPr>
              <a:t>이건 그 환경을 파일로 쪼개는 기준이다</a:t>
            </a:r>
            <a:endParaRPr lang="en-US" sz="1700">
              <a:solidFill>
                <a:srgbClr val="4F5A68"/>
              </a:solidFill>
              <a:latin typeface="Malgun Gothic"/>
              <a:ea typeface="Malgun Gothic"/>
            </a:endParaRPr>
          </a:p>
        </p:txBody>
      </p:sp>
      <p:sp>
        <p:nvSpPr>
          <p:cNvPr id="20" name="02-10-punch">
            <a:extLst>
              <a:ext uri="{FF2B5EF4-FFF2-40B4-BE49-F238E27FC236}">
                <a16:creationId xmlns:a16="http://schemas.microsoft.com/office/drawing/2014/main" id="{EC33937B-EB2A-41D9-9ED0-82A97918633A}"/>
              </a:ext>
            </a:extLst>
          </p:cNvPr>
          <p:cNvSpPr txBox="1"/>
          <p:nvPr/>
        </p:nvSpPr>
        <p:spPr>
          <a:xfrm>
            <a:off x="723900" y="5257800"/>
            <a:ext cx="10744200" cy="558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ko-KR" altLang="en-US" sz="1900" b="1">
                <a:solidFill>
                  <a:srgbClr val="156082"/>
                </a:solidFill>
                <a:latin typeface="Malgun Gothic"/>
                <a:ea typeface="Malgun Gothic"/>
              </a:rPr>
              <a:t>뭉치면 재사용이 안 되고</a:t>
            </a:r>
            <a:r>
              <a:rPr lang="en-US" altLang="ko-KR" sz="1900" b="1">
                <a:solidFill>
                  <a:srgbClr val="156082"/>
                </a:solidFill>
                <a:latin typeface="Malgun Gothic"/>
                <a:ea typeface="Malgun Gothic"/>
              </a:rPr>
              <a:t>, </a:t>
            </a:r>
            <a:r>
              <a:rPr lang="ko-KR" altLang="en-US" sz="1900" b="1">
                <a:solidFill>
                  <a:srgbClr val="156082"/>
                </a:solidFill>
                <a:latin typeface="Malgun Gothic"/>
                <a:ea typeface="Malgun Gothic"/>
              </a:rPr>
              <a:t>실패했을 때 어디가 문제인지 좁힐 수 없다</a:t>
            </a:r>
            <a:endParaRPr lang="en-US" sz="1900" b="1">
              <a:solidFill>
                <a:srgbClr val="156082"/>
              </a:solidFill>
              <a:latin typeface="Malgun Gothic"/>
              <a:ea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30092180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02-11-footer-section">
            <a:extLst>
              <a:ext uri="{FF2B5EF4-FFF2-40B4-BE49-F238E27FC236}">
                <a16:creationId xmlns:a16="http://schemas.microsoft.com/office/drawing/2014/main" id="{9EB12A8B-4EAA-4EAD-9937-FF93B59E1BA8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CODING PRINCIPLES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2-11-footer-page">
            <a:extLst>
              <a:ext uri="{FF2B5EF4-FFF2-40B4-BE49-F238E27FC236}">
                <a16:creationId xmlns:a16="http://schemas.microsoft.com/office/drawing/2014/main" id="{63A28116-3164-4594-8C01-1ED01767A898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29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2-11-accent-rule">
            <a:extLst>
              <a:ext uri="{FF2B5EF4-FFF2-40B4-BE49-F238E27FC236}">
                <a16:creationId xmlns:a16="http://schemas.microsoft.com/office/drawing/2014/main" id="{6E8D878A-7FA3-4CD2-AE52-2A203B076F31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2-11-title">
            <a:extLst>
              <a:ext uri="{FF2B5EF4-FFF2-40B4-BE49-F238E27FC236}">
                <a16:creationId xmlns:a16="http://schemas.microsoft.com/office/drawing/2014/main" id="{56F2AEB2-C2E8-484E-A93C-564AA240F3F1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2700" b="1" dirty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판정 문장을 쓸 수 있으면 게이트가 된다</a:t>
            </a:r>
          </a:p>
        </p:txBody>
      </p:sp>
      <p:sp>
        <p:nvSpPr>
          <p:cNvPr id="5" name="02-11-divider">
            <a:extLst>
              <a:ext uri="{FF2B5EF4-FFF2-40B4-BE49-F238E27FC236}">
                <a16:creationId xmlns:a16="http://schemas.microsoft.com/office/drawing/2014/main" id="{9B0B07A6-2A7D-4260-972C-42B9C2F92EB2}"/>
              </a:ext>
            </a:extLst>
          </p:cNvPr>
          <p:cNvSpPr>
            <a:spLocks noGrp="1"/>
          </p:cNvSpPr>
          <p:nvPr/>
        </p:nvSpPr>
        <p:spPr>
          <a:xfrm>
            <a:off x="4191000" y="2438400"/>
            <a:ext cx="0" cy="302260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2-11-left-heading">
            <a:extLst>
              <a:ext uri="{FF2B5EF4-FFF2-40B4-BE49-F238E27FC236}">
                <a16:creationId xmlns:a16="http://schemas.microsoft.com/office/drawing/2014/main" id="{F9B383A9-C755-4305-AB91-5711D628C184}"/>
              </a:ext>
            </a:extLst>
          </p:cNvPr>
          <p:cNvSpPr>
            <a:spLocks noGrp="1"/>
          </p:cNvSpPr>
          <p:nvPr/>
        </p:nvSpPr>
        <p:spPr>
          <a:xfrm>
            <a:off x="723900" y="2438400"/>
            <a:ext cx="3048000" cy="330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725" b="1" dirty="0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자동 게이트</a:t>
            </a:r>
          </a:p>
        </p:txBody>
      </p:sp>
      <p:sp>
        <p:nvSpPr>
          <p:cNvPr id="7" name="02-11-left-dot-1">
            <a:extLst>
              <a:ext uri="{FF2B5EF4-FFF2-40B4-BE49-F238E27FC236}">
                <a16:creationId xmlns:a16="http://schemas.microsoft.com/office/drawing/2014/main" id="{8A6B0DD8-CD0B-4883-BEEA-FD694C5E3E60}"/>
              </a:ext>
            </a:extLst>
          </p:cNvPr>
          <p:cNvSpPr>
            <a:spLocks noGrp="1"/>
          </p:cNvSpPr>
          <p:nvPr/>
        </p:nvSpPr>
        <p:spPr>
          <a:xfrm>
            <a:off x="723900" y="3568700"/>
            <a:ext cx="88900" cy="88900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2-11-left-line-1">
            <a:extLst>
              <a:ext uri="{FF2B5EF4-FFF2-40B4-BE49-F238E27FC236}">
                <a16:creationId xmlns:a16="http://schemas.microsoft.com/office/drawing/2014/main" id="{03E9A814-CBE2-4C8D-9E67-E829B1ADC238}"/>
              </a:ext>
            </a:extLst>
          </p:cNvPr>
          <p:cNvSpPr>
            <a:spLocks noGrp="1"/>
          </p:cNvSpPr>
          <p:nvPr/>
        </p:nvSpPr>
        <p:spPr>
          <a:xfrm>
            <a:off x="952500" y="3454400"/>
            <a:ext cx="2946400" cy="660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650" b="0" dirty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DRY — 중복률 임계치 초과 시 실패</a:t>
            </a:r>
          </a:p>
        </p:txBody>
      </p:sp>
      <p:sp>
        <p:nvSpPr>
          <p:cNvPr id="9" name="02-11-left-dot-2">
            <a:extLst>
              <a:ext uri="{FF2B5EF4-FFF2-40B4-BE49-F238E27FC236}">
                <a16:creationId xmlns:a16="http://schemas.microsoft.com/office/drawing/2014/main" id="{12CDF059-E483-4B48-BB9E-F4FD880F6975}"/>
              </a:ext>
            </a:extLst>
          </p:cNvPr>
          <p:cNvSpPr>
            <a:spLocks noGrp="1"/>
          </p:cNvSpPr>
          <p:nvPr/>
        </p:nvSpPr>
        <p:spPr>
          <a:xfrm>
            <a:off x="723900" y="4305300"/>
            <a:ext cx="88900" cy="88900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2-11-left-line-2">
            <a:extLst>
              <a:ext uri="{FF2B5EF4-FFF2-40B4-BE49-F238E27FC236}">
                <a16:creationId xmlns:a16="http://schemas.microsoft.com/office/drawing/2014/main" id="{4EAFB74F-195C-42B6-B975-973000800954}"/>
              </a:ext>
            </a:extLst>
          </p:cNvPr>
          <p:cNvSpPr>
            <a:spLocks noGrp="1"/>
          </p:cNvSpPr>
          <p:nvPr/>
        </p:nvSpPr>
        <p:spPr>
          <a:xfrm>
            <a:off x="952500" y="4191000"/>
            <a:ext cx="2946400" cy="660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650" b="0" dirty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SRP — 파일 400줄 초과 시 실패</a:t>
            </a:r>
          </a:p>
        </p:txBody>
      </p:sp>
      <p:sp>
        <p:nvSpPr>
          <p:cNvPr id="11" name="02-11-left-dot-3">
            <a:extLst>
              <a:ext uri="{FF2B5EF4-FFF2-40B4-BE49-F238E27FC236}">
                <a16:creationId xmlns:a16="http://schemas.microsoft.com/office/drawing/2014/main" id="{740F3911-A2FC-4686-8760-4F8D632FB082}"/>
              </a:ext>
            </a:extLst>
          </p:cNvPr>
          <p:cNvSpPr>
            <a:spLocks noGrp="1"/>
          </p:cNvSpPr>
          <p:nvPr/>
        </p:nvSpPr>
        <p:spPr>
          <a:xfrm>
            <a:off x="723900" y="5041900"/>
            <a:ext cx="88900" cy="88900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2-11-left-line-3">
            <a:extLst>
              <a:ext uri="{FF2B5EF4-FFF2-40B4-BE49-F238E27FC236}">
                <a16:creationId xmlns:a16="http://schemas.microsoft.com/office/drawing/2014/main" id="{F6AF889F-98AF-4FFB-A062-C4A6E6C4DCB3}"/>
              </a:ext>
            </a:extLst>
          </p:cNvPr>
          <p:cNvSpPr>
            <a:spLocks noGrp="1"/>
          </p:cNvSpPr>
          <p:nvPr/>
        </p:nvSpPr>
        <p:spPr>
          <a:xfrm>
            <a:off x="952500" y="4927600"/>
            <a:ext cx="2946400" cy="660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650" b="0" dirty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SoC — 레이어 역참조 시 실패</a:t>
            </a:r>
          </a:p>
        </p:txBody>
      </p:sp>
      <p:sp>
        <p:nvSpPr>
          <p:cNvPr id="13" name="02-11-right-heading">
            <a:extLst>
              <a:ext uri="{FF2B5EF4-FFF2-40B4-BE49-F238E27FC236}">
                <a16:creationId xmlns:a16="http://schemas.microsoft.com/office/drawing/2014/main" id="{FB3CA2B9-C434-4705-B915-B9B6536C8868}"/>
              </a:ext>
            </a:extLst>
          </p:cNvPr>
          <p:cNvSpPr>
            <a:spLocks noGrp="1"/>
          </p:cNvSpPr>
          <p:nvPr/>
        </p:nvSpPr>
        <p:spPr>
          <a:xfrm>
            <a:off x="4483100" y="2438400"/>
            <a:ext cx="3048000" cy="330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725" b="1" dirty="0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규칙으로 유도</a:t>
            </a:r>
          </a:p>
        </p:txBody>
      </p:sp>
      <p:sp>
        <p:nvSpPr>
          <p:cNvPr id="14" name="02-11-right-dot-1">
            <a:extLst>
              <a:ext uri="{FF2B5EF4-FFF2-40B4-BE49-F238E27FC236}">
                <a16:creationId xmlns:a16="http://schemas.microsoft.com/office/drawing/2014/main" id="{84C2F92E-4206-4F52-935D-77026436EFC4}"/>
              </a:ext>
            </a:extLst>
          </p:cNvPr>
          <p:cNvSpPr>
            <a:spLocks noGrp="1"/>
          </p:cNvSpPr>
          <p:nvPr/>
        </p:nvSpPr>
        <p:spPr>
          <a:xfrm>
            <a:off x="4483100" y="3568700"/>
            <a:ext cx="88900" cy="88900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02-11-right-line-1">
            <a:extLst>
              <a:ext uri="{FF2B5EF4-FFF2-40B4-BE49-F238E27FC236}">
                <a16:creationId xmlns:a16="http://schemas.microsoft.com/office/drawing/2014/main" id="{97FF89E4-C415-45A8-AA1F-3266BD804AD7}"/>
              </a:ext>
            </a:extLst>
          </p:cNvPr>
          <p:cNvSpPr>
            <a:spLocks noGrp="1"/>
          </p:cNvSpPr>
          <p:nvPr/>
        </p:nvSpPr>
        <p:spPr>
          <a:xfrm>
            <a:off x="4711700" y="3454400"/>
            <a:ext cx="2946400" cy="660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650" b="0" dirty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YAGNI — 변경 파일 수 상한</a:t>
            </a:r>
          </a:p>
        </p:txBody>
      </p:sp>
      <p:sp>
        <p:nvSpPr>
          <p:cNvPr id="16" name="02-11-right-dot-2">
            <a:extLst>
              <a:ext uri="{FF2B5EF4-FFF2-40B4-BE49-F238E27FC236}">
                <a16:creationId xmlns:a16="http://schemas.microsoft.com/office/drawing/2014/main" id="{4B2A983E-D57F-4ED0-9B67-464481116D38}"/>
              </a:ext>
            </a:extLst>
          </p:cNvPr>
          <p:cNvSpPr>
            <a:spLocks noGrp="1"/>
          </p:cNvSpPr>
          <p:nvPr/>
        </p:nvSpPr>
        <p:spPr>
          <a:xfrm>
            <a:off x="4483100" y="4305300"/>
            <a:ext cx="88900" cy="88900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02-11-right-line-2">
            <a:extLst>
              <a:ext uri="{FF2B5EF4-FFF2-40B4-BE49-F238E27FC236}">
                <a16:creationId xmlns:a16="http://schemas.microsoft.com/office/drawing/2014/main" id="{AD0E38E2-ECA7-4692-A8EF-65EC7EE95163}"/>
              </a:ext>
            </a:extLst>
          </p:cNvPr>
          <p:cNvSpPr>
            <a:spLocks noGrp="1"/>
          </p:cNvSpPr>
          <p:nvPr/>
        </p:nvSpPr>
        <p:spPr>
          <a:xfrm>
            <a:off x="4711700" y="4191000"/>
            <a:ext cx="2946400" cy="660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650" b="0" dirty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KISS — 복잡도 임계치</a:t>
            </a:r>
          </a:p>
        </p:txBody>
      </p:sp>
      <p:sp>
        <p:nvSpPr>
          <p:cNvPr id="18" name="02-11-right-dot-3">
            <a:extLst>
              <a:ext uri="{FF2B5EF4-FFF2-40B4-BE49-F238E27FC236}">
                <a16:creationId xmlns:a16="http://schemas.microsoft.com/office/drawing/2014/main" id="{2ECA196B-73E8-4C1B-85E8-425B4A8B59D6}"/>
              </a:ext>
            </a:extLst>
          </p:cNvPr>
          <p:cNvSpPr>
            <a:spLocks noGrp="1"/>
          </p:cNvSpPr>
          <p:nvPr/>
        </p:nvSpPr>
        <p:spPr>
          <a:xfrm>
            <a:off x="4483100" y="5041900"/>
            <a:ext cx="88900" cy="88900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02-11-right-line-3">
            <a:extLst>
              <a:ext uri="{FF2B5EF4-FFF2-40B4-BE49-F238E27FC236}">
                <a16:creationId xmlns:a16="http://schemas.microsoft.com/office/drawing/2014/main" id="{906B5EC8-8605-4BEE-9C97-69329AA2EE21}"/>
              </a:ext>
            </a:extLst>
          </p:cNvPr>
          <p:cNvSpPr>
            <a:spLocks noGrp="1"/>
          </p:cNvSpPr>
          <p:nvPr/>
        </p:nvSpPr>
        <p:spPr>
          <a:xfrm>
            <a:off x="4711700" y="4927600"/>
            <a:ext cx="2946400" cy="660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650" b="0" dirty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Rule of Three — 성급한 추상화 금지</a:t>
            </a:r>
          </a:p>
        </p:txBody>
      </p:sp>
      <p:sp>
        <p:nvSpPr>
          <p:cNvPr id="20" name="02-11-optional">
            <a:extLst>
              <a:ext uri="{FF2B5EF4-FFF2-40B4-BE49-F238E27FC236}">
                <a16:creationId xmlns:a16="http://schemas.microsoft.com/office/drawing/2014/main" id="{7DC7F11D-D9FE-48BB-A7CD-09C2145F1B6A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  <p:sp>
        <p:nvSpPr>
          <p:cNvPr id="22" name="02-11-scopenote">
            <a:extLst>
              <a:ext uri="{FF2B5EF4-FFF2-40B4-BE49-F238E27FC236}">
                <a16:creationId xmlns:a16="http://schemas.microsoft.com/office/drawing/2014/main" id="{2ACFC65B-56F0-43CE-81C3-5C103B82C9B4}"/>
              </a:ext>
            </a:extLst>
          </p:cNvPr>
          <p:cNvSpPr txBox="1"/>
          <p:nvPr/>
        </p:nvSpPr>
        <p:spPr>
          <a:xfrm>
            <a:off x="723900" y="1600200"/>
            <a:ext cx="10744200" cy="711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>
              <a:defRPr sz="1700" b="0">
                <a:solidFill>
                  <a:srgbClr val="4F5A68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700" b="0" dirty="0">
                <a:solidFill>
                  <a:srgbClr val="4F5A68"/>
                </a:solidFill>
                <a:latin typeface="Malgun Gothic"/>
                <a:ea typeface="Malgun Gothic"/>
                <a:cs typeface="Malgun Gothic"/>
              </a:rPr>
              <a:t>harness가 무엇인지 알았다면, 남은 질문은 하나다 — 그 안에서 무엇을 강제할 것인가</a:t>
            </a:r>
          </a:p>
          <a:p>
            <a:pPr algn="l">
              <a:defRPr sz="1500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500" b="0" dirty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여기서는 코드 수준. 프로세스 수준(SDD · DDD · TDD)은 다음 장이다</a:t>
            </a:r>
          </a:p>
        </p:txBody>
      </p:sp>
      <p:sp>
        <p:nvSpPr>
          <p:cNvPr id="23" name="02-11-punch">
            <a:extLst>
              <a:ext uri="{FF2B5EF4-FFF2-40B4-BE49-F238E27FC236}">
                <a16:creationId xmlns:a16="http://schemas.microsoft.com/office/drawing/2014/main" id="{26C52E28-030B-4FFD-9BB0-A9CBF27DEFF7}"/>
              </a:ext>
            </a:extLst>
          </p:cNvPr>
          <p:cNvSpPr txBox="1"/>
          <p:nvPr/>
        </p:nvSpPr>
        <p:spPr>
          <a:xfrm>
            <a:off x="723900" y="5689600"/>
            <a:ext cx="107442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>
              <a:defRPr sz="1900" b="1">
                <a:solidFill>
                  <a:srgbClr val="156082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900" b="1" dirty="0">
                <a:solidFill>
                  <a:srgbClr val="156082"/>
                </a:solidFill>
                <a:latin typeface="Malgun Gothic"/>
                <a:ea typeface="Malgun Gothic"/>
                <a:cs typeface="Malgun Gothic"/>
              </a:rPr>
              <a:t>칸은 고정이 아니다. 판정 문장을 쓸 수 있게 되는 순간 왼쪽으로 옮겨간다</a:t>
            </a:r>
          </a:p>
        </p:txBody>
      </p:sp>
      <p:sp>
        <p:nvSpPr>
          <p:cNvPr id="24" name="02-11-third-heading">
            <a:extLst>
              <a:ext uri="{FF2B5EF4-FFF2-40B4-BE49-F238E27FC236}">
                <a16:creationId xmlns:a16="http://schemas.microsoft.com/office/drawing/2014/main" id="{4D522DFA-9B9D-4F12-AE28-58621D389A44}"/>
              </a:ext>
            </a:extLst>
          </p:cNvPr>
          <p:cNvSpPr txBox="1"/>
          <p:nvPr/>
        </p:nvSpPr>
        <p:spPr>
          <a:xfrm>
            <a:off x="8242300" y="2438400"/>
            <a:ext cx="3048000" cy="330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725" b="1" dirty="0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사람이 판단</a:t>
            </a:r>
          </a:p>
        </p:txBody>
      </p:sp>
      <p:sp>
        <p:nvSpPr>
          <p:cNvPr id="25" name="02-11-third-line-1">
            <a:extLst>
              <a:ext uri="{FF2B5EF4-FFF2-40B4-BE49-F238E27FC236}">
                <a16:creationId xmlns:a16="http://schemas.microsoft.com/office/drawing/2014/main" id="{65F7B32B-744F-49AB-BB0F-827BAD1B9F58}"/>
              </a:ext>
            </a:extLst>
          </p:cNvPr>
          <p:cNvSpPr txBox="1"/>
          <p:nvPr/>
        </p:nvSpPr>
        <p:spPr>
          <a:xfrm>
            <a:off x="8470900" y="3454400"/>
            <a:ext cx="2946400" cy="660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650" b="0" dirty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Meaningful Naming — 이 도메인에서 맞는 이름인가</a:t>
            </a:r>
          </a:p>
        </p:txBody>
      </p:sp>
      <p:sp>
        <p:nvSpPr>
          <p:cNvPr id="26" name="02-11-third-dot-1">
            <a:extLst>
              <a:ext uri="{FF2B5EF4-FFF2-40B4-BE49-F238E27FC236}">
                <a16:creationId xmlns:a16="http://schemas.microsoft.com/office/drawing/2014/main" id="{55740133-DE28-45C5-9867-EA71E1ACA047}"/>
              </a:ext>
            </a:extLst>
          </p:cNvPr>
          <p:cNvSpPr/>
          <p:nvPr/>
        </p:nvSpPr>
        <p:spPr>
          <a:xfrm>
            <a:off x="8242300" y="3568700"/>
            <a:ext cx="88900" cy="88900"/>
          </a:xfrm>
          <a:prstGeom prst="ellipse">
            <a:avLst/>
          </a:prstGeom>
          <a:solidFill>
            <a:srgbClr val="18222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02-11-subdef-1">
            <a:extLst>
              <a:ext uri="{FF2B5EF4-FFF2-40B4-BE49-F238E27FC236}">
                <a16:creationId xmlns:a16="http://schemas.microsoft.com/office/drawing/2014/main" id="{7C75E932-974C-4DD2-A235-3A7B48F5AFD4}"/>
              </a:ext>
            </a:extLst>
          </p:cNvPr>
          <p:cNvSpPr txBox="1"/>
          <p:nvPr/>
        </p:nvSpPr>
        <p:spPr>
          <a:xfrm>
            <a:off x="723900" y="2844800"/>
            <a:ext cx="3048000" cy="533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>
              <a:defRPr sz="1400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400" b="0" dirty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명령어가 통과/실패를 판정한다</a:t>
            </a:r>
          </a:p>
        </p:txBody>
      </p:sp>
      <p:sp>
        <p:nvSpPr>
          <p:cNvPr id="28" name="02-11-subdef-2">
            <a:extLst>
              <a:ext uri="{FF2B5EF4-FFF2-40B4-BE49-F238E27FC236}">
                <a16:creationId xmlns:a16="http://schemas.microsoft.com/office/drawing/2014/main" id="{5C40EE11-518D-48C4-B82E-D3F99071564A}"/>
              </a:ext>
            </a:extLst>
          </p:cNvPr>
          <p:cNvSpPr txBox="1"/>
          <p:nvPr/>
        </p:nvSpPr>
        <p:spPr>
          <a:xfrm>
            <a:off x="4483100" y="2844800"/>
            <a:ext cx="3048000" cy="533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>
              <a:defRPr sz="1400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400" b="0" dirty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판정은 되지만 우회할 수 있다</a:t>
            </a:r>
          </a:p>
        </p:txBody>
      </p:sp>
      <p:sp>
        <p:nvSpPr>
          <p:cNvPr id="29" name="02-11-subdef-3">
            <a:extLst>
              <a:ext uri="{FF2B5EF4-FFF2-40B4-BE49-F238E27FC236}">
                <a16:creationId xmlns:a16="http://schemas.microsoft.com/office/drawing/2014/main" id="{03FFCFB3-1C69-421C-943B-71333BFE1993}"/>
              </a:ext>
            </a:extLst>
          </p:cNvPr>
          <p:cNvSpPr txBox="1"/>
          <p:nvPr/>
        </p:nvSpPr>
        <p:spPr>
          <a:xfrm>
            <a:off x="8242300" y="2844800"/>
            <a:ext cx="3048000" cy="533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>
              <a:defRPr sz="1400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400" b="0" dirty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판정 문장을 쓸 수 없다</a:t>
            </a:r>
          </a:p>
        </p:txBody>
      </p:sp>
      <p:sp>
        <p:nvSpPr>
          <p:cNvPr id="30" name="02-11-divider-2">
            <a:extLst>
              <a:ext uri="{FF2B5EF4-FFF2-40B4-BE49-F238E27FC236}">
                <a16:creationId xmlns:a16="http://schemas.microsoft.com/office/drawing/2014/main" id="{575A53CD-761A-4B42-B782-6E2B4CB86F08}"/>
              </a:ext>
            </a:extLst>
          </p:cNvPr>
          <p:cNvSpPr/>
          <p:nvPr/>
        </p:nvSpPr>
        <p:spPr>
          <a:xfrm>
            <a:off x="7950200" y="2438400"/>
            <a:ext cx="12700" cy="3022600"/>
          </a:xfrm>
          <a:prstGeom prst="rect">
            <a:avLst/>
          </a:prstGeom>
          <a:solidFill>
            <a:srgbClr val="C9D3D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2124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02-12-footer-section">
            <a:extLst>
              <a:ext uri="{FF2B5EF4-FFF2-40B4-BE49-F238E27FC236}">
                <a16:creationId xmlns:a16="http://schemas.microsoft.com/office/drawing/2014/main" id="{9DFBB92E-0C33-4E74-950A-F07C3DEE32FF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CODING PRINCIPLES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2-12-footer-page">
            <a:extLst>
              <a:ext uri="{FF2B5EF4-FFF2-40B4-BE49-F238E27FC236}">
                <a16:creationId xmlns:a16="http://schemas.microsoft.com/office/drawing/2014/main" id="{C76C4057-AE67-4D8F-A8DB-C1F36C069F7F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30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2-12-accent-rule">
            <a:extLst>
              <a:ext uri="{FF2B5EF4-FFF2-40B4-BE49-F238E27FC236}">
                <a16:creationId xmlns:a16="http://schemas.microsoft.com/office/drawing/2014/main" id="{C24E0054-EA44-4F37-8BDF-62CF0987BF03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2-12-title">
            <a:extLst>
              <a:ext uri="{FF2B5EF4-FFF2-40B4-BE49-F238E27FC236}">
                <a16:creationId xmlns:a16="http://schemas.microsoft.com/office/drawing/2014/main" id="{9014F1BE-B638-4DAF-9171-BEB3DBC1B57D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원칙만으로 해결되는 실패는 없다</a:t>
            </a:r>
          </a:p>
        </p:txBody>
      </p:sp>
      <p:sp>
        <p:nvSpPr>
          <p:cNvPr id="5" name="02-12-bullet-1">
            <a:extLst>
              <a:ext uri="{FF2B5EF4-FFF2-40B4-BE49-F238E27FC236}">
                <a16:creationId xmlns:a16="http://schemas.microsoft.com/office/drawing/2014/main" id="{23837924-4B4F-4C54-90EF-EAAB699A633C}"/>
              </a:ext>
            </a:extLst>
          </p:cNvPr>
          <p:cNvSpPr>
            <a:spLocks noGrp="1"/>
          </p:cNvSpPr>
          <p:nvPr/>
        </p:nvSpPr>
        <p:spPr>
          <a:xfrm>
            <a:off x="876300" y="19240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2-12-body-1">
            <a:extLst>
              <a:ext uri="{FF2B5EF4-FFF2-40B4-BE49-F238E27FC236}">
                <a16:creationId xmlns:a16="http://schemas.microsoft.com/office/drawing/2014/main" id="{EBC109F3-C29E-49AA-BC94-62E888DB0D13}"/>
              </a:ext>
            </a:extLst>
          </p:cNvPr>
          <p:cNvSpPr>
            <a:spLocks noGrp="1"/>
          </p:cNvSpPr>
          <p:nvPr/>
        </p:nvSpPr>
        <p:spPr>
          <a:xfrm>
            <a:off x="1143000" y="18097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과잉 구현 → YAGNI가 줄인다</a:t>
            </a:r>
          </a:p>
        </p:txBody>
      </p:sp>
      <p:sp>
        <p:nvSpPr>
          <p:cNvPr id="7" name="02-12-bullet-2">
            <a:extLst>
              <a:ext uri="{FF2B5EF4-FFF2-40B4-BE49-F238E27FC236}">
                <a16:creationId xmlns:a16="http://schemas.microsoft.com/office/drawing/2014/main" id="{B1E20D29-6E41-4C75-9E86-554E2C28B6AF}"/>
              </a:ext>
            </a:extLst>
          </p:cNvPr>
          <p:cNvSpPr>
            <a:spLocks noGrp="1"/>
          </p:cNvSpPr>
          <p:nvPr/>
        </p:nvSpPr>
        <p:spPr>
          <a:xfrm>
            <a:off x="876300" y="24765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2-12-body-2">
            <a:extLst>
              <a:ext uri="{FF2B5EF4-FFF2-40B4-BE49-F238E27FC236}">
                <a16:creationId xmlns:a16="http://schemas.microsoft.com/office/drawing/2014/main" id="{15EB63BE-38BE-44A6-93B2-5601A999C3EB}"/>
              </a:ext>
            </a:extLst>
          </p:cNvPr>
          <p:cNvSpPr>
            <a:spLocks noGrp="1"/>
          </p:cNvSpPr>
          <p:nvPr/>
        </p:nvSpPr>
        <p:spPr>
          <a:xfrm>
            <a:off x="1143000" y="236220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누락 → 검증 게이트가 잡는다</a:t>
            </a:r>
          </a:p>
        </p:txBody>
      </p:sp>
      <p:sp>
        <p:nvSpPr>
          <p:cNvPr id="9" name="02-12-bullet-3">
            <a:extLst>
              <a:ext uri="{FF2B5EF4-FFF2-40B4-BE49-F238E27FC236}">
                <a16:creationId xmlns:a16="http://schemas.microsoft.com/office/drawing/2014/main" id="{E24370C3-B0D8-4391-8547-DB1830401F42}"/>
              </a:ext>
            </a:extLst>
          </p:cNvPr>
          <p:cNvSpPr>
            <a:spLocks noGrp="1"/>
          </p:cNvSpPr>
          <p:nvPr/>
        </p:nvSpPr>
        <p:spPr>
          <a:xfrm>
            <a:off x="876300" y="30289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2-12-body-3">
            <a:extLst>
              <a:ext uri="{FF2B5EF4-FFF2-40B4-BE49-F238E27FC236}">
                <a16:creationId xmlns:a16="http://schemas.microsoft.com/office/drawing/2014/main" id="{0EE7D010-4173-426B-968B-9A24241AA1B5}"/>
              </a:ext>
            </a:extLst>
          </p:cNvPr>
          <p:cNvSpPr>
            <a:spLocks noGrp="1"/>
          </p:cNvSpPr>
          <p:nvPr/>
        </p:nvSpPr>
        <p:spPr>
          <a:xfrm>
            <a:off x="1143000" y="29146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왜곡 → 용어집이 줄인다</a:t>
            </a:r>
          </a:p>
        </p:txBody>
      </p:sp>
      <p:sp>
        <p:nvSpPr>
          <p:cNvPr id="11" name="02-12-bullet-4">
            <a:extLst>
              <a:ext uri="{FF2B5EF4-FFF2-40B4-BE49-F238E27FC236}">
                <a16:creationId xmlns:a16="http://schemas.microsoft.com/office/drawing/2014/main" id="{1E543C16-138A-4A1A-A1EE-8D9F104894FF}"/>
              </a:ext>
            </a:extLst>
          </p:cNvPr>
          <p:cNvSpPr>
            <a:spLocks noGrp="1"/>
          </p:cNvSpPr>
          <p:nvPr/>
        </p:nvSpPr>
        <p:spPr>
          <a:xfrm>
            <a:off x="876300" y="35814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2-12-body-4">
            <a:extLst>
              <a:ext uri="{FF2B5EF4-FFF2-40B4-BE49-F238E27FC236}">
                <a16:creationId xmlns:a16="http://schemas.microsoft.com/office/drawing/2014/main" id="{AEBEE428-5971-4B19-8B1D-70476943A6C9}"/>
              </a:ext>
            </a:extLst>
          </p:cNvPr>
          <p:cNvSpPr>
            <a:spLocks noGrp="1"/>
          </p:cNvSpPr>
          <p:nvPr/>
        </p:nvSpPr>
        <p:spPr>
          <a:xfrm>
            <a:off x="1143000" y="346710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할루시네이션 → 실행해 봐야 안다</a:t>
            </a:r>
          </a:p>
        </p:txBody>
      </p:sp>
      <p:sp>
        <p:nvSpPr>
          <p:cNvPr id="13" name="02-12-optional">
            <a:extLst>
              <a:ext uri="{FF2B5EF4-FFF2-40B4-BE49-F238E27FC236}">
                <a16:creationId xmlns:a16="http://schemas.microsoft.com/office/drawing/2014/main" id="{237D9093-A1E4-4AEE-B61E-227C8A730D4B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175561860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02-13-footer-section">
            <a:extLst>
              <a:ext uri="{FF2B5EF4-FFF2-40B4-BE49-F238E27FC236}">
                <a16:creationId xmlns:a16="http://schemas.microsoft.com/office/drawing/2014/main" id="{456F7231-50BA-4181-AF12-61F3456F2969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CODING PRINCIPLES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2-13-footer-page">
            <a:extLst>
              <a:ext uri="{FF2B5EF4-FFF2-40B4-BE49-F238E27FC236}">
                <a16:creationId xmlns:a16="http://schemas.microsoft.com/office/drawing/2014/main" id="{F2273240-5FA8-4BEA-9828-A3F3399C0F31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31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2-13-accent-rule">
            <a:extLst>
              <a:ext uri="{FF2B5EF4-FFF2-40B4-BE49-F238E27FC236}">
                <a16:creationId xmlns:a16="http://schemas.microsoft.com/office/drawing/2014/main" id="{4E0076E9-EC1F-4FB2-B614-428D8FAFA921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2-13-title">
            <a:extLst>
              <a:ext uri="{FF2B5EF4-FFF2-40B4-BE49-F238E27FC236}">
                <a16:creationId xmlns:a16="http://schemas.microsoft.com/office/drawing/2014/main" id="{F77F3798-250F-487C-BAB6-DAF1915F0613}"/>
              </a:ext>
            </a:extLst>
          </p:cNvPr>
          <p:cNvSpPr>
            <a:spLocks noGrp="1"/>
          </p:cNvSpPr>
          <p:nvPr/>
        </p:nvSpPr>
        <p:spPr>
          <a:xfrm>
            <a:off x="723900" y="704850"/>
            <a:ext cx="1028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루프에는 종료 조건이 필요하다</a:t>
            </a:r>
          </a:p>
        </p:txBody>
      </p:sp>
      <p:sp>
        <p:nvSpPr>
          <p:cNvPr id="5" name="02-13-bullet-1">
            <a:extLst>
              <a:ext uri="{FF2B5EF4-FFF2-40B4-BE49-F238E27FC236}">
                <a16:creationId xmlns:a16="http://schemas.microsoft.com/office/drawing/2014/main" id="{04742340-801F-41B9-87A5-7693A3A69199}"/>
              </a:ext>
            </a:extLst>
          </p:cNvPr>
          <p:cNvSpPr>
            <a:spLocks noGrp="1"/>
          </p:cNvSpPr>
          <p:nvPr/>
        </p:nvSpPr>
        <p:spPr>
          <a:xfrm>
            <a:off x="876300" y="206692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2-13-body-1">
            <a:extLst>
              <a:ext uri="{FF2B5EF4-FFF2-40B4-BE49-F238E27FC236}">
                <a16:creationId xmlns:a16="http://schemas.microsoft.com/office/drawing/2014/main" id="{17D1857A-FE7C-424B-B050-8134C93A68CC}"/>
              </a:ext>
            </a:extLst>
          </p:cNvPr>
          <p:cNvSpPr>
            <a:spLocks noGrp="1"/>
          </p:cNvSpPr>
          <p:nvPr/>
        </p:nvSpPr>
        <p:spPr>
          <a:xfrm>
            <a:off x="1143000" y="195262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토큰은 무한하지 않다</a:t>
            </a:r>
          </a:p>
        </p:txBody>
      </p:sp>
      <p:sp>
        <p:nvSpPr>
          <p:cNvPr id="7" name="02-13-bullet-2">
            <a:extLst>
              <a:ext uri="{FF2B5EF4-FFF2-40B4-BE49-F238E27FC236}">
                <a16:creationId xmlns:a16="http://schemas.microsoft.com/office/drawing/2014/main" id="{C4D36DBE-8483-4E6B-816D-7EF9E5C06E25}"/>
              </a:ext>
            </a:extLst>
          </p:cNvPr>
          <p:cNvSpPr>
            <a:spLocks noGrp="1"/>
          </p:cNvSpPr>
          <p:nvPr/>
        </p:nvSpPr>
        <p:spPr>
          <a:xfrm>
            <a:off x="876300" y="284797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2-13-body-2">
            <a:extLst>
              <a:ext uri="{FF2B5EF4-FFF2-40B4-BE49-F238E27FC236}">
                <a16:creationId xmlns:a16="http://schemas.microsoft.com/office/drawing/2014/main" id="{5A9679E9-6C45-4DED-9F97-0ED43D1644F3}"/>
              </a:ext>
            </a:extLst>
          </p:cNvPr>
          <p:cNvSpPr>
            <a:spLocks noGrp="1"/>
          </p:cNvSpPr>
          <p:nvPr/>
        </p:nvSpPr>
        <p:spPr>
          <a:xfrm>
            <a:off x="1143000" y="273367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정확한 경계와 함께 쓴다</a:t>
            </a:r>
          </a:p>
        </p:txBody>
      </p:sp>
      <p:sp>
        <p:nvSpPr>
          <p:cNvPr id="9" name="02-13-bullet-3">
            <a:extLst>
              <a:ext uri="{FF2B5EF4-FFF2-40B4-BE49-F238E27FC236}">
                <a16:creationId xmlns:a16="http://schemas.microsoft.com/office/drawing/2014/main" id="{B4D624D6-064B-4CFF-8E63-79E160CA9813}"/>
              </a:ext>
            </a:extLst>
          </p:cNvPr>
          <p:cNvSpPr>
            <a:spLocks noGrp="1"/>
          </p:cNvSpPr>
          <p:nvPr/>
        </p:nvSpPr>
        <p:spPr>
          <a:xfrm>
            <a:off x="876300" y="362902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2-13-body-3">
            <a:extLst>
              <a:ext uri="{FF2B5EF4-FFF2-40B4-BE49-F238E27FC236}">
                <a16:creationId xmlns:a16="http://schemas.microsoft.com/office/drawing/2014/main" id="{317E97E7-B229-4775-A2CF-DB7A314FC52E}"/>
              </a:ext>
            </a:extLst>
          </p:cNvPr>
          <p:cNvSpPr>
            <a:spLocks noGrp="1"/>
          </p:cNvSpPr>
          <p:nvPr/>
        </p:nvSpPr>
        <p:spPr>
          <a:xfrm>
            <a:off x="1143000" y="351472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실패 횟수·시간·승인 지점을 명시한다</a:t>
            </a:r>
          </a:p>
        </p:txBody>
      </p:sp>
      <p:sp>
        <p:nvSpPr>
          <p:cNvPr id="11" name="02-13-optional">
            <a:extLst>
              <a:ext uri="{FF2B5EF4-FFF2-40B4-BE49-F238E27FC236}">
                <a16:creationId xmlns:a16="http://schemas.microsoft.com/office/drawing/2014/main" id="{ADA4E212-8111-4592-A7B7-36E7C4D94719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19843712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02-14-footer-section">
            <a:extLst>
              <a:ext uri="{FF2B5EF4-FFF2-40B4-BE49-F238E27FC236}">
                <a16:creationId xmlns:a16="http://schemas.microsoft.com/office/drawing/2014/main" id="{3FADEB1C-18A2-40EA-BB29-5E0B7E755923}"/>
              </a:ext>
            </a:extLst>
          </p:cNvPr>
          <p:cNvSpPr>
            <a:spLocks noGrp="1"/>
          </p:cNvSpPr>
          <p:nvPr/>
        </p:nvSpPr>
        <p:spPr>
          <a:xfrm>
            <a:off x="19494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CODING PRINCIPLES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2-14-footer-page">
            <a:extLst>
              <a:ext uri="{FF2B5EF4-FFF2-40B4-BE49-F238E27FC236}">
                <a16:creationId xmlns:a16="http://schemas.microsoft.com/office/drawing/2014/main" id="{491098FB-1773-4E9A-81CF-BBA2546E88E4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32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2-14-accent-rule">
            <a:extLst>
              <a:ext uri="{FF2B5EF4-FFF2-40B4-BE49-F238E27FC236}">
                <a16:creationId xmlns:a16="http://schemas.microsoft.com/office/drawing/2014/main" id="{242E96AB-0E9A-47EE-BBEA-413205ADA58F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10477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2-14-title">
            <a:extLst>
              <a:ext uri="{FF2B5EF4-FFF2-40B4-BE49-F238E27FC236}">
                <a16:creationId xmlns:a16="http://schemas.microsoft.com/office/drawing/2014/main" id="{49A88DA2-55EF-48C2-AB7D-99AC1945EAFD}"/>
              </a:ext>
            </a:extLst>
          </p:cNvPr>
          <p:cNvSpPr>
            <a:spLocks noGrp="1"/>
          </p:cNvSpPr>
          <p:nvPr/>
        </p:nvSpPr>
        <p:spPr>
          <a:xfrm>
            <a:off x="723900" y="60960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9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책임질 수 있게 만드는 장치가 harness다</a:t>
            </a:r>
          </a:p>
        </p:txBody>
      </p:sp>
      <p:sp>
        <p:nvSpPr>
          <p:cNvPr id="5" name="02-14-number-1">
            <a:extLst>
              <a:ext uri="{FF2B5EF4-FFF2-40B4-BE49-F238E27FC236}">
                <a16:creationId xmlns:a16="http://schemas.microsoft.com/office/drawing/2014/main" id="{C82D9411-15BB-414F-8069-C50D1E6F0CE3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6" name="02-14-rule-1">
            <a:extLst>
              <a:ext uri="{FF2B5EF4-FFF2-40B4-BE49-F238E27FC236}">
                <a16:creationId xmlns:a16="http://schemas.microsoft.com/office/drawing/2014/main" id="{C95D750B-3710-4F20-B00A-0FA2399755BE}"/>
              </a:ext>
            </a:extLst>
          </p:cNvPr>
          <p:cNvSpPr>
            <a:spLocks noGrp="1"/>
          </p:cNvSpPr>
          <p:nvPr/>
        </p:nvSpPr>
        <p:spPr>
          <a:xfrm>
            <a:off x="1428750" y="200025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2-14-summary-1">
            <a:extLst>
              <a:ext uri="{FF2B5EF4-FFF2-40B4-BE49-F238E27FC236}">
                <a16:creationId xmlns:a16="http://schemas.microsoft.com/office/drawing/2014/main" id="{9922EA17-1081-4D3F-8BCE-B5A181E6D71F}"/>
              </a:ext>
            </a:extLst>
          </p:cNvPr>
          <p:cNvSpPr>
            <a:spLocks noGrp="1"/>
          </p:cNvSpPr>
          <p:nvPr/>
        </p:nvSpPr>
        <p:spPr>
          <a:xfrm>
            <a:off x="2209800" y="175260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환경은 다섯 축으로 본다</a:t>
            </a:r>
          </a:p>
        </p:txBody>
      </p:sp>
      <p:sp>
        <p:nvSpPr>
          <p:cNvPr id="8" name="02-14-number-2">
            <a:extLst>
              <a:ext uri="{FF2B5EF4-FFF2-40B4-BE49-F238E27FC236}">
                <a16:creationId xmlns:a16="http://schemas.microsoft.com/office/drawing/2014/main" id="{5979C4F8-B953-4BC4-A096-8338154D6B9F}"/>
              </a:ext>
            </a:extLst>
          </p:cNvPr>
          <p:cNvSpPr>
            <a:spLocks noGrp="1"/>
          </p:cNvSpPr>
          <p:nvPr/>
        </p:nvSpPr>
        <p:spPr>
          <a:xfrm>
            <a:off x="876300" y="281940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9" name="02-14-rule-2">
            <a:extLst>
              <a:ext uri="{FF2B5EF4-FFF2-40B4-BE49-F238E27FC236}">
                <a16:creationId xmlns:a16="http://schemas.microsoft.com/office/drawing/2014/main" id="{D6D88F31-949F-4C8D-ABA6-C58509822DC7}"/>
              </a:ext>
            </a:extLst>
          </p:cNvPr>
          <p:cNvSpPr>
            <a:spLocks noGrp="1"/>
          </p:cNvSpPr>
          <p:nvPr/>
        </p:nvSpPr>
        <p:spPr>
          <a:xfrm>
            <a:off x="1428750" y="306705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2-14-summary-2">
            <a:extLst>
              <a:ext uri="{FF2B5EF4-FFF2-40B4-BE49-F238E27FC236}">
                <a16:creationId xmlns:a16="http://schemas.microsoft.com/office/drawing/2014/main" id="{E31C09B6-AB78-4E6E-A4F1-E26744B562BD}"/>
              </a:ext>
            </a:extLst>
          </p:cNvPr>
          <p:cNvSpPr>
            <a:spLocks noGrp="1"/>
          </p:cNvSpPr>
          <p:nvPr/>
        </p:nvSpPr>
        <p:spPr>
          <a:xfrm>
            <a:off x="2209800" y="281940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핵심은 검증의 자동 되먹임이다</a:t>
            </a:r>
          </a:p>
        </p:txBody>
      </p:sp>
      <p:sp>
        <p:nvSpPr>
          <p:cNvPr id="11" name="02-14-number-3">
            <a:extLst>
              <a:ext uri="{FF2B5EF4-FFF2-40B4-BE49-F238E27FC236}">
                <a16:creationId xmlns:a16="http://schemas.microsoft.com/office/drawing/2014/main" id="{55D6FD63-9825-4A4E-A044-365E67A915E2}"/>
              </a:ext>
            </a:extLst>
          </p:cNvPr>
          <p:cNvSpPr>
            <a:spLocks noGrp="1"/>
          </p:cNvSpPr>
          <p:nvPr/>
        </p:nvSpPr>
        <p:spPr>
          <a:xfrm>
            <a:off x="876300" y="388620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2" name="02-14-rule-3">
            <a:extLst>
              <a:ext uri="{FF2B5EF4-FFF2-40B4-BE49-F238E27FC236}">
                <a16:creationId xmlns:a16="http://schemas.microsoft.com/office/drawing/2014/main" id="{4F703C75-C188-44BB-95E5-BFD4B83DD147}"/>
              </a:ext>
            </a:extLst>
          </p:cNvPr>
          <p:cNvSpPr>
            <a:spLocks noGrp="1"/>
          </p:cNvSpPr>
          <p:nvPr/>
        </p:nvSpPr>
        <p:spPr>
          <a:xfrm>
            <a:off x="1428750" y="413385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02-14-summary-3">
            <a:extLst>
              <a:ext uri="{FF2B5EF4-FFF2-40B4-BE49-F238E27FC236}">
                <a16:creationId xmlns:a16="http://schemas.microsoft.com/office/drawing/2014/main" id="{4639887F-A384-4CDE-A09F-0DB9FED1F05B}"/>
              </a:ext>
            </a:extLst>
          </p:cNvPr>
          <p:cNvSpPr>
            <a:spLocks noGrp="1"/>
          </p:cNvSpPr>
          <p:nvPr/>
        </p:nvSpPr>
        <p:spPr>
          <a:xfrm>
            <a:off x="2209800" y="388620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판단과 승인은 사람에게 남는다</a:t>
            </a:r>
          </a:p>
        </p:txBody>
      </p:sp>
    </p:spTree>
    <p:extLst>
      <p:ext uri="{BB962C8B-B14F-4D97-AF65-F5344CB8AC3E}">
        <p14:creationId xmlns:p14="http://schemas.microsoft.com/office/powerpoint/2010/main" val="7315080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02-14-footer-section">
            <a:extLst>
              <a:ext uri="{FF2B5EF4-FFF2-40B4-BE49-F238E27FC236}">
                <a16:creationId xmlns:a16="http://schemas.microsoft.com/office/drawing/2014/main" id="{3FADEB1C-18A2-40EA-BB29-5E0B7E755923}"/>
              </a:ext>
            </a:extLst>
          </p:cNvPr>
          <p:cNvSpPr>
            <a:spLocks noGrp="1"/>
          </p:cNvSpPr>
          <p:nvPr/>
        </p:nvSpPr>
        <p:spPr>
          <a:xfrm>
            <a:off x="19494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CODING PRINCIPLES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2-14-footer-page">
            <a:extLst>
              <a:ext uri="{FF2B5EF4-FFF2-40B4-BE49-F238E27FC236}">
                <a16:creationId xmlns:a16="http://schemas.microsoft.com/office/drawing/2014/main" id="{491098FB-1773-4E9A-81CF-BBA2546E88E4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33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2-14-accent-rule">
            <a:extLst>
              <a:ext uri="{FF2B5EF4-FFF2-40B4-BE49-F238E27FC236}">
                <a16:creationId xmlns:a16="http://schemas.microsoft.com/office/drawing/2014/main" id="{242E96AB-0E9A-47EE-BBEA-413205ADA58F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10477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2-14-title">
            <a:extLst>
              <a:ext uri="{FF2B5EF4-FFF2-40B4-BE49-F238E27FC236}">
                <a16:creationId xmlns:a16="http://schemas.microsoft.com/office/drawing/2014/main" id="{49A88DA2-55EF-48C2-AB7D-99AC1945EAFD}"/>
              </a:ext>
            </a:extLst>
          </p:cNvPr>
          <p:cNvSpPr>
            <a:spLocks noGrp="1"/>
          </p:cNvSpPr>
          <p:nvPr/>
        </p:nvSpPr>
        <p:spPr>
          <a:xfrm>
            <a:off x="723900" y="60960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9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여기까지가 1편이다. 남은 셋은 이렇게 이어진다</a:t>
            </a:r>
          </a:p>
        </p:txBody>
      </p:sp>
      <p:sp>
        <p:nvSpPr>
          <p:cNvPr id="5" name="02-14-number-1">
            <a:extLst>
              <a:ext uri="{FF2B5EF4-FFF2-40B4-BE49-F238E27FC236}">
                <a16:creationId xmlns:a16="http://schemas.microsoft.com/office/drawing/2014/main" id="{C82D9411-15BB-414F-8069-C50D1E6F0CE3}"/>
              </a:ext>
            </a:extLst>
          </p:cNvPr>
          <p:cNvSpPr>
            <a:spLocks noGrp="1"/>
          </p:cNvSpPr>
          <p:nvPr/>
        </p:nvSpPr>
        <p:spPr>
          <a:xfrm>
            <a:off x="876300" y="241300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6" name="02-14-rule-1">
            <a:extLst>
              <a:ext uri="{FF2B5EF4-FFF2-40B4-BE49-F238E27FC236}">
                <a16:creationId xmlns:a16="http://schemas.microsoft.com/office/drawing/2014/main" id="{C95D750B-3710-4F20-B00A-0FA2399755BE}"/>
              </a:ext>
            </a:extLst>
          </p:cNvPr>
          <p:cNvSpPr>
            <a:spLocks noGrp="1"/>
          </p:cNvSpPr>
          <p:nvPr/>
        </p:nvSpPr>
        <p:spPr>
          <a:xfrm>
            <a:off x="1428750" y="266700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2-14-summary-1">
            <a:extLst>
              <a:ext uri="{FF2B5EF4-FFF2-40B4-BE49-F238E27FC236}">
                <a16:creationId xmlns:a16="http://schemas.microsoft.com/office/drawing/2014/main" id="{9922EA17-1081-4D3F-8BCE-B5A181E6D71F}"/>
              </a:ext>
            </a:extLst>
          </p:cNvPr>
          <p:cNvSpPr>
            <a:spLocks noGrp="1"/>
          </p:cNvSpPr>
          <p:nvPr/>
        </p:nvSpPr>
        <p:spPr>
          <a:xfrm>
            <a:off x="2209800" y="241300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무엇을 강제할 것인가 — SDD · DDD · TDD · Deep Module</a:t>
            </a:r>
          </a:p>
        </p:txBody>
      </p:sp>
      <p:sp>
        <p:nvSpPr>
          <p:cNvPr id="8" name="02-14-number-2">
            <a:extLst>
              <a:ext uri="{FF2B5EF4-FFF2-40B4-BE49-F238E27FC236}">
                <a16:creationId xmlns:a16="http://schemas.microsoft.com/office/drawing/2014/main" id="{5979C4F8-B953-4BC4-A096-8338154D6B9F}"/>
              </a:ext>
            </a:extLst>
          </p:cNvPr>
          <p:cNvSpPr>
            <a:spLocks noGrp="1"/>
          </p:cNvSpPr>
          <p:nvPr/>
        </p:nvSpPr>
        <p:spPr>
          <a:xfrm>
            <a:off x="876300" y="332740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9" name="02-14-rule-2">
            <a:extLst>
              <a:ext uri="{FF2B5EF4-FFF2-40B4-BE49-F238E27FC236}">
                <a16:creationId xmlns:a16="http://schemas.microsoft.com/office/drawing/2014/main" id="{D6D88F31-949F-4C8D-ABA6-C58509822DC7}"/>
              </a:ext>
            </a:extLst>
          </p:cNvPr>
          <p:cNvSpPr>
            <a:spLocks noGrp="1"/>
          </p:cNvSpPr>
          <p:nvPr/>
        </p:nvSpPr>
        <p:spPr>
          <a:xfrm>
            <a:off x="1428750" y="358140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2-14-summary-2">
            <a:extLst>
              <a:ext uri="{FF2B5EF4-FFF2-40B4-BE49-F238E27FC236}">
                <a16:creationId xmlns:a16="http://schemas.microsoft.com/office/drawing/2014/main" id="{E31C09B6-AB78-4E6E-A4F1-E26744B562BD}"/>
              </a:ext>
            </a:extLst>
          </p:cNvPr>
          <p:cNvSpPr>
            <a:spLocks noGrp="1"/>
          </p:cNvSpPr>
          <p:nvPr/>
        </p:nvSpPr>
        <p:spPr>
          <a:xfrm>
            <a:off x="2209800" y="332740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어떤 흐름으로 돌 것인가 — 합의 → 계획 → 구현 → 복원 → 지식</a:t>
            </a:r>
          </a:p>
        </p:txBody>
      </p:sp>
      <p:sp>
        <p:nvSpPr>
          <p:cNvPr id="11" name="02-14-number-3">
            <a:extLst>
              <a:ext uri="{FF2B5EF4-FFF2-40B4-BE49-F238E27FC236}">
                <a16:creationId xmlns:a16="http://schemas.microsoft.com/office/drawing/2014/main" id="{55D6FD63-9825-4A4E-A044-365E67A915E2}"/>
              </a:ext>
            </a:extLst>
          </p:cNvPr>
          <p:cNvSpPr>
            <a:spLocks noGrp="1"/>
          </p:cNvSpPr>
          <p:nvPr/>
        </p:nvSpPr>
        <p:spPr>
          <a:xfrm>
            <a:off x="876300" y="424180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2" name="02-14-rule-3">
            <a:extLst>
              <a:ext uri="{FF2B5EF4-FFF2-40B4-BE49-F238E27FC236}">
                <a16:creationId xmlns:a16="http://schemas.microsoft.com/office/drawing/2014/main" id="{4F703C75-C188-44BB-95E5-BFD4B83DD147}"/>
              </a:ext>
            </a:extLst>
          </p:cNvPr>
          <p:cNvSpPr>
            <a:spLocks noGrp="1"/>
          </p:cNvSpPr>
          <p:nvPr/>
        </p:nvSpPr>
        <p:spPr>
          <a:xfrm>
            <a:off x="1428750" y="449580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02-14-summary-3">
            <a:extLst>
              <a:ext uri="{FF2B5EF4-FFF2-40B4-BE49-F238E27FC236}">
                <a16:creationId xmlns:a16="http://schemas.microsoft.com/office/drawing/2014/main" id="{4639887F-A384-4CDE-A09F-0DB9FED1F05B}"/>
              </a:ext>
            </a:extLst>
          </p:cNvPr>
          <p:cNvSpPr>
            <a:spLocks noGrp="1"/>
          </p:cNvSpPr>
          <p:nvPr/>
        </p:nvSpPr>
        <p:spPr>
          <a:xfrm>
            <a:off x="2209800" y="424180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어떤 파일로 만들 것인가 — Agent와 Skill</a:t>
            </a:r>
          </a:p>
        </p:txBody>
      </p:sp>
      <p:sp>
        <p:nvSpPr>
          <p:cNvPr id="15" name="02-14-scopenote">
            <a:extLst>
              <a:ext uri="{FF2B5EF4-FFF2-40B4-BE49-F238E27FC236}">
                <a16:creationId xmlns:a16="http://schemas.microsoft.com/office/drawing/2014/main" id="{42AF20A9-F682-4499-BD6A-68E86F353B63}"/>
              </a:ext>
            </a:extLst>
          </p:cNvPr>
          <p:cNvSpPr txBox="1"/>
          <p:nvPr/>
        </p:nvSpPr>
        <p:spPr>
          <a:xfrm>
            <a:off x="723900" y="1625600"/>
            <a:ext cx="10744200" cy="406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>
              <a:defRPr sz="1700" b="0">
                <a:solidFill>
                  <a:srgbClr val="4F5A68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700" b="0" dirty="0">
                <a:solidFill>
                  <a:srgbClr val="4F5A68"/>
                </a:solidFill>
                <a:latin typeface="Malgun Gothic"/>
                <a:ea typeface="Malgun Gothic"/>
                <a:cs typeface="Malgun Gothic"/>
              </a:rPr>
              <a:t>harness가 무엇인지 알았다면, 남은 질문은 하나다 — 그 안에서 무엇을 강제할 것인가</a:t>
            </a:r>
          </a:p>
        </p:txBody>
      </p:sp>
      <p:sp>
        <p:nvSpPr>
          <p:cNvPr id="16" name="02-14-punch">
            <a:extLst>
              <a:ext uri="{FF2B5EF4-FFF2-40B4-BE49-F238E27FC236}">
                <a16:creationId xmlns:a16="http://schemas.microsoft.com/office/drawing/2014/main" id="{DCA713A2-E3E5-4284-8697-1BEE392E773A}"/>
              </a:ext>
            </a:extLst>
          </p:cNvPr>
          <p:cNvSpPr txBox="1"/>
          <p:nvPr/>
        </p:nvSpPr>
        <p:spPr>
          <a:xfrm>
            <a:off x="723900" y="5334000"/>
            <a:ext cx="10744200" cy="558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ko-KR" altLang="en-US" sz="1900" b="1">
                <a:solidFill>
                  <a:srgbClr val="156082"/>
                </a:solidFill>
                <a:latin typeface="Malgun Gothic"/>
                <a:ea typeface="Malgun Gothic"/>
              </a:rPr>
              <a:t>도구부터 배우면</a:t>
            </a:r>
            <a:r>
              <a:rPr lang="en-US" altLang="ko-KR" sz="1900" b="1">
                <a:solidFill>
                  <a:srgbClr val="156082"/>
                </a:solidFill>
                <a:latin typeface="Malgun Gothic"/>
                <a:ea typeface="Malgun Gothic"/>
              </a:rPr>
              <a:t>, </a:t>
            </a:r>
            <a:r>
              <a:rPr lang="ko-KR" altLang="en-US" sz="1900" b="1">
                <a:solidFill>
                  <a:srgbClr val="156082"/>
                </a:solidFill>
                <a:latin typeface="Malgun Gothic"/>
                <a:ea typeface="Malgun Gothic"/>
              </a:rPr>
              <a:t>왜 그 단계가 거기 있는지 모른 채 절차만 따라 하게 된다</a:t>
            </a:r>
            <a:endParaRPr lang="en-US" sz="1900" b="1">
              <a:solidFill>
                <a:srgbClr val="156082"/>
              </a:solidFill>
              <a:latin typeface="Malgun Gothic"/>
              <a:ea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84325393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03-01-footer-section">
            <a:extLst>
              <a:ext uri="{FF2B5EF4-FFF2-40B4-BE49-F238E27FC236}">
                <a16:creationId xmlns:a16="http://schemas.microsoft.com/office/drawing/2014/main" id="{DA73AC0C-B76E-4A0E-B760-9A7D4E9FADE4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무엇을 강제할 것인가</a:t>
            </a:r>
          </a:p>
        </p:txBody>
      </p:sp>
      <p:sp>
        <p:nvSpPr>
          <p:cNvPr id="2" name="03-01-footer-page">
            <a:extLst>
              <a:ext uri="{FF2B5EF4-FFF2-40B4-BE49-F238E27FC236}">
                <a16:creationId xmlns:a16="http://schemas.microsoft.com/office/drawing/2014/main" id="{161FE0D7-8630-48D9-96A8-DDCE8865FD3F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34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3-01-accent-rule">
            <a:extLst>
              <a:ext uri="{FF2B5EF4-FFF2-40B4-BE49-F238E27FC236}">
                <a16:creationId xmlns:a16="http://schemas.microsoft.com/office/drawing/2014/main" id="{2513C42E-7260-4C68-A27E-F356B7F464EA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477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3-01-label">
            <a:extLst>
              <a:ext uri="{FF2B5EF4-FFF2-40B4-BE49-F238E27FC236}">
                <a16:creationId xmlns:a16="http://schemas.microsoft.com/office/drawing/2014/main" id="{0D4824CD-2CDB-422E-8104-E0AA0E443F61}"/>
              </a:ext>
            </a:extLst>
          </p:cNvPr>
          <p:cNvSpPr>
            <a:spLocks noGrp="1"/>
          </p:cNvSpPr>
          <p:nvPr/>
        </p:nvSpPr>
        <p:spPr>
          <a:xfrm>
            <a:off x="723900" y="1200150"/>
            <a:ext cx="7048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12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무엇을 강제할 것인가</a:t>
            </a:r>
          </a:p>
        </p:txBody>
      </p:sp>
      <p:sp>
        <p:nvSpPr>
          <p:cNvPr id="5" name="03-01-title">
            <a:extLst>
              <a:ext uri="{FF2B5EF4-FFF2-40B4-BE49-F238E27FC236}">
                <a16:creationId xmlns:a16="http://schemas.microsoft.com/office/drawing/2014/main" id="{A9ACEBF4-DA22-49FB-89A2-D8630949CFD7}"/>
              </a:ext>
            </a:extLst>
          </p:cNvPr>
          <p:cNvSpPr>
            <a:spLocks noGrp="1"/>
          </p:cNvSpPr>
          <p:nvPr/>
        </p:nvSpPr>
        <p:spPr>
          <a:xfrm>
            <a:off x="723900" y="2000250"/>
            <a:ext cx="10001250" cy="1676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5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5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방법론을 산출물과 게이트에 넣는다</a:t>
            </a:r>
          </a:p>
        </p:txBody>
      </p:sp>
      <p:sp>
        <p:nvSpPr>
          <p:cNvPr id="6" name="03-01-subtitle">
            <a:extLst>
              <a:ext uri="{FF2B5EF4-FFF2-40B4-BE49-F238E27FC236}">
                <a16:creationId xmlns:a16="http://schemas.microsoft.com/office/drawing/2014/main" id="{906727FD-BAEA-4671-BD4D-1F4C4AFE47CC}"/>
              </a:ext>
            </a:extLst>
          </p:cNvPr>
          <p:cNvSpPr>
            <a:spLocks noGrp="1"/>
          </p:cNvSpPr>
          <p:nvPr/>
        </p:nvSpPr>
        <p:spPr>
          <a:xfrm>
            <a:off x="742950" y="3905250"/>
            <a:ext cx="885825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SDD · DDD · TDD · Deep Module</a:t>
            </a:r>
          </a:p>
        </p:txBody>
      </p:sp>
    </p:spTree>
    <p:extLst>
      <p:ext uri="{BB962C8B-B14F-4D97-AF65-F5344CB8AC3E}">
        <p14:creationId xmlns:p14="http://schemas.microsoft.com/office/powerpoint/2010/main" val="16854908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03-02-footer-section">
            <a:extLst>
              <a:ext uri="{FF2B5EF4-FFF2-40B4-BE49-F238E27FC236}">
                <a16:creationId xmlns:a16="http://schemas.microsoft.com/office/drawing/2014/main" id="{74D1F7EE-F6EF-4A3A-B110-A55722886AF1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무엇을 강제할 것인가</a:t>
            </a:r>
          </a:p>
        </p:txBody>
      </p:sp>
      <p:sp>
        <p:nvSpPr>
          <p:cNvPr id="2" name="03-02-footer-page">
            <a:extLst>
              <a:ext uri="{FF2B5EF4-FFF2-40B4-BE49-F238E27FC236}">
                <a16:creationId xmlns:a16="http://schemas.microsoft.com/office/drawing/2014/main" id="{8F6F9953-242F-467A-B9F5-35509BBAE46A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35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3-02-accent-rule">
            <a:extLst>
              <a:ext uri="{FF2B5EF4-FFF2-40B4-BE49-F238E27FC236}">
                <a16:creationId xmlns:a16="http://schemas.microsoft.com/office/drawing/2014/main" id="{5BBA0FC5-A4E6-4295-98D8-A2F485DAF29E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3-02-title">
            <a:extLst>
              <a:ext uri="{FF2B5EF4-FFF2-40B4-BE49-F238E27FC236}">
                <a16:creationId xmlns:a16="http://schemas.microsoft.com/office/drawing/2014/main" id="{7AEB181C-82CA-49B2-9231-7830F2F2878F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원칙은 흐름 안에서 작동한다</a:t>
            </a:r>
          </a:p>
        </p:txBody>
      </p:sp>
      <p:sp>
        <p:nvSpPr>
          <p:cNvPr id="5" name="03-02-arrow-1">
            <a:extLst>
              <a:ext uri="{FF2B5EF4-FFF2-40B4-BE49-F238E27FC236}">
                <a16:creationId xmlns:a16="http://schemas.microsoft.com/office/drawing/2014/main" id="{56105243-857D-4039-AF28-6CC157C4A4DA}"/>
              </a:ext>
            </a:extLst>
          </p:cNvPr>
          <p:cNvSpPr>
            <a:spLocks noGrp="1"/>
          </p:cNvSpPr>
          <p:nvPr/>
        </p:nvSpPr>
        <p:spPr>
          <a:xfrm>
            <a:off x="2857500" y="2390775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3-02-arrow-2">
            <a:extLst>
              <a:ext uri="{FF2B5EF4-FFF2-40B4-BE49-F238E27FC236}">
                <a16:creationId xmlns:a16="http://schemas.microsoft.com/office/drawing/2014/main" id="{87C6508F-0D3F-4D33-8990-ABE370796412}"/>
              </a:ext>
            </a:extLst>
          </p:cNvPr>
          <p:cNvSpPr>
            <a:spLocks noGrp="1"/>
          </p:cNvSpPr>
          <p:nvPr/>
        </p:nvSpPr>
        <p:spPr>
          <a:xfrm>
            <a:off x="4857750" y="2390775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3-02-arrow-3a">
            <a:extLst>
              <a:ext uri="{FF2B5EF4-FFF2-40B4-BE49-F238E27FC236}">
                <a16:creationId xmlns:a16="http://schemas.microsoft.com/office/drawing/2014/main" id="{5243FA64-6385-4FEF-9AD0-A1AF9A51B969}"/>
              </a:ext>
            </a:extLst>
          </p:cNvPr>
          <p:cNvSpPr>
            <a:spLocks noGrp="1"/>
          </p:cNvSpPr>
          <p:nvPr/>
        </p:nvSpPr>
        <p:spPr>
          <a:xfrm>
            <a:off x="5953125" y="2828925"/>
            <a:ext cx="0" cy="74295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3-02-arrow-4">
            <a:extLst>
              <a:ext uri="{FF2B5EF4-FFF2-40B4-BE49-F238E27FC236}">
                <a16:creationId xmlns:a16="http://schemas.microsoft.com/office/drawing/2014/main" id="{6872DF89-3648-4997-8EAB-F427B4EFF3D2}"/>
              </a:ext>
            </a:extLst>
          </p:cNvPr>
          <p:cNvSpPr>
            <a:spLocks noGrp="1"/>
          </p:cNvSpPr>
          <p:nvPr/>
        </p:nvSpPr>
        <p:spPr>
          <a:xfrm>
            <a:off x="2857500" y="4200525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03-02-arrow-5">
            <a:extLst>
              <a:ext uri="{FF2B5EF4-FFF2-40B4-BE49-F238E27FC236}">
                <a16:creationId xmlns:a16="http://schemas.microsoft.com/office/drawing/2014/main" id="{7BF98600-F318-4660-8C65-A8237FEDA841}"/>
              </a:ext>
            </a:extLst>
          </p:cNvPr>
          <p:cNvSpPr>
            <a:spLocks noGrp="1"/>
          </p:cNvSpPr>
          <p:nvPr/>
        </p:nvSpPr>
        <p:spPr>
          <a:xfrm>
            <a:off x="4857750" y="4200525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3-02-node-1">
            <a:extLst>
              <a:ext uri="{FF2B5EF4-FFF2-40B4-BE49-F238E27FC236}">
                <a16:creationId xmlns:a16="http://schemas.microsoft.com/office/drawing/2014/main" id="{63ED1704-95C4-4C6F-B416-B2BD2407CB4A}"/>
              </a:ext>
            </a:extLst>
          </p:cNvPr>
          <p:cNvSpPr>
            <a:spLocks noGrp="1"/>
          </p:cNvSpPr>
          <p:nvPr/>
        </p:nvSpPr>
        <p:spPr>
          <a:xfrm>
            <a:off x="1047750" y="195262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2878C7"/>
          </a:solidFill>
          <a:ln w="19050">
            <a:solidFill>
              <a:srgbClr val="2878C7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요구사항 합의</a:t>
            </a:r>
          </a:p>
        </p:txBody>
      </p:sp>
      <p:sp>
        <p:nvSpPr>
          <p:cNvPr id="11" name="03-02-node-2">
            <a:extLst>
              <a:ext uri="{FF2B5EF4-FFF2-40B4-BE49-F238E27FC236}">
                <a16:creationId xmlns:a16="http://schemas.microsoft.com/office/drawing/2014/main" id="{73D139EE-9DA7-4454-812A-3CD4B4FD1EFB}"/>
              </a:ext>
            </a:extLst>
          </p:cNvPr>
          <p:cNvSpPr>
            <a:spLocks noGrp="1"/>
          </p:cNvSpPr>
          <p:nvPr/>
        </p:nvSpPr>
        <p:spPr>
          <a:xfrm>
            <a:off x="3048000" y="195262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구현 순서 설계</a:t>
            </a:r>
          </a:p>
        </p:txBody>
      </p:sp>
      <p:sp>
        <p:nvSpPr>
          <p:cNvPr id="12" name="03-02-node-3">
            <a:extLst>
              <a:ext uri="{FF2B5EF4-FFF2-40B4-BE49-F238E27FC236}">
                <a16:creationId xmlns:a16="http://schemas.microsoft.com/office/drawing/2014/main" id="{5A3B0A54-2342-4574-9687-660A9DF54A0D}"/>
              </a:ext>
            </a:extLst>
          </p:cNvPr>
          <p:cNvSpPr>
            <a:spLocks noGrp="1"/>
          </p:cNvSpPr>
          <p:nvPr/>
        </p:nvSpPr>
        <p:spPr>
          <a:xfrm>
            <a:off x="5048250" y="195262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사람의 검토</a:t>
            </a:r>
          </a:p>
        </p:txBody>
      </p:sp>
      <p:sp>
        <p:nvSpPr>
          <p:cNvPr id="13" name="03-02-node-4">
            <a:extLst>
              <a:ext uri="{FF2B5EF4-FFF2-40B4-BE49-F238E27FC236}">
                <a16:creationId xmlns:a16="http://schemas.microsoft.com/office/drawing/2014/main" id="{494E1BD6-A280-4F6F-B042-124EA6E998FD}"/>
              </a:ext>
            </a:extLst>
          </p:cNvPr>
          <p:cNvSpPr>
            <a:spLocks noGrp="1"/>
          </p:cNvSpPr>
          <p:nvPr/>
        </p:nvSpPr>
        <p:spPr>
          <a:xfrm>
            <a:off x="1047750" y="376237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구현·검증</a:t>
            </a:r>
          </a:p>
        </p:txBody>
      </p:sp>
      <p:sp>
        <p:nvSpPr>
          <p:cNvPr id="14" name="03-02-node-5">
            <a:extLst>
              <a:ext uri="{FF2B5EF4-FFF2-40B4-BE49-F238E27FC236}">
                <a16:creationId xmlns:a16="http://schemas.microsoft.com/office/drawing/2014/main" id="{85CA94AA-7FF0-4B06-ABBD-2D87AFC77C6D}"/>
              </a:ext>
            </a:extLst>
          </p:cNvPr>
          <p:cNvSpPr>
            <a:spLocks noGrp="1"/>
          </p:cNvSpPr>
          <p:nvPr/>
        </p:nvSpPr>
        <p:spPr>
          <a:xfrm>
            <a:off x="3048000" y="376237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흐름 복원</a:t>
            </a:r>
          </a:p>
        </p:txBody>
      </p:sp>
      <p:sp>
        <p:nvSpPr>
          <p:cNvPr id="15" name="03-02-node-6">
            <a:extLst>
              <a:ext uri="{FF2B5EF4-FFF2-40B4-BE49-F238E27FC236}">
                <a16:creationId xmlns:a16="http://schemas.microsoft.com/office/drawing/2014/main" id="{BE44B0E3-45B7-4A6E-84C8-636B00A6DCE8}"/>
              </a:ext>
            </a:extLst>
          </p:cNvPr>
          <p:cNvSpPr>
            <a:spLocks noGrp="1"/>
          </p:cNvSpPr>
          <p:nvPr/>
        </p:nvSpPr>
        <p:spPr>
          <a:xfrm>
            <a:off x="5048250" y="376237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지식 환류</a:t>
            </a:r>
          </a:p>
        </p:txBody>
      </p:sp>
      <p:sp>
        <p:nvSpPr>
          <p:cNvPr id="16" name="03-02-caption">
            <a:extLst>
              <a:ext uri="{FF2B5EF4-FFF2-40B4-BE49-F238E27FC236}">
                <a16:creationId xmlns:a16="http://schemas.microsoft.com/office/drawing/2014/main" id="{6C1C1793-CDDC-4F2C-A552-C1629946D5B7}"/>
              </a:ext>
            </a:extLst>
          </p:cNvPr>
          <p:cNvSpPr>
            <a:spLocks noGrp="1"/>
          </p:cNvSpPr>
          <p:nvPr/>
        </p:nvSpPr>
        <p:spPr>
          <a:xfrm>
            <a:off x="1143000" y="5524500"/>
            <a:ext cx="9906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SDD·DDD   ·   SDD·TDD   ·   사람   ·   TDD   ·   Deep Module   ·   DDD</a:t>
            </a:r>
          </a:p>
        </p:txBody>
      </p:sp>
      <p:sp>
        <p:nvSpPr>
          <p:cNvPr id="17" name="03-02-optional">
            <a:extLst>
              <a:ext uri="{FF2B5EF4-FFF2-40B4-BE49-F238E27FC236}">
                <a16:creationId xmlns:a16="http://schemas.microsoft.com/office/drawing/2014/main" id="{DDBBCAC0-64C8-4845-B267-50EAEEBDDC07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196739749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03-03-footer-section">
            <a:extLst>
              <a:ext uri="{FF2B5EF4-FFF2-40B4-BE49-F238E27FC236}">
                <a16:creationId xmlns:a16="http://schemas.microsoft.com/office/drawing/2014/main" id="{0267BDDA-60A8-4D59-B2A6-B1632F587535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SDD</a:t>
            </a:r>
          </a:p>
        </p:txBody>
      </p:sp>
      <p:sp>
        <p:nvSpPr>
          <p:cNvPr id="2" name="03-03-footer-page">
            <a:extLst>
              <a:ext uri="{FF2B5EF4-FFF2-40B4-BE49-F238E27FC236}">
                <a16:creationId xmlns:a16="http://schemas.microsoft.com/office/drawing/2014/main" id="{1BECC480-30FB-4A9D-84D4-00FB45C4D0FA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36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3-03-accent-rule">
            <a:extLst>
              <a:ext uri="{FF2B5EF4-FFF2-40B4-BE49-F238E27FC236}">
                <a16:creationId xmlns:a16="http://schemas.microsoft.com/office/drawing/2014/main" id="{F4AB71AC-B02F-4987-A14A-B0200D819B9F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3-03-title">
            <a:extLst>
              <a:ext uri="{FF2B5EF4-FFF2-40B4-BE49-F238E27FC236}">
                <a16:creationId xmlns:a16="http://schemas.microsoft.com/office/drawing/2014/main" id="{A6C97171-59AC-4735-AF02-CD9CB52A8447}"/>
              </a:ext>
            </a:extLst>
          </p:cNvPr>
          <p:cNvSpPr>
            <a:spLocks noGrp="1"/>
          </p:cNvSpPr>
          <p:nvPr/>
        </p:nvSpPr>
        <p:spPr>
          <a:xfrm>
            <a:off x="723900" y="704850"/>
            <a:ext cx="1028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SDD는 틀린 것을 빠르게 만들지 않는다</a:t>
            </a:r>
          </a:p>
        </p:txBody>
      </p:sp>
      <p:sp>
        <p:nvSpPr>
          <p:cNvPr id="5" name="03-03-bullet-1">
            <a:extLst>
              <a:ext uri="{FF2B5EF4-FFF2-40B4-BE49-F238E27FC236}">
                <a16:creationId xmlns:a16="http://schemas.microsoft.com/office/drawing/2014/main" id="{E0645CDF-B5BF-4664-8CE0-87DEBA3FAAD8}"/>
              </a:ext>
            </a:extLst>
          </p:cNvPr>
          <p:cNvSpPr>
            <a:spLocks noGrp="1"/>
          </p:cNvSpPr>
          <p:nvPr/>
        </p:nvSpPr>
        <p:spPr>
          <a:xfrm>
            <a:off x="876300" y="206692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3-03-body-1">
            <a:extLst>
              <a:ext uri="{FF2B5EF4-FFF2-40B4-BE49-F238E27FC236}">
                <a16:creationId xmlns:a16="http://schemas.microsoft.com/office/drawing/2014/main" id="{56874A4A-5507-4EA9-BD59-FC0797408973}"/>
              </a:ext>
            </a:extLst>
          </p:cNvPr>
          <p:cNvSpPr>
            <a:spLocks noGrp="1"/>
          </p:cNvSpPr>
          <p:nvPr/>
        </p:nvSpPr>
        <p:spPr>
          <a:xfrm>
            <a:off x="1143000" y="195262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무엇을 만들지</a:t>
            </a:r>
          </a:p>
        </p:txBody>
      </p:sp>
      <p:sp>
        <p:nvSpPr>
          <p:cNvPr id="7" name="03-03-bullet-2">
            <a:extLst>
              <a:ext uri="{FF2B5EF4-FFF2-40B4-BE49-F238E27FC236}">
                <a16:creationId xmlns:a16="http://schemas.microsoft.com/office/drawing/2014/main" id="{F0DB1821-0E79-408A-9DB0-107EE3F85056}"/>
              </a:ext>
            </a:extLst>
          </p:cNvPr>
          <p:cNvSpPr>
            <a:spLocks noGrp="1"/>
          </p:cNvSpPr>
          <p:nvPr/>
        </p:nvSpPr>
        <p:spPr>
          <a:xfrm>
            <a:off x="876300" y="284797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3-03-body-2">
            <a:extLst>
              <a:ext uri="{FF2B5EF4-FFF2-40B4-BE49-F238E27FC236}">
                <a16:creationId xmlns:a16="http://schemas.microsoft.com/office/drawing/2014/main" id="{B8402D9A-EAE3-4F9B-B6AB-79C2D400F081}"/>
              </a:ext>
            </a:extLst>
          </p:cNvPr>
          <p:cNvSpPr>
            <a:spLocks noGrp="1"/>
          </p:cNvSpPr>
          <p:nvPr/>
        </p:nvSpPr>
        <p:spPr>
          <a:xfrm>
            <a:off x="1143000" y="273367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무엇을 만들지 않을지</a:t>
            </a:r>
          </a:p>
        </p:txBody>
      </p:sp>
      <p:sp>
        <p:nvSpPr>
          <p:cNvPr id="9" name="03-03-bullet-3">
            <a:extLst>
              <a:ext uri="{FF2B5EF4-FFF2-40B4-BE49-F238E27FC236}">
                <a16:creationId xmlns:a16="http://schemas.microsoft.com/office/drawing/2014/main" id="{78386A49-65F7-44DD-97D6-F418BBE266F6}"/>
              </a:ext>
            </a:extLst>
          </p:cNvPr>
          <p:cNvSpPr>
            <a:spLocks noGrp="1"/>
          </p:cNvSpPr>
          <p:nvPr/>
        </p:nvSpPr>
        <p:spPr>
          <a:xfrm>
            <a:off x="876300" y="362902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3-03-body-3">
            <a:extLst>
              <a:ext uri="{FF2B5EF4-FFF2-40B4-BE49-F238E27FC236}">
                <a16:creationId xmlns:a16="http://schemas.microsoft.com/office/drawing/2014/main" id="{BBB6B1E6-A330-4780-9B53-445A1B985CC1}"/>
              </a:ext>
            </a:extLst>
          </p:cNvPr>
          <p:cNvSpPr>
            <a:spLocks noGrp="1"/>
          </p:cNvSpPr>
          <p:nvPr/>
        </p:nvSpPr>
        <p:spPr>
          <a:xfrm>
            <a:off x="1143000" y="351472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성공을 어떻게 확인할지</a:t>
            </a:r>
          </a:p>
        </p:txBody>
      </p:sp>
    </p:spTree>
    <p:extLst>
      <p:ext uri="{BB962C8B-B14F-4D97-AF65-F5344CB8AC3E}">
        <p14:creationId xmlns:p14="http://schemas.microsoft.com/office/powerpoint/2010/main" val="22151685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03-04-footer-section">
            <a:extLst>
              <a:ext uri="{FF2B5EF4-FFF2-40B4-BE49-F238E27FC236}">
                <a16:creationId xmlns:a16="http://schemas.microsoft.com/office/drawing/2014/main" id="{F0671B24-65D4-40F5-82F8-FF0F79122C8E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SDD</a:t>
            </a:r>
          </a:p>
        </p:txBody>
      </p:sp>
      <p:sp>
        <p:nvSpPr>
          <p:cNvPr id="2" name="03-04-footer-page">
            <a:extLst>
              <a:ext uri="{FF2B5EF4-FFF2-40B4-BE49-F238E27FC236}">
                <a16:creationId xmlns:a16="http://schemas.microsoft.com/office/drawing/2014/main" id="{25AC43B6-BB21-4C17-AB1E-F00E42009072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37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3-04-accent-rule">
            <a:extLst>
              <a:ext uri="{FF2B5EF4-FFF2-40B4-BE49-F238E27FC236}">
                <a16:creationId xmlns:a16="http://schemas.microsoft.com/office/drawing/2014/main" id="{817552D7-7E0E-494F-8C5B-F3A2878C0A65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3-04-title">
            <a:extLst>
              <a:ext uri="{FF2B5EF4-FFF2-40B4-BE49-F238E27FC236}">
                <a16:creationId xmlns:a16="http://schemas.microsoft.com/office/drawing/2014/main" id="{8832FE03-253B-4713-A409-6285D3929337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잘못된 방향으로 빨라진 것은 개선이 아니다</a:t>
            </a:r>
          </a:p>
        </p:txBody>
      </p:sp>
      <p:sp>
        <p:nvSpPr>
          <p:cNvPr id="5" name="03-04-divider">
            <a:extLst>
              <a:ext uri="{FF2B5EF4-FFF2-40B4-BE49-F238E27FC236}">
                <a16:creationId xmlns:a16="http://schemas.microsoft.com/office/drawing/2014/main" id="{CC63D11E-1B34-43F9-855B-AC1C2B6BB72B}"/>
              </a:ext>
            </a:extLst>
          </p:cNvPr>
          <p:cNvSpPr>
            <a:spLocks noGrp="1"/>
          </p:cNvSpPr>
          <p:nvPr/>
        </p:nvSpPr>
        <p:spPr>
          <a:xfrm>
            <a:off x="6096000" y="1676400"/>
            <a:ext cx="0" cy="390525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3-04-left-heading">
            <a:extLst>
              <a:ext uri="{FF2B5EF4-FFF2-40B4-BE49-F238E27FC236}">
                <a16:creationId xmlns:a16="http://schemas.microsoft.com/office/drawing/2014/main" id="{FEACF113-109B-49BF-AF78-459B3B0961C9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4857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예전</a:t>
            </a:r>
          </a:p>
        </p:txBody>
      </p:sp>
      <p:sp>
        <p:nvSpPr>
          <p:cNvPr id="7" name="03-04-left-dot-1">
            <a:extLst>
              <a:ext uri="{FF2B5EF4-FFF2-40B4-BE49-F238E27FC236}">
                <a16:creationId xmlns:a16="http://schemas.microsoft.com/office/drawing/2014/main" id="{388FA460-D9AD-4C93-ADB2-44D062CD2CE6}"/>
              </a:ext>
            </a:extLst>
          </p:cNvPr>
          <p:cNvSpPr>
            <a:spLocks noGrp="1"/>
          </p:cNvSpPr>
          <p:nvPr/>
        </p:nvSpPr>
        <p:spPr>
          <a:xfrm>
            <a:off x="72390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3-04-left-line-1">
            <a:extLst>
              <a:ext uri="{FF2B5EF4-FFF2-40B4-BE49-F238E27FC236}">
                <a16:creationId xmlns:a16="http://schemas.microsoft.com/office/drawing/2014/main" id="{F02A6EC4-BE5E-488F-8C1C-D7DD7FC5501E}"/>
              </a:ext>
            </a:extLst>
          </p:cNvPr>
          <p:cNvSpPr>
            <a:spLocks noGrp="1"/>
          </p:cNvSpPr>
          <p:nvPr/>
        </p:nvSpPr>
        <p:spPr>
          <a:xfrm>
            <a:off x="952500" y="2362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잘못 이해한 요구</a:t>
            </a:r>
          </a:p>
        </p:txBody>
      </p:sp>
      <p:sp>
        <p:nvSpPr>
          <p:cNvPr id="9" name="03-04-left-dot-2">
            <a:extLst>
              <a:ext uri="{FF2B5EF4-FFF2-40B4-BE49-F238E27FC236}">
                <a16:creationId xmlns:a16="http://schemas.microsoft.com/office/drawing/2014/main" id="{F465B405-CB13-4E3F-B937-6FCD4E17163B}"/>
              </a:ext>
            </a:extLst>
          </p:cNvPr>
          <p:cNvSpPr>
            <a:spLocks noGrp="1"/>
          </p:cNvSpPr>
          <p:nvPr/>
        </p:nvSpPr>
        <p:spPr>
          <a:xfrm>
            <a:off x="72390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3-04-left-line-2">
            <a:extLst>
              <a:ext uri="{FF2B5EF4-FFF2-40B4-BE49-F238E27FC236}">
                <a16:creationId xmlns:a16="http://schemas.microsoft.com/office/drawing/2014/main" id="{C2B65DDE-1680-4A9D-A779-D475CFD5EEB2}"/>
              </a:ext>
            </a:extLst>
          </p:cNvPr>
          <p:cNvSpPr>
            <a:spLocks noGrp="1"/>
          </p:cNvSpPr>
          <p:nvPr/>
        </p:nvSpPr>
        <p:spPr>
          <a:xfrm>
            <a:off x="952500" y="310515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코드가 되기까지 며칠</a:t>
            </a:r>
          </a:p>
        </p:txBody>
      </p:sp>
      <p:sp>
        <p:nvSpPr>
          <p:cNvPr id="11" name="03-04-left-dot-3">
            <a:extLst>
              <a:ext uri="{FF2B5EF4-FFF2-40B4-BE49-F238E27FC236}">
                <a16:creationId xmlns:a16="http://schemas.microsoft.com/office/drawing/2014/main" id="{8072C829-A4F1-4E9F-8A86-30DF83C966FA}"/>
              </a:ext>
            </a:extLst>
          </p:cNvPr>
          <p:cNvSpPr>
            <a:spLocks noGrp="1"/>
          </p:cNvSpPr>
          <p:nvPr/>
        </p:nvSpPr>
        <p:spPr>
          <a:xfrm>
            <a:off x="72390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3-04-left-line-3">
            <a:extLst>
              <a:ext uri="{FF2B5EF4-FFF2-40B4-BE49-F238E27FC236}">
                <a16:creationId xmlns:a16="http://schemas.microsoft.com/office/drawing/2014/main" id="{EA2DA001-691E-4B75-B406-BD2FBE60C0D2}"/>
              </a:ext>
            </a:extLst>
          </p:cNvPr>
          <p:cNvSpPr>
            <a:spLocks noGrp="1"/>
          </p:cNvSpPr>
          <p:nvPr/>
        </p:nvSpPr>
        <p:spPr>
          <a:xfrm>
            <a:off x="952500" y="38481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중간에 알아챌 기회</a:t>
            </a:r>
          </a:p>
        </p:txBody>
      </p:sp>
      <p:sp>
        <p:nvSpPr>
          <p:cNvPr id="13" name="03-04-right-heading">
            <a:extLst>
              <a:ext uri="{FF2B5EF4-FFF2-40B4-BE49-F238E27FC236}">
                <a16:creationId xmlns:a16="http://schemas.microsoft.com/office/drawing/2014/main" id="{2DA775D9-08CB-463B-B7C3-79DB6DE30E61}"/>
              </a:ext>
            </a:extLst>
          </p:cNvPr>
          <p:cNvSpPr>
            <a:spLocks noGrp="1"/>
          </p:cNvSpPr>
          <p:nvPr/>
        </p:nvSpPr>
        <p:spPr>
          <a:xfrm>
            <a:off x="6572250" y="1676400"/>
            <a:ext cx="4762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AI와 함께</a:t>
            </a:r>
          </a:p>
        </p:txBody>
      </p:sp>
      <p:sp>
        <p:nvSpPr>
          <p:cNvPr id="14" name="03-04-right-dot-1">
            <a:extLst>
              <a:ext uri="{FF2B5EF4-FFF2-40B4-BE49-F238E27FC236}">
                <a16:creationId xmlns:a16="http://schemas.microsoft.com/office/drawing/2014/main" id="{E46A2E5E-A625-4C79-9CCF-61F9B5C9EDA0}"/>
              </a:ext>
            </a:extLst>
          </p:cNvPr>
          <p:cNvSpPr>
            <a:spLocks noGrp="1"/>
          </p:cNvSpPr>
          <p:nvPr/>
        </p:nvSpPr>
        <p:spPr>
          <a:xfrm>
            <a:off x="657225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03-04-right-line-1">
            <a:extLst>
              <a:ext uri="{FF2B5EF4-FFF2-40B4-BE49-F238E27FC236}">
                <a16:creationId xmlns:a16="http://schemas.microsoft.com/office/drawing/2014/main" id="{7A454F36-6957-4493-9BC5-D0A2BF6AEFA0}"/>
              </a:ext>
            </a:extLst>
          </p:cNvPr>
          <p:cNvSpPr>
            <a:spLocks noGrp="1"/>
          </p:cNvSpPr>
          <p:nvPr/>
        </p:nvSpPr>
        <p:spPr>
          <a:xfrm>
            <a:off x="6800850" y="2362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잘못 이해한 요구</a:t>
            </a:r>
          </a:p>
        </p:txBody>
      </p:sp>
      <p:sp>
        <p:nvSpPr>
          <p:cNvPr id="16" name="03-04-right-dot-2">
            <a:extLst>
              <a:ext uri="{FF2B5EF4-FFF2-40B4-BE49-F238E27FC236}">
                <a16:creationId xmlns:a16="http://schemas.microsoft.com/office/drawing/2014/main" id="{833FBE55-C347-4A98-81E4-651F411FDDAC}"/>
              </a:ext>
            </a:extLst>
          </p:cNvPr>
          <p:cNvSpPr>
            <a:spLocks noGrp="1"/>
          </p:cNvSpPr>
          <p:nvPr/>
        </p:nvSpPr>
        <p:spPr>
          <a:xfrm>
            <a:off x="657225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03-04-right-line-2">
            <a:extLst>
              <a:ext uri="{FF2B5EF4-FFF2-40B4-BE49-F238E27FC236}">
                <a16:creationId xmlns:a16="http://schemas.microsoft.com/office/drawing/2014/main" id="{1E5A234D-C5AD-42DA-9565-3132CD5F7167}"/>
              </a:ext>
            </a:extLst>
          </p:cNvPr>
          <p:cNvSpPr>
            <a:spLocks noGrp="1"/>
          </p:cNvSpPr>
          <p:nvPr/>
        </p:nvSpPr>
        <p:spPr>
          <a:xfrm>
            <a:off x="6800850" y="310515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30분 만에 완성</a:t>
            </a:r>
          </a:p>
        </p:txBody>
      </p:sp>
      <p:sp>
        <p:nvSpPr>
          <p:cNvPr id="18" name="03-04-right-dot-3">
            <a:extLst>
              <a:ext uri="{FF2B5EF4-FFF2-40B4-BE49-F238E27FC236}">
                <a16:creationId xmlns:a16="http://schemas.microsoft.com/office/drawing/2014/main" id="{48EB9E73-E923-434B-BD32-DC265AFECC3E}"/>
              </a:ext>
            </a:extLst>
          </p:cNvPr>
          <p:cNvSpPr>
            <a:spLocks noGrp="1"/>
          </p:cNvSpPr>
          <p:nvPr/>
        </p:nvSpPr>
        <p:spPr>
          <a:xfrm>
            <a:off x="657225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03-04-right-line-3">
            <a:extLst>
              <a:ext uri="{FF2B5EF4-FFF2-40B4-BE49-F238E27FC236}">
                <a16:creationId xmlns:a16="http://schemas.microsoft.com/office/drawing/2014/main" id="{01C0B09F-A6FC-403D-ACAD-82FB1DD446C0}"/>
              </a:ext>
            </a:extLst>
          </p:cNvPr>
          <p:cNvSpPr>
            <a:spLocks noGrp="1"/>
          </p:cNvSpPr>
          <p:nvPr/>
        </p:nvSpPr>
        <p:spPr>
          <a:xfrm>
            <a:off x="6800850" y="38481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되돌릴 코드가 더 많음</a:t>
            </a:r>
          </a:p>
        </p:txBody>
      </p:sp>
    </p:spTree>
    <p:extLst>
      <p:ext uri="{BB962C8B-B14F-4D97-AF65-F5344CB8AC3E}">
        <p14:creationId xmlns:p14="http://schemas.microsoft.com/office/powerpoint/2010/main" val="156302420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03-05-footer-section">
            <a:extLst>
              <a:ext uri="{FF2B5EF4-FFF2-40B4-BE49-F238E27FC236}">
                <a16:creationId xmlns:a16="http://schemas.microsoft.com/office/drawing/2014/main" id="{0CC48E52-BB87-4B05-8E9F-54D2110D5707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SDD</a:t>
            </a:r>
          </a:p>
        </p:txBody>
      </p:sp>
      <p:sp>
        <p:nvSpPr>
          <p:cNvPr id="2" name="03-05-footer-page">
            <a:extLst>
              <a:ext uri="{FF2B5EF4-FFF2-40B4-BE49-F238E27FC236}">
                <a16:creationId xmlns:a16="http://schemas.microsoft.com/office/drawing/2014/main" id="{FE826885-D9FD-4635-8678-E20F331C94B3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38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3-05-accent-rule">
            <a:extLst>
              <a:ext uri="{FF2B5EF4-FFF2-40B4-BE49-F238E27FC236}">
                <a16:creationId xmlns:a16="http://schemas.microsoft.com/office/drawing/2014/main" id="{3575DE1F-A3B4-4AEE-B8BF-0641F0878797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3-05-title">
            <a:extLst>
              <a:ext uri="{FF2B5EF4-FFF2-40B4-BE49-F238E27FC236}">
                <a16:creationId xmlns:a16="http://schemas.microsoft.com/office/drawing/2014/main" id="{B8A70CAD-E0F6-42AA-A39A-A913E4819D27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긴 프롬프트와 명세는 다르다</a:t>
            </a:r>
          </a:p>
        </p:txBody>
      </p:sp>
      <p:sp>
        <p:nvSpPr>
          <p:cNvPr id="5" name="03-05-divider">
            <a:extLst>
              <a:ext uri="{FF2B5EF4-FFF2-40B4-BE49-F238E27FC236}">
                <a16:creationId xmlns:a16="http://schemas.microsoft.com/office/drawing/2014/main" id="{C2A394EF-5FED-44F8-B37B-470BEB648D11}"/>
              </a:ext>
            </a:extLst>
          </p:cNvPr>
          <p:cNvSpPr>
            <a:spLocks noGrp="1"/>
          </p:cNvSpPr>
          <p:nvPr/>
        </p:nvSpPr>
        <p:spPr>
          <a:xfrm>
            <a:off x="6096000" y="1676400"/>
            <a:ext cx="0" cy="390525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3-05-left-heading">
            <a:extLst>
              <a:ext uri="{FF2B5EF4-FFF2-40B4-BE49-F238E27FC236}">
                <a16:creationId xmlns:a16="http://schemas.microsoft.com/office/drawing/2014/main" id="{6481902C-C119-47B4-B719-BE308FE446BC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4857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긴 프롬프트</a:t>
            </a:r>
          </a:p>
        </p:txBody>
      </p:sp>
      <p:sp>
        <p:nvSpPr>
          <p:cNvPr id="7" name="03-05-left-dot-1">
            <a:extLst>
              <a:ext uri="{FF2B5EF4-FFF2-40B4-BE49-F238E27FC236}">
                <a16:creationId xmlns:a16="http://schemas.microsoft.com/office/drawing/2014/main" id="{9F74A638-1229-4CD2-87D6-9993016930C1}"/>
              </a:ext>
            </a:extLst>
          </p:cNvPr>
          <p:cNvSpPr>
            <a:spLocks noGrp="1"/>
          </p:cNvSpPr>
          <p:nvPr/>
        </p:nvSpPr>
        <p:spPr>
          <a:xfrm>
            <a:off x="72390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3-05-left-line-1">
            <a:extLst>
              <a:ext uri="{FF2B5EF4-FFF2-40B4-BE49-F238E27FC236}">
                <a16:creationId xmlns:a16="http://schemas.microsoft.com/office/drawing/2014/main" id="{60102C87-84EC-4866-8D2D-4D9943062C30}"/>
              </a:ext>
            </a:extLst>
          </p:cNvPr>
          <p:cNvSpPr>
            <a:spLocks noGrp="1"/>
          </p:cNvSpPr>
          <p:nvPr/>
        </p:nvSpPr>
        <p:spPr>
          <a:xfrm>
            <a:off x="952500" y="2362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답을 자세히 지시한다</a:t>
            </a:r>
          </a:p>
        </p:txBody>
      </p:sp>
      <p:sp>
        <p:nvSpPr>
          <p:cNvPr id="9" name="03-05-left-dot-2">
            <a:extLst>
              <a:ext uri="{FF2B5EF4-FFF2-40B4-BE49-F238E27FC236}">
                <a16:creationId xmlns:a16="http://schemas.microsoft.com/office/drawing/2014/main" id="{B45E0DE3-E168-424B-A256-296D41DF9D3D}"/>
              </a:ext>
            </a:extLst>
          </p:cNvPr>
          <p:cNvSpPr>
            <a:spLocks noGrp="1"/>
          </p:cNvSpPr>
          <p:nvPr/>
        </p:nvSpPr>
        <p:spPr>
          <a:xfrm>
            <a:off x="72390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3-05-left-line-2">
            <a:extLst>
              <a:ext uri="{FF2B5EF4-FFF2-40B4-BE49-F238E27FC236}">
                <a16:creationId xmlns:a16="http://schemas.microsoft.com/office/drawing/2014/main" id="{51974CA7-146C-404E-94E1-A009D68889E5}"/>
              </a:ext>
            </a:extLst>
          </p:cNvPr>
          <p:cNvSpPr>
            <a:spLocks noGrp="1"/>
          </p:cNvSpPr>
          <p:nvPr/>
        </p:nvSpPr>
        <p:spPr>
          <a:xfrm>
            <a:off x="952500" y="310515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숨은 모호함이 남을 수 있다</a:t>
            </a:r>
          </a:p>
        </p:txBody>
      </p:sp>
      <p:sp>
        <p:nvSpPr>
          <p:cNvPr id="11" name="03-05-left-dot-3">
            <a:extLst>
              <a:ext uri="{FF2B5EF4-FFF2-40B4-BE49-F238E27FC236}">
                <a16:creationId xmlns:a16="http://schemas.microsoft.com/office/drawing/2014/main" id="{67706DCA-3E52-4DFE-A453-FF178DD1EA5A}"/>
              </a:ext>
            </a:extLst>
          </p:cNvPr>
          <p:cNvSpPr>
            <a:spLocks noGrp="1"/>
          </p:cNvSpPr>
          <p:nvPr/>
        </p:nvSpPr>
        <p:spPr>
          <a:xfrm>
            <a:off x="72390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3-05-left-line-3">
            <a:extLst>
              <a:ext uri="{FF2B5EF4-FFF2-40B4-BE49-F238E27FC236}">
                <a16:creationId xmlns:a16="http://schemas.microsoft.com/office/drawing/2014/main" id="{88C66440-AA62-42B9-A87D-B4FE2017008A}"/>
              </a:ext>
            </a:extLst>
          </p:cNvPr>
          <p:cNvSpPr>
            <a:spLocks noGrp="1"/>
          </p:cNvSpPr>
          <p:nvPr/>
        </p:nvSpPr>
        <p:spPr>
          <a:xfrm>
            <a:off x="952500" y="38481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대화가 끝나면 사라진다</a:t>
            </a:r>
          </a:p>
        </p:txBody>
      </p:sp>
      <p:sp>
        <p:nvSpPr>
          <p:cNvPr id="13" name="03-05-right-heading">
            <a:extLst>
              <a:ext uri="{FF2B5EF4-FFF2-40B4-BE49-F238E27FC236}">
                <a16:creationId xmlns:a16="http://schemas.microsoft.com/office/drawing/2014/main" id="{4207860E-E7F9-453F-A61E-A6A36E264F0C}"/>
              </a:ext>
            </a:extLst>
          </p:cNvPr>
          <p:cNvSpPr>
            <a:spLocks noGrp="1"/>
          </p:cNvSpPr>
          <p:nvPr/>
        </p:nvSpPr>
        <p:spPr>
          <a:xfrm>
            <a:off x="6572250" y="1676400"/>
            <a:ext cx="4762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명세</a:t>
            </a:r>
          </a:p>
        </p:txBody>
      </p:sp>
      <p:sp>
        <p:nvSpPr>
          <p:cNvPr id="14" name="03-05-right-dot-1">
            <a:extLst>
              <a:ext uri="{FF2B5EF4-FFF2-40B4-BE49-F238E27FC236}">
                <a16:creationId xmlns:a16="http://schemas.microsoft.com/office/drawing/2014/main" id="{9D29613E-41EC-4659-A544-D4067EF23DF4}"/>
              </a:ext>
            </a:extLst>
          </p:cNvPr>
          <p:cNvSpPr>
            <a:spLocks noGrp="1"/>
          </p:cNvSpPr>
          <p:nvPr/>
        </p:nvSpPr>
        <p:spPr>
          <a:xfrm>
            <a:off x="657225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03-05-right-line-1">
            <a:extLst>
              <a:ext uri="{FF2B5EF4-FFF2-40B4-BE49-F238E27FC236}">
                <a16:creationId xmlns:a16="http://schemas.microsoft.com/office/drawing/2014/main" id="{9AED7501-5733-4FBC-ADD4-FF1091271092}"/>
              </a:ext>
            </a:extLst>
          </p:cNvPr>
          <p:cNvSpPr>
            <a:spLocks noGrp="1"/>
          </p:cNvSpPr>
          <p:nvPr/>
        </p:nvSpPr>
        <p:spPr>
          <a:xfrm>
            <a:off x="6800850" y="2362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질문으로 모호함을 찾는다</a:t>
            </a:r>
          </a:p>
        </p:txBody>
      </p:sp>
      <p:sp>
        <p:nvSpPr>
          <p:cNvPr id="16" name="03-05-right-dot-2">
            <a:extLst>
              <a:ext uri="{FF2B5EF4-FFF2-40B4-BE49-F238E27FC236}">
                <a16:creationId xmlns:a16="http://schemas.microsoft.com/office/drawing/2014/main" id="{10E0EC29-D629-4985-AC46-6E076D207B1C}"/>
              </a:ext>
            </a:extLst>
          </p:cNvPr>
          <p:cNvSpPr>
            <a:spLocks noGrp="1"/>
          </p:cNvSpPr>
          <p:nvPr/>
        </p:nvSpPr>
        <p:spPr>
          <a:xfrm>
            <a:off x="657225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03-05-right-line-2">
            <a:extLst>
              <a:ext uri="{FF2B5EF4-FFF2-40B4-BE49-F238E27FC236}">
                <a16:creationId xmlns:a16="http://schemas.microsoft.com/office/drawing/2014/main" id="{27FF8FBB-213E-4195-87A5-FD3805D603A4}"/>
              </a:ext>
            </a:extLst>
          </p:cNvPr>
          <p:cNvSpPr>
            <a:spLocks noGrp="1"/>
          </p:cNvSpPr>
          <p:nvPr/>
        </p:nvSpPr>
        <p:spPr>
          <a:xfrm>
            <a:off x="6800850" y="310515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제외 범위를 합의한다</a:t>
            </a:r>
          </a:p>
        </p:txBody>
      </p:sp>
      <p:sp>
        <p:nvSpPr>
          <p:cNvPr id="18" name="03-05-right-dot-3">
            <a:extLst>
              <a:ext uri="{FF2B5EF4-FFF2-40B4-BE49-F238E27FC236}">
                <a16:creationId xmlns:a16="http://schemas.microsoft.com/office/drawing/2014/main" id="{F5640815-AED0-4B42-BE60-F2C688272AF4}"/>
              </a:ext>
            </a:extLst>
          </p:cNvPr>
          <p:cNvSpPr>
            <a:spLocks noGrp="1"/>
          </p:cNvSpPr>
          <p:nvPr/>
        </p:nvSpPr>
        <p:spPr>
          <a:xfrm>
            <a:off x="657225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03-05-right-line-3">
            <a:extLst>
              <a:ext uri="{FF2B5EF4-FFF2-40B4-BE49-F238E27FC236}">
                <a16:creationId xmlns:a16="http://schemas.microsoft.com/office/drawing/2014/main" id="{017D0E8D-83E6-4D1D-A695-AEAB98A879FA}"/>
              </a:ext>
            </a:extLst>
          </p:cNvPr>
          <p:cNvSpPr>
            <a:spLocks noGrp="1"/>
          </p:cNvSpPr>
          <p:nvPr/>
        </p:nvSpPr>
        <p:spPr>
          <a:xfrm>
            <a:off x="6800850" y="38481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성공 조건이 파일로 남는다</a:t>
            </a:r>
          </a:p>
        </p:txBody>
      </p:sp>
      <p:sp>
        <p:nvSpPr>
          <p:cNvPr id="20" name="03-05-optional">
            <a:extLst>
              <a:ext uri="{FF2B5EF4-FFF2-40B4-BE49-F238E27FC236}">
                <a16:creationId xmlns:a16="http://schemas.microsoft.com/office/drawing/2014/main" id="{BC92750F-0191-4130-AF49-F8EEBF5BA38F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192107450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03-06-footer-section">
            <a:extLst>
              <a:ext uri="{FF2B5EF4-FFF2-40B4-BE49-F238E27FC236}">
                <a16:creationId xmlns:a16="http://schemas.microsoft.com/office/drawing/2014/main" id="{3202DF8D-9EEC-4602-B759-C8A88273E1E5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SDD</a:t>
            </a:r>
          </a:p>
        </p:txBody>
      </p:sp>
      <p:sp>
        <p:nvSpPr>
          <p:cNvPr id="2" name="03-06-footer-page">
            <a:extLst>
              <a:ext uri="{FF2B5EF4-FFF2-40B4-BE49-F238E27FC236}">
                <a16:creationId xmlns:a16="http://schemas.microsoft.com/office/drawing/2014/main" id="{F1C96AC4-16EF-4399-BE80-31D143D0C542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39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3-06-accent-rule">
            <a:extLst>
              <a:ext uri="{FF2B5EF4-FFF2-40B4-BE49-F238E27FC236}">
                <a16:creationId xmlns:a16="http://schemas.microsoft.com/office/drawing/2014/main" id="{AE8AF727-144A-4507-8B3A-93BFBD8A2E3C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3-06-title">
            <a:extLst>
              <a:ext uri="{FF2B5EF4-FFF2-40B4-BE49-F238E27FC236}">
                <a16:creationId xmlns:a16="http://schemas.microsoft.com/office/drawing/2014/main" id="{424CE0DA-0804-4B98-B463-B5553E5872E6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합의가 파일로 남아야 다음 단계로 간다</a:t>
            </a:r>
          </a:p>
        </p:txBody>
      </p:sp>
      <p:sp>
        <p:nvSpPr>
          <p:cNvPr id="5" name="03-06-arrow-1">
            <a:extLst>
              <a:ext uri="{FF2B5EF4-FFF2-40B4-BE49-F238E27FC236}">
                <a16:creationId xmlns:a16="http://schemas.microsoft.com/office/drawing/2014/main" id="{05590781-982C-41D6-8E6E-A7968FCDD435}"/>
              </a:ext>
            </a:extLst>
          </p:cNvPr>
          <p:cNvSpPr>
            <a:spLocks noGrp="1"/>
          </p:cNvSpPr>
          <p:nvPr/>
        </p:nvSpPr>
        <p:spPr>
          <a:xfrm>
            <a:off x="2857500" y="2390775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3-06-arrow-2">
            <a:extLst>
              <a:ext uri="{FF2B5EF4-FFF2-40B4-BE49-F238E27FC236}">
                <a16:creationId xmlns:a16="http://schemas.microsoft.com/office/drawing/2014/main" id="{CD607BB6-6477-4245-AD51-D23C1E221515}"/>
              </a:ext>
            </a:extLst>
          </p:cNvPr>
          <p:cNvSpPr>
            <a:spLocks noGrp="1"/>
          </p:cNvSpPr>
          <p:nvPr/>
        </p:nvSpPr>
        <p:spPr>
          <a:xfrm>
            <a:off x="4857750" y="2390775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3-06-arrow-3a">
            <a:extLst>
              <a:ext uri="{FF2B5EF4-FFF2-40B4-BE49-F238E27FC236}">
                <a16:creationId xmlns:a16="http://schemas.microsoft.com/office/drawing/2014/main" id="{44E75B2E-2423-4307-A48B-3199E4F3FEA8}"/>
              </a:ext>
            </a:extLst>
          </p:cNvPr>
          <p:cNvSpPr>
            <a:spLocks noGrp="1"/>
          </p:cNvSpPr>
          <p:nvPr/>
        </p:nvSpPr>
        <p:spPr>
          <a:xfrm>
            <a:off x="5953125" y="2828925"/>
            <a:ext cx="0" cy="74295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3-06-arrow-4">
            <a:extLst>
              <a:ext uri="{FF2B5EF4-FFF2-40B4-BE49-F238E27FC236}">
                <a16:creationId xmlns:a16="http://schemas.microsoft.com/office/drawing/2014/main" id="{34AF9761-07E6-442F-B42B-8349A9060C9A}"/>
              </a:ext>
            </a:extLst>
          </p:cNvPr>
          <p:cNvSpPr>
            <a:spLocks noGrp="1"/>
          </p:cNvSpPr>
          <p:nvPr/>
        </p:nvSpPr>
        <p:spPr>
          <a:xfrm>
            <a:off x="2857500" y="4200525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03-06-arrow-5">
            <a:extLst>
              <a:ext uri="{FF2B5EF4-FFF2-40B4-BE49-F238E27FC236}">
                <a16:creationId xmlns:a16="http://schemas.microsoft.com/office/drawing/2014/main" id="{A3D2E6A2-941C-4E4D-B0F1-58F08AA0C945}"/>
              </a:ext>
            </a:extLst>
          </p:cNvPr>
          <p:cNvSpPr>
            <a:spLocks noGrp="1"/>
          </p:cNvSpPr>
          <p:nvPr/>
        </p:nvSpPr>
        <p:spPr>
          <a:xfrm>
            <a:off x="4857750" y="4200525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3-06-node-1">
            <a:extLst>
              <a:ext uri="{FF2B5EF4-FFF2-40B4-BE49-F238E27FC236}">
                <a16:creationId xmlns:a16="http://schemas.microsoft.com/office/drawing/2014/main" id="{32B1F0A7-8169-4F46-9A03-7BB07A62408F}"/>
              </a:ext>
            </a:extLst>
          </p:cNvPr>
          <p:cNvSpPr>
            <a:spLocks noGrp="1"/>
          </p:cNvSpPr>
          <p:nvPr/>
        </p:nvSpPr>
        <p:spPr>
          <a:xfrm>
            <a:off x="1047750" y="195262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2878C7"/>
          </a:solidFill>
          <a:ln w="19050">
            <a:solidFill>
              <a:srgbClr val="2878C7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11" name="03-06-node-2">
            <a:extLst>
              <a:ext uri="{FF2B5EF4-FFF2-40B4-BE49-F238E27FC236}">
                <a16:creationId xmlns:a16="http://schemas.microsoft.com/office/drawing/2014/main" id="{030C29EF-3801-48D2-BA5C-38FEEF4280E7}"/>
              </a:ext>
            </a:extLst>
          </p:cNvPr>
          <p:cNvSpPr>
            <a:spLocks noGrp="1"/>
          </p:cNvSpPr>
          <p:nvPr/>
        </p:nvSpPr>
        <p:spPr>
          <a:xfrm>
            <a:off x="3048000" y="195262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범위</a:t>
            </a:r>
          </a:p>
        </p:txBody>
      </p:sp>
      <p:sp>
        <p:nvSpPr>
          <p:cNvPr id="12" name="03-06-node-3">
            <a:extLst>
              <a:ext uri="{FF2B5EF4-FFF2-40B4-BE49-F238E27FC236}">
                <a16:creationId xmlns:a16="http://schemas.microsoft.com/office/drawing/2014/main" id="{55BF253B-347A-4C83-8FCB-E2D969609DA8}"/>
              </a:ext>
            </a:extLst>
          </p:cNvPr>
          <p:cNvSpPr>
            <a:spLocks noGrp="1"/>
          </p:cNvSpPr>
          <p:nvPr/>
        </p:nvSpPr>
        <p:spPr>
          <a:xfrm>
            <a:off x="5048250" y="195262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제외 범위</a:t>
            </a:r>
          </a:p>
        </p:txBody>
      </p:sp>
      <p:sp>
        <p:nvSpPr>
          <p:cNvPr id="13" name="03-06-node-4">
            <a:extLst>
              <a:ext uri="{FF2B5EF4-FFF2-40B4-BE49-F238E27FC236}">
                <a16:creationId xmlns:a16="http://schemas.microsoft.com/office/drawing/2014/main" id="{C7EBEA19-65E0-42A3-B237-E6B96871EE16}"/>
              </a:ext>
            </a:extLst>
          </p:cNvPr>
          <p:cNvSpPr>
            <a:spLocks noGrp="1"/>
          </p:cNvSpPr>
          <p:nvPr/>
        </p:nvSpPr>
        <p:spPr>
          <a:xfrm>
            <a:off x="1047750" y="376237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제약</a:t>
            </a:r>
          </a:p>
        </p:txBody>
      </p:sp>
      <p:sp>
        <p:nvSpPr>
          <p:cNvPr id="14" name="03-06-node-5">
            <a:extLst>
              <a:ext uri="{FF2B5EF4-FFF2-40B4-BE49-F238E27FC236}">
                <a16:creationId xmlns:a16="http://schemas.microsoft.com/office/drawing/2014/main" id="{DDC568B9-4743-4B31-9D2C-5570814B2B81}"/>
              </a:ext>
            </a:extLst>
          </p:cNvPr>
          <p:cNvSpPr>
            <a:spLocks noGrp="1"/>
          </p:cNvSpPr>
          <p:nvPr/>
        </p:nvSpPr>
        <p:spPr>
          <a:xfrm>
            <a:off x="3048000" y="376237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성공 조건</a:t>
            </a:r>
          </a:p>
        </p:txBody>
      </p:sp>
      <p:sp>
        <p:nvSpPr>
          <p:cNvPr id="15" name="03-06-node-6">
            <a:extLst>
              <a:ext uri="{FF2B5EF4-FFF2-40B4-BE49-F238E27FC236}">
                <a16:creationId xmlns:a16="http://schemas.microsoft.com/office/drawing/2014/main" id="{95B3322E-7579-4249-A52D-A3865225026D}"/>
              </a:ext>
            </a:extLst>
          </p:cNvPr>
          <p:cNvSpPr>
            <a:spLocks noGrp="1"/>
          </p:cNvSpPr>
          <p:nvPr/>
        </p:nvSpPr>
        <p:spPr>
          <a:xfrm>
            <a:off x="5048250" y="376237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spec</a:t>
            </a:r>
          </a:p>
        </p:txBody>
      </p:sp>
      <p:sp>
        <p:nvSpPr>
          <p:cNvPr id="16" name="03-06-caption">
            <a:extLst>
              <a:ext uri="{FF2B5EF4-FFF2-40B4-BE49-F238E27FC236}">
                <a16:creationId xmlns:a16="http://schemas.microsoft.com/office/drawing/2014/main" id="{20413E22-42E0-4164-8520-2EEFFF041C07}"/>
              </a:ext>
            </a:extLst>
          </p:cNvPr>
          <p:cNvSpPr>
            <a:spLocks noGrp="1"/>
          </p:cNvSpPr>
          <p:nvPr/>
        </p:nvSpPr>
        <p:spPr>
          <a:xfrm>
            <a:off x="1143000" y="5524500"/>
            <a:ext cx="9906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대화가 아니라 남는 상태가 목적</a:t>
            </a:r>
          </a:p>
        </p:txBody>
      </p:sp>
    </p:spTree>
    <p:extLst>
      <p:ext uri="{BB962C8B-B14F-4D97-AF65-F5344CB8AC3E}">
        <p14:creationId xmlns:p14="http://schemas.microsoft.com/office/powerpoint/2010/main" val="209358736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03-07-footer-section">
            <a:extLst>
              <a:ext uri="{FF2B5EF4-FFF2-40B4-BE49-F238E27FC236}">
                <a16:creationId xmlns:a16="http://schemas.microsoft.com/office/drawing/2014/main" id="{78FBB7A9-9B93-495A-9983-321C0BD79997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DDD</a:t>
            </a:r>
          </a:p>
        </p:txBody>
      </p:sp>
      <p:sp>
        <p:nvSpPr>
          <p:cNvPr id="2" name="03-07-footer-page">
            <a:extLst>
              <a:ext uri="{FF2B5EF4-FFF2-40B4-BE49-F238E27FC236}">
                <a16:creationId xmlns:a16="http://schemas.microsoft.com/office/drawing/2014/main" id="{F54F1C6B-9A6C-42EF-9CDE-87E0467C9EC6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40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3-07-accent-rule">
            <a:extLst>
              <a:ext uri="{FF2B5EF4-FFF2-40B4-BE49-F238E27FC236}">
                <a16:creationId xmlns:a16="http://schemas.microsoft.com/office/drawing/2014/main" id="{73256F6D-6384-42D4-B529-8C50E09F29F3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3-07-title">
            <a:extLst>
              <a:ext uri="{FF2B5EF4-FFF2-40B4-BE49-F238E27FC236}">
                <a16:creationId xmlns:a16="http://schemas.microsoft.com/office/drawing/2014/main" id="{78F9E93A-6176-41DF-8774-2DA06B062181}"/>
              </a:ext>
            </a:extLst>
          </p:cNvPr>
          <p:cNvSpPr>
            <a:spLocks noGrp="1"/>
          </p:cNvSpPr>
          <p:nvPr/>
        </p:nvSpPr>
        <p:spPr>
          <a:xfrm>
            <a:off x="723900" y="704850"/>
            <a:ext cx="1028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DDD는 같은 단어를 같은 뜻으로 쓰는 데서 시작한다</a:t>
            </a:r>
          </a:p>
        </p:txBody>
      </p:sp>
      <p:sp>
        <p:nvSpPr>
          <p:cNvPr id="5" name="03-07-bullet-1">
            <a:extLst>
              <a:ext uri="{FF2B5EF4-FFF2-40B4-BE49-F238E27FC236}">
                <a16:creationId xmlns:a16="http://schemas.microsoft.com/office/drawing/2014/main" id="{3F9E4B97-8D07-41FA-9D74-B710B6F38A1F}"/>
              </a:ext>
            </a:extLst>
          </p:cNvPr>
          <p:cNvSpPr>
            <a:spLocks noGrp="1"/>
          </p:cNvSpPr>
          <p:nvPr/>
        </p:nvSpPr>
        <p:spPr>
          <a:xfrm>
            <a:off x="876300" y="206692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3-07-body-1">
            <a:extLst>
              <a:ext uri="{FF2B5EF4-FFF2-40B4-BE49-F238E27FC236}">
                <a16:creationId xmlns:a16="http://schemas.microsoft.com/office/drawing/2014/main" id="{352AEDAF-D470-4064-A2F0-9C6EAA9D73F0}"/>
              </a:ext>
            </a:extLst>
          </p:cNvPr>
          <p:cNvSpPr>
            <a:spLocks noGrp="1"/>
          </p:cNvSpPr>
          <p:nvPr/>
        </p:nvSpPr>
        <p:spPr>
          <a:xfrm>
            <a:off x="1143000" y="195262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모르는 용어를 추측하지 않는다</a:t>
            </a:r>
          </a:p>
        </p:txBody>
      </p:sp>
      <p:sp>
        <p:nvSpPr>
          <p:cNvPr id="7" name="03-07-bullet-2">
            <a:extLst>
              <a:ext uri="{FF2B5EF4-FFF2-40B4-BE49-F238E27FC236}">
                <a16:creationId xmlns:a16="http://schemas.microsoft.com/office/drawing/2014/main" id="{8C5E65D4-2F50-4C5F-9F2C-826D8311B595}"/>
              </a:ext>
            </a:extLst>
          </p:cNvPr>
          <p:cNvSpPr>
            <a:spLocks noGrp="1"/>
          </p:cNvSpPr>
          <p:nvPr/>
        </p:nvSpPr>
        <p:spPr>
          <a:xfrm>
            <a:off x="876300" y="284797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3-07-body-2">
            <a:extLst>
              <a:ext uri="{FF2B5EF4-FFF2-40B4-BE49-F238E27FC236}">
                <a16:creationId xmlns:a16="http://schemas.microsoft.com/office/drawing/2014/main" id="{1D2B5CDB-36E5-4EAF-B097-89C386751F82}"/>
              </a:ext>
            </a:extLst>
          </p:cNvPr>
          <p:cNvSpPr>
            <a:spLocks noGrp="1"/>
          </p:cNvSpPr>
          <p:nvPr/>
        </p:nvSpPr>
        <p:spPr>
          <a:xfrm>
            <a:off x="1143000" y="273367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같은 정의를 사람·코드·테스트에 사용한다</a:t>
            </a:r>
          </a:p>
        </p:txBody>
      </p:sp>
    </p:spTree>
    <p:extLst>
      <p:ext uri="{BB962C8B-B14F-4D97-AF65-F5344CB8AC3E}">
        <p14:creationId xmlns:p14="http://schemas.microsoft.com/office/powerpoint/2010/main" val="179532103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03-08-footer-section">
            <a:extLst>
              <a:ext uri="{FF2B5EF4-FFF2-40B4-BE49-F238E27FC236}">
                <a16:creationId xmlns:a16="http://schemas.microsoft.com/office/drawing/2014/main" id="{EFCD6536-471A-409A-9BD8-B472A8344A88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DDD</a:t>
            </a:r>
          </a:p>
        </p:txBody>
      </p:sp>
      <p:sp>
        <p:nvSpPr>
          <p:cNvPr id="2" name="03-08-footer-page">
            <a:extLst>
              <a:ext uri="{FF2B5EF4-FFF2-40B4-BE49-F238E27FC236}">
                <a16:creationId xmlns:a16="http://schemas.microsoft.com/office/drawing/2014/main" id="{66F64260-8456-4B26-B913-A9FCD0136881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41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3-08-accent-rule">
            <a:extLst>
              <a:ext uri="{FF2B5EF4-FFF2-40B4-BE49-F238E27FC236}">
                <a16:creationId xmlns:a16="http://schemas.microsoft.com/office/drawing/2014/main" id="{C3B27CE5-52AC-478E-A75F-BD9012D3B682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3-08-title">
            <a:extLst>
              <a:ext uri="{FF2B5EF4-FFF2-40B4-BE49-F238E27FC236}">
                <a16:creationId xmlns:a16="http://schemas.microsoft.com/office/drawing/2014/main" id="{66098F3F-8CFF-40AB-B159-42F9A1E933DF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이름이 흔들리면 설계와 테스트도 흔들린다</a:t>
            </a:r>
          </a:p>
        </p:txBody>
      </p:sp>
      <p:sp>
        <p:nvSpPr>
          <p:cNvPr id="5" name="03-08-prompt">
            <a:extLst>
              <a:ext uri="{FF2B5EF4-FFF2-40B4-BE49-F238E27FC236}">
                <a16:creationId xmlns:a16="http://schemas.microsoft.com/office/drawing/2014/main" id="{92821F42-A875-41B0-AB23-89A978488B23}"/>
              </a:ext>
            </a:extLst>
          </p:cNvPr>
          <p:cNvSpPr>
            <a:spLocks noGrp="1"/>
          </p:cNvSpPr>
          <p:nvPr/>
        </p:nvSpPr>
        <p:spPr>
          <a:xfrm>
            <a:off x="723900" y="1638300"/>
            <a:ext cx="990600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‘주문 취소’란 무엇인가?</a:t>
            </a:r>
          </a:p>
        </p:txBody>
      </p:sp>
      <p:sp>
        <p:nvSpPr>
          <p:cNvPr id="6" name="03-08-bullet-1">
            <a:extLst>
              <a:ext uri="{FF2B5EF4-FFF2-40B4-BE49-F238E27FC236}">
                <a16:creationId xmlns:a16="http://schemas.microsoft.com/office/drawing/2014/main" id="{37290D6C-3F4D-4814-8A1A-F2CFF1A94D52}"/>
              </a:ext>
            </a:extLst>
          </p:cNvPr>
          <p:cNvSpPr>
            <a:spLocks noGrp="1"/>
          </p:cNvSpPr>
          <p:nvPr/>
        </p:nvSpPr>
        <p:spPr>
          <a:xfrm>
            <a:off x="876300" y="24955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3-08-body-1">
            <a:extLst>
              <a:ext uri="{FF2B5EF4-FFF2-40B4-BE49-F238E27FC236}">
                <a16:creationId xmlns:a16="http://schemas.microsoft.com/office/drawing/2014/main" id="{C7B0D59D-F452-4B36-8FB7-29AF46FA7513}"/>
              </a:ext>
            </a:extLst>
          </p:cNvPr>
          <p:cNvSpPr>
            <a:spLocks noGrp="1"/>
          </p:cNvSpPr>
          <p:nvPr/>
        </p:nvSpPr>
        <p:spPr>
          <a:xfrm>
            <a:off x="1143000" y="23812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주문 상태만 바꾸는가</a:t>
            </a:r>
          </a:p>
        </p:txBody>
      </p:sp>
      <p:sp>
        <p:nvSpPr>
          <p:cNvPr id="8" name="03-08-bullet-2">
            <a:extLst>
              <a:ext uri="{FF2B5EF4-FFF2-40B4-BE49-F238E27FC236}">
                <a16:creationId xmlns:a16="http://schemas.microsoft.com/office/drawing/2014/main" id="{264822E3-017A-44E5-B2B5-83B2A7718DDC}"/>
              </a:ext>
            </a:extLst>
          </p:cNvPr>
          <p:cNvSpPr>
            <a:spLocks noGrp="1"/>
          </p:cNvSpPr>
          <p:nvPr/>
        </p:nvSpPr>
        <p:spPr>
          <a:xfrm>
            <a:off x="876300" y="30480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03-08-body-2">
            <a:extLst>
              <a:ext uri="{FF2B5EF4-FFF2-40B4-BE49-F238E27FC236}">
                <a16:creationId xmlns:a16="http://schemas.microsoft.com/office/drawing/2014/main" id="{6B024B5A-1FB2-428F-B22B-B691B3334A9F}"/>
              </a:ext>
            </a:extLst>
          </p:cNvPr>
          <p:cNvSpPr>
            <a:spLocks noGrp="1"/>
          </p:cNvSpPr>
          <p:nvPr/>
        </p:nvSpPr>
        <p:spPr>
          <a:xfrm>
            <a:off x="1143000" y="293370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재고를 복원하는가</a:t>
            </a:r>
          </a:p>
        </p:txBody>
      </p:sp>
      <p:sp>
        <p:nvSpPr>
          <p:cNvPr id="10" name="03-08-bullet-3">
            <a:extLst>
              <a:ext uri="{FF2B5EF4-FFF2-40B4-BE49-F238E27FC236}">
                <a16:creationId xmlns:a16="http://schemas.microsoft.com/office/drawing/2014/main" id="{FB3D5672-178F-4FA0-ADE3-A1BEE0025D0D}"/>
              </a:ext>
            </a:extLst>
          </p:cNvPr>
          <p:cNvSpPr>
            <a:spLocks noGrp="1"/>
          </p:cNvSpPr>
          <p:nvPr/>
        </p:nvSpPr>
        <p:spPr>
          <a:xfrm>
            <a:off x="876300" y="36004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03-08-body-3">
            <a:extLst>
              <a:ext uri="{FF2B5EF4-FFF2-40B4-BE49-F238E27FC236}">
                <a16:creationId xmlns:a16="http://schemas.microsoft.com/office/drawing/2014/main" id="{95EB1618-419E-440B-9340-DC3B14EF5589}"/>
              </a:ext>
            </a:extLst>
          </p:cNvPr>
          <p:cNvSpPr>
            <a:spLocks noGrp="1"/>
          </p:cNvSpPr>
          <p:nvPr/>
        </p:nvSpPr>
        <p:spPr>
          <a:xfrm>
            <a:off x="1143000" y="34861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결제 환불까지 포함하는가</a:t>
            </a:r>
          </a:p>
        </p:txBody>
      </p:sp>
      <p:sp>
        <p:nvSpPr>
          <p:cNvPr id="12" name="03-08-bullet-4">
            <a:extLst>
              <a:ext uri="{FF2B5EF4-FFF2-40B4-BE49-F238E27FC236}">
                <a16:creationId xmlns:a16="http://schemas.microsoft.com/office/drawing/2014/main" id="{95125BA9-53FD-4E1F-8C5B-354BCE7BCCDC}"/>
              </a:ext>
            </a:extLst>
          </p:cNvPr>
          <p:cNvSpPr>
            <a:spLocks noGrp="1"/>
          </p:cNvSpPr>
          <p:nvPr/>
        </p:nvSpPr>
        <p:spPr>
          <a:xfrm>
            <a:off x="876300" y="41529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03-08-body-4">
            <a:extLst>
              <a:ext uri="{FF2B5EF4-FFF2-40B4-BE49-F238E27FC236}">
                <a16:creationId xmlns:a16="http://schemas.microsoft.com/office/drawing/2014/main" id="{83555A7D-1A02-422A-B4FE-CA5E634DF504}"/>
              </a:ext>
            </a:extLst>
          </p:cNvPr>
          <p:cNvSpPr>
            <a:spLocks noGrp="1"/>
          </p:cNvSpPr>
          <p:nvPr/>
        </p:nvSpPr>
        <p:spPr>
          <a:xfrm>
            <a:off x="1143000" y="403860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배송 후에도 가능한가</a:t>
            </a:r>
          </a:p>
        </p:txBody>
      </p:sp>
    </p:spTree>
    <p:extLst>
      <p:ext uri="{BB962C8B-B14F-4D97-AF65-F5344CB8AC3E}">
        <p14:creationId xmlns:p14="http://schemas.microsoft.com/office/powerpoint/2010/main" val="117726889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03-09-footer-section">
            <a:extLst>
              <a:ext uri="{FF2B5EF4-FFF2-40B4-BE49-F238E27FC236}">
                <a16:creationId xmlns:a16="http://schemas.microsoft.com/office/drawing/2014/main" id="{2F706253-572A-4B88-8C29-390E2E2989D5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DDD</a:t>
            </a:r>
          </a:p>
        </p:txBody>
      </p:sp>
      <p:sp>
        <p:nvSpPr>
          <p:cNvPr id="2" name="03-09-footer-page">
            <a:extLst>
              <a:ext uri="{FF2B5EF4-FFF2-40B4-BE49-F238E27FC236}">
                <a16:creationId xmlns:a16="http://schemas.microsoft.com/office/drawing/2014/main" id="{2787F2E0-B987-4493-A71F-F349316F6F38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42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3-09-accent-rule">
            <a:extLst>
              <a:ext uri="{FF2B5EF4-FFF2-40B4-BE49-F238E27FC236}">
                <a16:creationId xmlns:a16="http://schemas.microsoft.com/office/drawing/2014/main" id="{B71BA7FD-7F5D-40AA-8B62-95F1BEBBE5D1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3-09-title">
            <a:extLst>
              <a:ext uri="{FF2B5EF4-FFF2-40B4-BE49-F238E27FC236}">
                <a16:creationId xmlns:a16="http://schemas.microsoft.com/office/drawing/2014/main" id="{669E2358-A04B-4E12-B0B1-1B3DF6D4329D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용어집은 이름 판단을 대조 가능하게 만든다</a:t>
            </a:r>
          </a:p>
        </p:txBody>
      </p:sp>
      <p:sp>
        <p:nvSpPr>
          <p:cNvPr id="5" name="03-09-divider">
            <a:extLst>
              <a:ext uri="{FF2B5EF4-FFF2-40B4-BE49-F238E27FC236}">
                <a16:creationId xmlns:a16="http://schemas.microsoft.com/office/drawing/2014/main" id="{895D866E-41F5-41FC-9341-7038E24B4788}"/>
              </a:ext>
            </a:extLst>
          </p:cNvPr>
          <p:cNvSpPr>
            <a:spLocks noGrp="1"/>
          </p:cNvSpPr>
          <p:nvPr/>
        </p:nvSpPr>
        <p:spPr>
          <a:xfrm>
            <a:off x="6096000" y="1676400"/>
            <a:ext cx="0" cy="390525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3-09-left-heading">
            <a:extLst>
              <a:ext uri="{FF2B5EF4-FFF2-40B4-BE49-F238E27FC236}">
                <a16:creationId xmlns:a16="http://schemas.microsoft.com/office/drawing/2014/main" id="{0C49748C-4B75-4791-AFB3-A93CE726C803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4857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용어집이 없을 때</a:t>
            </a:r>
          </a:p>
        </p:txBody>
      </p:sp>
      <p:sp>
        <p:nvSpPr>
          <p:cNvPr id="7" name="03-09-left-dot-1">
            <a:extLst>
              <a:ext uri="{FF2B5EF4-FFF2-40B4-BE49-F238E27FC236}">
                <a16:creationId xmlns:a16="http://schemas.microsoft.com/office/drawing/2014/main" id="{37D41CF8-CAEB-4742-AE2B-1DDC85707C93}"/>
              </a:ext>
            </a:extLst>
          </p:cNvPr>
          <p:cNvSpPr>
            <a:spLocks noGrp="1"/>
          </p:cNvSpPr>
          <p:nvPr/>
        </p:nvSpPr>
        <p:spPr>
          <a:xfrm>
            <a:off x="72390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3-09-left-line-1">
            <a:extLst>
              <a:ext uri="{FF2B5EF4-FFF2-40B4-BE49-F238E27FC236}">
                <a16:creationId xmlns:a16="http://schemas.microsoft.com/office/drawing/2014/main" id="{1B9BF421-8765-405D-B6CB-694AE620A0B8}"/>
              </a:ext>
            </a:extLst>
          </p:cNvPr>
          <p:cNvSpPr>
            <a:spLocks noGrp="1"/>
          </p:cNvSpPr>
          <p:nvPr/>
        </p:nvSpPr>
        <p:spPr>
          <a:xfrm>
            <a:off x="952500" y="2362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AI가 그럴듯한 이름을 만든다</a:t>
            </a:r>
          </a:p>
        </p:txBody>
      </p:sp>
      <p:sp>
        <p:nvSpPr>
          <p:cNvPr id="9" name="03-09-left-dot-2">
            <a:extLst>
              <a:ext uri="{FF2B5EF4-FFF2-40B4-BE49-F238E27FC236}">
                <a16:creationId xmlns:a16="http://schemas.microsoft.com/office/drawing/2014/main" id="{C52064F3-BD63-4EB5-8F3E-33F85C86883C}"/>
              </a:ext>
            </a:extLst>
          </p:cNvPr>
          <p:cNvSpPr>
            <a:spLocks noGrp="1"/>
          </p:cNvSpPr>
          <p:nvPr/>
        </p:nvSpPr>
        <p:spPr>
          <a:xfrm>
            <a:off x="72390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3-09-left-line-2">
            <a:extLst>
              <a:ext uri="{FF2B5EF4-FFF2-40B4-BE49-F238E27FC236}">
                <a16:creationId xmlns:a16="http://schemas.microsoft.com/office/drawing/2014/main" id="{26250715-F8AB-4F81-838D-358C3DD46AD5}"/>
              </a:ext>
            </a:extLst>
          </p:cNvPr>
          <p:cNvSpPr>
            <a:spLocks noGrp="1"/>
          </p:cNvSpPr>
          <p:nvPr/>
        </p:nvSpPr>
        <p:spPr>
          <a:xfrm>
            <a:off x="952500" y="310515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세션마다 표현이 달라진다</a:t>
            </a:r>
          </a:p>
        </p:txBody>
      </p:sp>
      <p:sp>
        <p:nvSpPr>
          <p:cNvPr id="11" name="03-09-left-dot-3">
            <a:extLst>
              <a:ext uri="{FF2B5EF4-FFF2-40B4-BE49-F238E27FC236}">
                <a16:creationId xmlns:a16="http://schemas.microsoft.com/office/drawing/2014/main" id="{C5D0E237-6B4D-4E1B-BFD9-E9D169E2322D}"/>
              </a:ext>
            </a:extLst>
          </p:cNvPr>
          <p:cNvSpPr>
            <a:spLocks noGrp="1"/>
          </p:cNvSpPr>
          <p:nvPr/>
        </p:nvSpPr>
        <p:spPr>
          <a:xfrm>
            <a:off x="72390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3-09-left-line-3">
            <a:extLst>
              <a:ext uri="{FF2B5EF4-FFF2-40B4-BE49-F238E27FC236}">
                <a16:creationId xmlns:a16="http://schemas.microsoft.com/office/drawing/2014/main" id="{B0FBE8F9-5934-49E0-BE57-F46BDC960DF8}"/>
              </a:ext>
            </a:extLst>
          </p:cNvPr>
          <p:cNvSpPr>
            <a:spLocks noGrp="1"/>
          </p:cNvSpPr>
          <p:nvPr/>
        </p:nvSpPr>
        <p:spPr>
          <a:xfrm>
            <a:off x="952500" y="38481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사람만 어색함을 느낀다</a:t>
            </a:r>
          </a:p>
        </p:txBody>
      </p:sp>
      <p:sp>
        <p:nvSpPr>
          <p:cNvPr id="13" name="03-09-right-heading">
            <a:extLst>
              <a:ext uri="{FF2B5EF4-FFF2-40B4-BE49-F238E27FC236}">
                <a16:creationId xmlns:a16="http://schemas.microsoft.com/office/drawing/2014/main" id="{AC4FC00A-B7DB-4005-9F8F-3EB8D8F4CBA4}"/>
              </a:ext>
            </a:extLst>
          </p:cNvPr>
          <p:cNvSpPr>
            <a:spLocks noGrp="1"/>
          </p:cNvSpPr>
          <p:nvPr/>
        </p:nvSpPr>
        <p:spPr>
          <a:xfrm>
            <a:off x="6572250" y="1676400"/>
            <a:ext cx="4762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용어집이 있을 때</a:t>
            </a:r>
          </a:p>
        </p:txBody>
      </p:sp>
      <p:sp>
        <p:nvSpPr>
          <p:cNvPr id="14" name="03-09-right-dot-1">
            <a:extLst>
              <a:ext uri="{FF2B5EF4-FFF2-40B4-BE49-F238E27FC236}">
                <a16:creationId xmlns:a16="http://schemas.microsoft.com/office/drawing/2014/main" id="{18236A21-A539-441A-8191-1EE48B93D737}"/>
              </a:ext>
            </a:extLst>
          </p:cNvPr>
          <p:cNvSpPr>
            <a:spLocks noGrp="1"/>
          </p:cNvSpPr>
          <p:nvPr/>
        </p:nvSpPr>
        <p:spPr>
          <a:xfrm>
            <a:off x="657225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03-09-right-line-1">
            <a:extLst>
              <a:ext uri="{FF2B5EF4-FFF2-40B4-BE49-F238E27FC236}">
                <a16:creationId xmlns:a16="http://schemas.microsoft.com/office/drawing/2014/main" id="{40FAB9A8-5194-4F93-8723-DB0CB668081F}"/>
              </a:ext>
            </a:extLst>
          </p:cNvPr>
          <p:cNvSpPr>
            <a:spLocks noGrp="1"/>
          </p:cNvSpPr>
          <p:nvPr/>
        </p:nvSpPr>
        <p:spPr>
          <a:xfrm>
            <a:off x="6800850" y="2362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정의와 이름을 대조한다</a:t>
            </a:r>
          </a:p>
        </p:txBody>
      </p:sp>
      <p:sp>
        <p:nvSpPr>
          <p:cNvPr id="16" name="03-09-right-dot-2">
            <a:extLst>
              <a:ext uri="{FF2B5EF4-FFF2-40B4-BE49-F238E27FC236}">
                <a16:creationId xmlns:a16="http://schemas.microsoft.com/office/drawing/2014/main" id="{BEADDBC7-94D7-496B-9FCB-9A00C5546D55}"/>
              </a:ext>
            </a:extLst>
          </p:cNvPr>
          <p:cNvSpPr>
            <a:spLocks noGrp="1"/>
          </p:cNvSpPr>
          <p:nvPr/>
        </p:nvSpPr>
        <p:spPr>
          <a:xfrm>
            <a:off x="657225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03-09-right-line-2">
            <a:extLst>
              <a:ext uri="{FF2B5EF4-FFF2-40B4-BE49-F238E27FC236}">
                <a16:creationId xmlns:a16="http://schemas.microsoft.com/office/drawing/2014/main" id="{F4A122BD-0CED-4E47-81D9-5410A0577756}"/>
              </a:ext>
            </a:extLst>
          </p:cNvPr>
          <p:cNvSpPr>
            <a:spLocks noGrp="1"/>
          </p:cNvSpPr>
          <p:nvPr/>
        </p:nvSpPr>
        <p:spPr>
          <a:xfrm>
            <a:off x="6800850" y="310515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모든 작업에 같은 맥락을 준다</a:t>
            </a:r>
          </a:p>
        </p:txBody>
      </p:sp>
      <p:sp>
        <p:nvSpPr>
          <p:cNvPr id="18" name="03-09-right-dot-3">
            <a:extLst>
              <a:ext uri="{FF2B5EF4-FFF2-40B4-BE49-F238E27FC236}">
                <a16:creationId xmlns:a16="http://schemas.microsoft.com/office/drawing/2014/main" id="{4A85287C-A790-4C95-88E4-CCA5512A1643}"/>
              </a:ext>
            </a:extLst>
          </p:cNvPr>
          <p:cNvSpPr>
            <a:spLocks noGrp="1"/>
          </p:cNvSpPr>
          <p:nvPr/>
        </p:nvSpPr>
        <p:spPr>
          <a:xfrm>
            <a:off x="657225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03-09-right-line-3">
            <a:extLst>
              <a:ext uri="{FF2B5EF4-FFF2-40B4-BE49-F238E27FC236}">
                <a16:creationId xmlns:a16="http://schemas.microsoft.com/office/drawing/2014/main" id="{DBEC6384-E636-429A-A054-2A712701B79A}"/>
              </a:ext>
            </a:extLst>
          </p:cNvPr>
          <p:cNvSpPr>
            <a:spLocks noGrp="1"/>
          </p:cNvSpPr>
          <p:nvPr/>
        </p:nvSpPr>
        <p:spPr>
          <a:xfrm>
            <a:off x="6800850" y="38481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애매하면 질문한다</a:t>
            </a:r>
          </a:p>
        </p:txBody>
      </p:sp>
      <p:sp>
        <p:nvSpPr>
          <p:cNvPr id="20" name="03-09-optional">
            <a:extLst>
              <a:ext uri="{FF2B5EF4-FFF2-40B4-BE49-F238E27FC236}">
                <a16:creationId xmlns:a16="http://schemas.microsoft.com/office/drawing/2014/main" id="{8E1BAC81-5232-41CD-BD06-924D49DF978E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173075624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03-10-footer-section">
            <a:extLst>
              <a:ext uri="{FF2B5EF4-FFF2-40B4-BE49-F238E27FC236}">
                <a16:creationId xmlns:a16="http://schemas.microsoft.com/office/drawing/2014/main" id="{B1287192-0A78-48CE-ADDC-140F02771852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TDD</a:t>
            </a:r>
          </a:p>
        </p:txBody>
      </p:sp>
      <p:sp>
        <p:nvSpPr>
          <p:cNvPr id="2" name="03-10-footer-page">
            <a:extLst>
              <a:ext uri="{FF2B5EF4-FFF2-40B4-BE49-F238E27FC236}">
                <a16:creationId xmlns:a16="http://schemas.microsoft.com/office/drawing/2014/main" id="{5F9E904D-0806-437F-8D74-55093F4E9179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43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3-10-accent-rule">
            <a:extLst>
              <a:ext uri="{FF2B5EF4-FFF2-40B4-BE49-F238E27FC236}">
                <a16:creationId xmlns:a16="http://schemas.microsoft.com/office/drawing/2014/main" id="{E4641C49-36B9-4E97-90CD-A247AC58EDC2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3-10-title">
            <a:extLst>
              <a:ext uri="{FF2B5EF4-FFF2-40B4-BE49-F238E27FC236}">
                <a16:creationId xmlns:a16="http://schemas.microsoft.com/office/drawing/2014/main" id="{F86D8FC8-67D7-4C8B-88EF-65A75C0D1F1E}"/>
              </a:ext>
            </a:extLst>
          </p:cNvPr>
          <p:cNvSpPr>
            <a:spLocks noGrp="1"/>
          </p:cNvSpPr>
          <p:nvPr/>
        </p:nvSpPr>
        <p:spPr>
          <a:xfrm>
            <a:off x="723900" y="704850"/>
            <a:ext cx="1028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TDD는 원하는 행동을 코드보다 먼저 정한다</a:t>
            </a:r>
          </a:p>
        </p:txBody>
      </p:sp>
      <p:sp>
        <p:nvSpPr>
          <p:cNvPr id="5" name="03-10-bullet-1">
            <a:extLst>
              <a:ext uri="{FF2B5EF4-FFF2-40B4-BE49-F238E27FC236}">
                <a16:creationId xmlns:a16="http://schemas.microsoft.com/office/drawing/2014/main" id="{B2A484F6-F26D-4C74-AA6D-FD3EB3A43212}"/>
              </a:ext>
            </a:extLst>
          </p:cNvPr>
          <p:cNvSpPr>
            <a:spLocks noGrp="1"/>
          </p:cNvSpPr>
          <p:nvPr/>
        </p:nvSpPr>
        <p:spPr>
          <a:xfrm>
            <a:off x="876300" y="206692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3-10-body-1">
            <a:extLst>
              <a:ext uri="{FF2B5EF4-FFF2-40B4-BE49-F238E27FC236}">
                <a16:creationId xmlns:a16="http://schemas.microsoft.com/office/drawing/2014/main" id="{E67CA043-E362-4BD0-AF8F-A97BC92DDFF9}"/>
              </a:ext>
            </a:extLst>
          </p:cNvPr>
          <p:cNvSpPr>
            <a:spLocks noGrp="1"/>
          </p:cNvSpPr>
          <p:nvPr/>
        </p:nvSpPr>
        <p:spPr>
          <a:xfrm>
            <a:off x="1143000" y="195262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테스트가 설계의 첫 문장이 된다</a:t>
            </a:r>
          </a:p>
        </p:txBody>
      </p:sp>
      <p:sp>
        <p:nvSpPr>
          <p:cNvPr id="7" name="03-10-bullet-2">
            <a:extLst>
              <a:ext uri="{FF2B5EF4-FFF2-40B4-BE49-F238E27FC236}">
                <a16:creationId xmlns:a16="http://schemas.microsoft.com/office/drawing/2014/main" id="{BDA92895-FE5B-4450-8E5A-D7F67CDD236E}"/>
              </a:ext>
            </a:extLst>
          </p:cNvPr>
          <p:cNvSpPr>
            <a:spLocks noGrp="1"/>
          </p:cNvSpPr>
          <p:nvPr/>
        </p:nvSpPr>
        <p:spPr>
          <a:xfrm>
            <a:off x="876300" y="284797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3-10-body-2">
            <a:extLst>
              <a:ext uri="{FF2B5EF4-FFF2-40B4-BE49-F238E27FC236}">
                <a16:creationId xmlns:a16="http://schemas.microsoft.com/office/drawing/2014/main" id="{8FEDA0B8-E6AE-4AFD-94BE-AD225B3C27C9}"/>
              </a:ext>
            </a:extLst>
          </p:cNvPr>
          <p:cNvSpPr>
            <a:spLocks noGrp="1"/>
          </p:cNvSpPr>
          <p:nvPr/>
        </p:nvSpPr>
        <p:spPr>
          <a:xfrm>
            <a:off x="1143000" y="273367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구현은 그 문장을 통과하는 최소 변경이다</a:t>
            </a:r>
          </a:p>
        </p:txBody>
      </p:sp>
    </p:spTree>
    <p:extLst>
      <p:ext uri="{BB962C8B-B14F-4D97-AF65-F5344CB8AC3E}">
        <p14:creationId xmlns:p14="http://schemas.microsoft.com/office/powerpoint/2010/main" val="139283069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03-11-footer-section">
            <a:extLst>
              <a:ext uri="{FF2B5EF4-FFF2-40B4-BE49-F238E27FC236}">
                <a16:creationId xmlns:a16="http://schemas.microsoft.com/office/drawing/2014/main" id="{164BDD83-74CB-4C80-8CC2-6A4AFA59C7A5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TDD</a:t>
            </a:r>
          </a:p>
        </p:txBody>
      </p:sp>
      <p:sp>
        <p:nvSpPr>
          <p:cNvPr id="2" name="03-11-footer-page">
            <a:extLst>
              <a:ext uri="{FF2B5EF4-FFF2-40B4-BE49-F238E27FC236}">
                <a16:creationId xmlns:a16="http://schemas.microsoft.com/office/drawing/2014/main" id="{294C35B6-384A-4232-AE64-4DAD6A23A12C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44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3-11-accent-rule">
            <a:extLst>
              <a:ext uri="{FF2B5EF4-FFF2-40B4-BE49-F238E27FC236}">
                <a16:creationId xmlns:a16="http://schemas.microsoft.com/office/drawing/2014/main" id="{F6F31149-D657-4A9A-89A3-E3BB4A991236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3-11-title">
            <a:extLst>
              <a:ext uri="{FF2B5EF4-FFF2-40B4-BE49-F238E27FC236}">
                <a16:creationId xmlns:a16="http://schemas.microsoft.com/office/drawing/2014/main" id="{1CA501AC-6329-46D3-BFBC-48ACF79EC2FD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빨강을 보지 않으면 테스트의 증거를 모른다</a:t>
            </a:r>
          </a:p>
        </p:txBody>
      </p:sp>
      <p:sp>
        <p:nvSpPr>
          <p:cNvPr id="5" name="03-11-arrow-1">
            <a:extLst>
              <a:ext uri="{FF2B5EF4-FFF2-40B4-BE49-F238E27FC236}">
                <a16:creationId xmlns:a16="http://schemas.microsoft.com/office/drawing/2014/main" id="{1C221509-2A65-40AB-A28D-56FEB9ED8B0F}"/>
              </a:ext>
            </a:extLst>
          </p:cNvPr>
          <p:cNvSpPr>
            <a:spLocks noGrp="1"/>
          </p:cNvSpPr>
          <p:nvPr/>
        </p:nvSpPr>
        <p:spPr>
          <a:xfrm>
            <a:off x="285750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3-11-arrow-2">
            <a:extLst>
              <a:ext uri="{FF2B5EF4-FFF2-40B4-BE49-F238E27FC236}">
                <a16:creationId xmlns:a16="http://schemas.microsoft.com/office/drawing/2014/main" id="{E4D9CF92-8B25-49F4-887F-4B781AAEA5DD}"/>
              </a:ext>
            </a:extLst>
          </p:cNvPr>
          <p:cNvSpPr>
            <a:spLocks noGrp="1"/>
          </p:cNvSpPr>
          <p:nvPr/>
        </p:nvSpPr>
        <p:spPr>
          <a:xfrm>
            <a:off x="485775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3-11-arrow-3">
            <a:extLst>
              <a:ext uri="{FF2B5EF4-FFF2-40B4-BE49-F238E27FC236}">
                <a16:creationId xmlns:a16="http://schemas.microsoft.com/office/drawing/2014/main" id="{4ABA3530-AE50-471F-A9AB-B5693A3FF62A}"/>
              </a:ext>
            </a:extLst>
          </p:cNvPr>
          <p:cNvSpPr>
            <a:spLocks noGrp="1"/>
          </p:cNvSpPr>
          <p:nvPr/>
        </p:nvSpPr>
        <p:spPr>
          <a:xfrm>
            <a:off x="685800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3-11-arrow-4">
            <a:extLst>
              <a:ext uri="{FF2B5EF4-FFF2-40B4-BE49-F238E27FC236}">
                <a16:creationId xmlns:a16="http://schemas.microsoft.com/office/drawing/2014/main" id="{6CC57CAA-02E4-427E-BC1E-9A1506A4E380}"/>
              </a:ext>
            </a:extLst>
          </p:cNvPr>
          <p:cNvSpPr>
            <a:spLocks noGrp="1"/>
          </p:cNvSpPr>
          <p:nvPr/>
        </p:nvSpPr>
        <p:spPr>
          <a:xfrm>
            <a:off x="885825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03-11-node-1">
            <a:extLst>
              <a:ext uri="{FF2B5EF4-FFF2-40B4-BE49-F238E27FC236}">
                <a16:creationId xmlns:a16="http://schemas.microsoft.com/office/drawing/2014/main" id="{30047867-D737-4597-8CF2-0B6A2AD9C1F0}"/>
              </a:ext>
            </a:extLst>
          </p:cNvPr>
          <p:cNvSpPr>
            <a:spLocks noGrp="1"/>
          </p:cNvSpPr>
          <p:nvPr/>
        </p:nvSpPr>
        <p:spPr>
          <a:xfrm>
            <a:off x="104775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2878C7"/>
          </a:solidFill>
          <a:ln w="19050">
            <a:solidFill>
              <a:srgbClr val="2878C7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실패 테스트 작성</a:t>
            </a:r>
          </a:p>
        </p:txBody>
      </p:sp>
      <p:sp>
        <p:nvSpPr>
          <p:cNvPr id="10" name="03-11-node-2">
            <a:extLst>
              <a:ext uri="{FF2B5EF4-FFF2-40B4-BE49-F238E27FC236}">
                <a16:creationId xmlns:a16="http://schemas.microsoft.com/office/drawing/2014/main" id="{04D5939F-E5F7-4730-9E6F-0C0752B3A6CD}"/>
              </a:ext>
            </a:extLst>
          </p:cNvPr>
          <p:cNvSpPr>
            <a:spLocks noGrp="1"/>
          </p:cNvSpPr>
          <p:nvPr/>
        </p:nvSpPr>
        <p:spPr>
          <a:xfrm>
            <a:off x="304800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의도한 이유로 실패</a:t>
            </a:r>
          </a:p>
        </p:txBody>
      </p:sp>
      <p:sp>
        <p:nvSpPr>
          <p:cNvPr id="11" name="03-11-node-3">
            <a:extLst>
              <a:ext uri="{FF2B5EF4-FFF2-40B4-BE49-F238E27FC236}">
                <a16:creationId xmlns:a16="http://schemas.microsoft.com/office/drawing/2014/main" id="{B5751214-EECA-4DB9-A1B7-65B039EC889B}"/>
              </a:ext>
            </a:extLst>
          </p:cNvPr>
          <p:cNvSpPr>
            <a:spLocks noGrp="1"/>
          </p:cNvSpPr>
          <p:nvPr/>
        </p:nvSpPr>
        <p:spPr>
          <a:xfrm>
            <a:off x="504825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최소 코드</a:t>
            </a:r>
          </a:p>
        </p:txBody>
      </p:sp>
      <p:sp>
        <p:nvSpPr>
          <p:cNvPr id="12" name="03-11-node-4">
            <a:extLst>
              <a:ext uri="{FF2B5EF4-FFF2-40B4-BE49-F238E27FC236}">
                <a16:creationId xmlns:a16="http://schemas.microsoft.com/office/drawing/2014/main" id="{723FF10F-8E15-4BD6-98AB-AB618895B81E}"/>
              </a:ext>
            </a:extLst>
          </p:cNvPr>
          <p:cNvSpPr>
            <a:spLocks noGrp="1"/>
          </p:cNvSpPr>
          <p:nvPr/>
        </p:nvSpPr>
        <p:spPr>
          <a:xfrm>
            <a:off x="704850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통과</a:t>
            </a:r>
          </a:p>
        </p:txBody>
      </p:sp>
      <p:sp>
        <p:nvSpPr>
          <p:cNvPr id="13" name="03-11-node-5">
            <a:extLst>
              <a:ext uri="{FF2B5EF4-FFF2-40B4-BE49-F238E27FC236}">
                <a16:creationId xmlns:a16="http://schemas.microsoft.com/office/drawing/2014/main" id="{3CE482A7-554A-41EA-A232-B27352D1DF16}"/>
              </a:ext>
            </a:extLst>
          </p:cNvPr>
          <p:cNvSpPr>
            <a:spLocks noGrp="1"/>
          </p:cNvSpPr>
          <p:nvPr/>
        </p:nvSpPr>
        <p:spPr>
          <a:xfrm>
            <a:off x="904875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정리</a:t>
            </a:r>
          </a:p>
        </p:txBody>
      </p:sp>
      <p:sp>
        <p:nvSpPr>
          <p:cNvPr id="14" name="03-11-caption">
            <a:extLst>
              <a:ext uri="{FF2B5EF4-FFF2-40B4-BE49-F238E27FC236}">
                <a16:creationId xmlns:a16="http://schemas.microsoft.com/office/drawing/2014/main" id="{80AD2B8A-0992-4910-9671-E20DBB556AB6}"/>
              </a:ext>
            </a:extLst>
          </p:cNvPr>
          <p:cNvSpPr>
            <a:spLocks noGrp="1"/>
          </p:cNvSpPr>
          <p:nvPr/>
        </p:nvSpPr>
        <p:spPr>
          <a:xfrm>
            <a:off x="1143000" y="4000500"/>
            <a:ext cx="9906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Red → Green → Refactor</a:t>
            </a:r>
          </a:p>
        </p:txBody>
      </p:sp>
    </p:spTree>
    <p:extLst>
      <p:ext uri="{BB962C8B-B14F-4D97-AF65-F5344CB8AC3E}">
        <p14:creationId xmlns:p14="http://schemas.microsoft.com/office/powerpoint/2010/main" val="160231829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03-12-footer-section">
            <a:extLst>
              <a:ext uri="{FF2B5EF4-FFF2-40B4-BE49-F238E27FC236}">
                <a16:creationId xmlns:a16="http://schemas.microsoft.com/office/drawing/2014/main" id="{E9E12DB7-53DC-4F19-A2E9-CEE319E48D71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TDD</a:t>
            </a:r>
          </a:p>
        </p:txBody>
      </p:sp>
      <p:sp>
        <p:nvSpPr>
          <p:cNvPr id="2" name="03-12-footer-page">
            <a:extLst>
              <a:ext uri="{FF2B5EF4-FFF2-40B4-BE49-F238E27FC236}">
                <a16:creationId xmlns:a16="http://schemas.microsoft.com/office/drawing/2014/main" id="{3DCAA3B6-C12C-4DE9-8AE3-D7321FF63B77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45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3-12-accent-rule">
            <a:extLst>
              <a:ext uri="{FF2B5EF4-FFF2-40B4-BE49-F238E27FC236}">
                <a16:creationId xmlns:a16="http://schemas.microsoft.com/office/drawing/2014/main" id="{F096A07D-2049-4179-B09D-43BE0ADD87BA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3-12-title">
            <a:extLst>
              <a:ext uri="{FF2B5EF4-FFF2-40B4-BE49-F238E27FC236}">
                <a16:creationId xmlns:a16="http://schemas.microsoft.com/office/drawing/2014/main" id="{BE7C09A3-B66C-49A0-B307-56405F38AAC3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TDD는 작은 검증 단위로 위임 범위를 넓힌다</a:t>
            </a:r>
          </a:p>
        </p:txBody>
      </p:sp>
      <p:sp>
        <p:nvSpPr>
          <p:cNvPr id="5" name="03-12-bullet-1">
            <a:extLst>
              <a:ext uri="{FF2B5EF4-FFF2-40B4-BE49-F238E27FC236}">
                <a16:creationId xmlns:a16="http://schemas.microsoft.com/office/drawing/2014/main" id="{FA4E0BE6-5595-4823-95D2-68E174202682}"/>
              </a:ext>
            </a:extLst>
          </p:cNvPr>
          <p:cNvSpPr>
            <a:spLocks noGrp="1"/>
          </p:cNvSpPr>
          <p:nvPr/>
        </p:nvSpPr>
        <p:spPr>
          <a:xfrm>
            <a:off x="876300" y="19240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3-12-body-1">
            <a:extLst>
              <a:ext uri="{FF2B5EF4-FFF2-40B4-BE49-F238E27FC236}">
                <a16:creationId xmlns:a16="http://schemas.microsoft.com/office/drawing/2014/main" id="{F043C218-6A66-4003-B205-6D1BE70CADD8}"/>
              </a:ext>
            </a:extLst>
          </p:cNvPr>
          <p:cNvSpPr>
            <a:spLocks noGrp="1"/>
          </p:cNvSpPr>
          <p:nvPr/>
        </p:nvSpPr>
        <p:spPr>
          <a:xfrm>
            <a:off x="1143000" y="18097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요구 행동을 하나 고른다</a:t>
            </a:r>
          </a:p>
        </p:txBody>
      </p:sp>
      <p:sp>
        <p:nvSpPr>
          <p:cNvPr id="7" name="03-12-bullet-2">
            <a:extLst>
              <a:ext uri="{FF2B5EF4-FFF2-40B4-BE49-F238E27FC236}">
                <a16:creationId xmlns:a16="http://schemas.microsoft.com/office/drawing/2014/main" id="{CFE87E53-7704-48A6-A5A2-151719A160F5}"/>
              </a:ext>
            </a:extLst>
          </p:cNvPr>
          <p:cNvSpPr>
            <a:spLocks noGrp="1"/>
          </p:cNvSpPr>
          <p:nvPr/>
        </p:nvSpPr>
        <p:spPr>
          <a:xfrm>
            <a:off x="876300" y="24765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3-12-body-2">
            <a:extLst>
              <a:ext uri="{FF2B5EF4-FFF2-40B4-BE49-F238E27FC236}">
                <a16:creationId xmlns:a16="http://schemas.microsoft.com/office/drawing/2014/main" id="{6006E9F1-0978-417E-8F48-56CCF319F04D}"/>
              </a:ext>
            </a:extLst>
          </p:cNvPr>
          <p:cNvSpPr>
            <a:spLocks noGrp="1"/>
          </p:cNvSpPr>
          <p:nvPr/>
        </p:nvSpPr>
        <p:spPr>
          <a:xfrm>
            <a:off x="1143000" y="236220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실패 테스트를 실행한다</a:t>
            </a:r>
          </a:p>
        </p:txBody>
      </p:sp>
      <p:sp>
        <p:nvSpPr>
          <p:cNvPr id="9" name="03-12-bullet-3">
            <a:extLst>
              <a:ext uri="{FF2B5EF4-FFF2-40B4-BE49-F238E27FC236}">
                <a16:creationId xmlns:a16="http://schemas.microsoft.com/office/drawing/2014/main" id="{E8189D72-37EE-47EE-B5C8-F636AF4682E0}"/>
              </a:ext>
            </a:extLst>
          </p:cNvPr>
          <p:cNvSpPr>
            <a:spLocks noGrp="1"/>
          </p:cNvSpPr>
          <p:nvPr/>
        </p:nvSpPr>
        <p:spPr>
          <a:xfrm>
            <a:off x="876300" y="30289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3-12-body-3">
            <a:extLst>
              <a:ext uri="{FF2B5EF4-FFF2-40B4-BE49-F238E27FC236}">
                <a16:creationId xmlns:a16="http://schemas.microsoft.com/office/drawing/2014/main" id="{1597DDEB-361C-448C-9A41-5A5C59E4AFF5}"/>
              </a:ext>
            </a:extLst>
          </p:cNvPr>
          <p:cNvSpPr>
            <a:spLocks noGrp="1"/>
          </p:cNvSpPr>
          <p:nvPr/>
        </p:nvSpPr>
        <p:spPr>
          <a:xfrm>
            <a:off x="1143000" y="29146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그 행동만 통과시키는 코드를 쓴다</a:t>
            </a:r>
          </a:p>
        </p:txBody>
      </p:sp>
      <p:sp>
        <p:nvSpPr>
          <p:cNvPr id="11" name="03-12-bullet-4">
            <a:extLst>
              <a:ext uri="{FF2B5EF4-FFF2-40B4-BE49-F238E27FC236}">
                <a16:creationId xmlns:a16="http://schemas.microsoft.com/office/drawing/2014/main" id="{4AB672BC-C035-4D99-85A1-98E0BCD19DCF}"/>
              </a:ext>
            </a:extLst>
          </p:cNvPr>
          <p:cNvSpPr>
            <a:spLocks noGrp="1"/>
          </p:cNvSpPr>
          <p:nvPr/>
        </p:nvSpPr>
        <p:spPr>
          <a:xfrm>
            <a:off x="876300" y="35814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3-12-body-4">
            <a:extLst>
              <a:ext uri="{FF2B5EF4-FFF2-40B4-BE49-F238E27FC236}">
                <a16:creationId xmlns:a16="http://schemas.microsoft.com/office/drawing/2014/main" id="{B534CA37-E357-4CA3-B4E0-9AA27D530506}"/>
              </a:ext>
            </a:extLst>
          </p:cNvPr>
          <p:cNvSpPr>
            <a:spLocks noGrp="1"/>
          </p:cNvSpPr>
          <p:nvPr/>
        </p:nvSpPr>
        <p:spPr>
          <a:xfrm>
            <a:off x="1143000" y="346710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관련 테스트를 다시 실행한다</a:t>
            </a:r>
          </a:p>
        </p:txBody>
      </p:sp>
      <p:sp>
        <p:nvSpPr>
          <p:cNvPr id="13" name="03-12-optional">
            <a:extLst>
              <a:ext uri="{FF2B5EF4-FFF2-40B4-BE49-F238E27FC236}">
                <a16:creationId xmlns:a16="http://schemas.microsoft.com/office/drawing/2014/main" id="{F06F9789-B180-4033-B76E-C5368B9E4FD6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207192958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03-13-footer-section">
            <a:extLst>
              <a:ext uri="{FF2B5EF4-FFF2-40B4-BE49-F238E27FC236}">
                <a16:creationId xmlns:a16="http://schemas.microsoft.com/office/drawing/2014/main" id="{7E370A89-44FE-45AC-93C7-289947A2C5DF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DEEP MODULE</a:t>
            </a:r>
          </a:p>
        </p:txBody>
      </p:sp>
      <p:sp>
        <p:nvSpPr>
          <p:cNvPr id="2" name="03-13-footer-page">
            <a:extLst>
              <a:ext uri="{FF2B5EF4-FFF2-40B4-BE49-F238E27FC236}">
                <a16:creationId xmlns:a16="http://schemas.microsoft.com/office/drawing/2014/main" id="{B0B1CC40-FFD6-46CB-876A-A59524FB3B85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46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3-13-accent-rule">
            <a:extLst>
              <a:ext uri="{FF2B5EF4-FFF2-40B4-BE49-F238E27FC236}">
                <a16:creationId xmlns:a16="http://schemas.microsoft.com/office/drawing/2014/main" id="{8497B5CE-9853-4E56-BC91-7A42BB4CFBB1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3-13-title">
            <a:extLst>
              <a:ext uri="{FF2B5EF4-FFF2-40B4-BE49-F238E27FC236}">
                <a16:creationId xmlns:a16="http://schemas.microsoft.com/office/drawing/2014/main" id="{6F8CF456-AE0A-4A5E-8E8A-5AE288518F7E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좋은 모듈은 내부가 아니라 외부를 단순하게 만든다</a:t>
            </a:r>
          </a:p>
        </p:txBody>
      </p:sp>
      <p:sp>
        <p:nvSpPr>
          <p:cNvPr id="5" name="03-13-divider">
            <a:extLst>
              <a:ext uri="{FF2B5EF4-FFF2-40B4-BE49-F238E27FC236}">
                <a16:creationId xmlns:a16="http://schemas.microsoft.com/office/drawing/2014/main" id="{93259592-F2A2-4BC1-8FBC-0F3AB7A4E27D}"/>
              </a:ext>
            </a:extLst>
          </p:cNvPr>
          <p:cNvSpPr>
            <a:spLocks noGrp="1"/>
          </p:cNvSpPr>
          <p:nvPr/>
        </p:nvSpPr>
        <p:spPr>
          <a:xfrm>
            <a:off x="6096000" y="1676400"/>
            <a:ext cx="0" cy="390525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3-13-left-heading">
            <a:extLst>
              <a:ext uri="{FF2B5EF4-FFF2-40B4-BE49-F238E27FC236}">
                <a16:creationId xmlns:a16="http://schemas.microsoft.com/office/drawing/2014/main" id="{91D71934-5942-4B47-82BE-E516C52D10FC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4857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얕은 모듈</a:t>
            </a:r>
          </a:p>
        </p:txBody>
      </p:sp>
      <p:sp>
        <p:nvSpPr>
          <p:cNvPr id="7" name="03-13-left-dot-1">
            <a:extLst>
              <a:ext uri="{FF2B5EF4-FFF2-40B4-BE49-F238E27FC236}">
                <a16:creationId xmlns:a16="http://schemas.microsoft.com/office/drawing/2014/main" id="{85934E68-3EA7-44A4-9A48-6409DD762482}"/>
              </a:ext>
            </a:extLst>
          </p:cNvPr>
          <p:cNvSpPr>
            <a:spLocks noGrp="1"/>
          </p:cNvSpPr>
          <p:nvPr/>
        </p:nvSpPr>
        <p:spPr>
          <a:xfrm>
            <a:off x="72390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3-13-left-line-1">
            <a:extLst>
              <a:ext uri="{FF2B5EF4-FFF2-40B4-BE49-F238E27FC236}">
                <a16:creationId xmlns:a16="http://schemas.microsoft.com/office/drawing/2014/main" id="{669FBED2-CA09-4AD8-9B9C-BC829AA5F2AF}"/>
              </a:ext>
            </a:extLst>
          </p:cNvPr>
          <p:cNvSpPr>
            <a:spLocks noGrp="1"/>
          </p:cNvSpPr>
          <p:nvPr/>
        </p:nvSpPr>
        <p:spPr>
          <a:xfrm>
            <a:off x="952500" y="2362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호출자가 내부 사정을 안다</a:t>
            </a:r>
          </a:p>
        </p:txBody>
      </p:sp>
      <p:sp>
        <p:nvSpPr>
          <p:cNvPr id="9" name="03-13-left-dot-2">
            <a:extLst>
              <a:ext uri="{FF2B5EF4-FFF2-40B4-BE49-F238E27FC236}">
                <a16:creationId xmlns:a16="http://schemas.microsoft.com/office/drawing/2014/main" id="{AFE64314-95D9-4087-B19E-1CF8DD26143B}"/>
              </a:ext>
            </a:extLst>
          </p:cNvPr>
          <p:cNvSpPr>
            <a:spLocks noGrp="1"/>
          </p:cNvSpPr>
          <p:nvPr/>
        </p:nvSpPr>
        <p:spPr>
          <a:xfrm>
            <a:off x="72390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3-13-left-line-2">
            <a:extLst>
              <a:ext uri="{FF2B5EF4-FFF2-40B4-BE49-F238E27FC236}">
                <a16:creationId xmlns:a16="http://schemas.microsoft.com/office/drawing/2014/main" id="{39963A32-77E0-44AF-84EB-0CCDE42DFEF1}"/>
              </a:ext>
            </a:extLst>
          </p:cNvPr>
          <p:cNvSpPr>
            <a:spLocks noGrp="1"/>
          </p:cNvSpPr>
          <p:nvPr/>
        </p:nvSpPr>
        <p:spPr>
          <a:xfrm>
            <a:off x="952500" y="310515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옵션과 순서가 밖으로 샌다</a:t>
            </a:r>
          </a:p>
        </p:txBody>
      </p:sp>
      <p:sp>
        <p:nvSpPr>
          <p:cNvPr id="11" name="03-13-left-dot-3">
            <a:extLst>
              <a:ext uri="{FF2B5EF4-FFF2-40B4-BE49-F238E27FC236}">
                <a16:creationId xmlns:a16="http://schemas.microsoft.com/office/drawing/2014/main" id="{2B362987-699B-4328-B2A5-98409E770471}"/>
              </a:ext>
            </a:extLst>
          </p:cNvPr>
          <p:cNvSpPr>
            <a:spLocks noGrp="1"/>
          </p:cNvSpPr>
          <p:nvPr/>
        </p:nvSpPr>
        <p:spPr>
          <a:xfrm>
            <a:off x="72390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3-13-left-line-3">
            <a:extLst>
              <a:ext uri="{FF2B5EF4-FFF2-40B4-BE49-F238E27FC236}">
                <a16:creationId xmlns:a16="http://schemas.microsoft.com/office/drawing/2014/main" id="{32363C56-BFA4-4CBF-B12E-B8899EC8C890}"/>
              </a:ext>
            </a:extLst>
          </p:cNvPr>
          <p:cNvSpPr>
            <a:spLocks noGrp="1"/>
          </p:cNvSpPr>
          <p:nvPr/>
        </p:nvSpPr>
        <p:spPr>
          <a:xfrm>
            <a:off x="952500" y="38481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변경이 여러 곳에 번진다</a:t>
            </a:r>
          </a:p>
        </p:txBody>
      </p:sp>
      <p:sp>
        <p:nvSpPr>
          <p:cNvPr id="13" name="03-13-right-heading">
            <a:extLst>
              <a:ext uri="{FF2B5EF4-FFF2-40B4-BE49-F238E27FC236}">
                <a16:creationId xmlns:a16="http://schemas.microsoft.com/office/drawing/2014/main" id="{C8006B12-7B72-4109-8539-302D80C5075A}"/>
              </a:ext>
            </a:extLst>
          </p:cNvPr>
          <p:cNvSpPr>
            <a:spLocks noGrp="1"/>
          </p:cNvSpPr>
          <p:nvPr/>
        </p:nvSpPr>
        <p:spPr>
          <a:xfrm>
            <a:off x="6572250" y="1676400"/>
            <a:ext cx="4762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깊은 모듈</a:t>
            </a:r>
          </a:p>
        </p:txBody>
      </p:sp>
      <p:sp>
        <p:nvSpPr>
          <p:cNvPr id="14" name="03-13-right-dot-1">
            <a:extLst>
              <a:ext uri="{FF2B5EF4-FFF2-40B4-BE49-F238E27FC236}">
                <a16:creationId xmlns:a16="http://schemas.microsoft.com/office/drawing/2014/main" id="{343E258C-1DA4-4B7E-858C-119FDB76F281}"/>
              </a:ext>
            </a:extLst>
          </p:cNvPr>
          <p:cNvSpPr>
            <a:spLocks noGrp="1"/>
          </p:cNvSpPr>
          <p:nvPr/>
        </p:nvSpPr>
        <p:spPr>
          <a:xfrm>
            <a:off x="657225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03-13-right-line-1">
            <a:extLst>
              <a:ext uri="{FF2B5EF4-FFF2-40B4-BE49-F238E27FC236}">
                <a16:creationId xmlns:a16="http://schemas.microsoft.com/office/drawing/2014/main" id="{6500128A-BC27-41EB-9BE5-8FAC5BFA606B}"/>
              </a:ext>
            </a:extLst>
          </p:cNvPr>
          <p:cNvSpPr>
            <a:spLocks noGrp="1"/>
          </p:cNvSpPr>
          <p:nvPr/>
        </p:nvSpPr>
        <p:spPr>
          <a:xfrm>
            <a:off x="6800850" y="2362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작은 인터페이스</a:t>
            </a:r>
          </a:p>
        </p:txBody>
      </p:sp>
      <p:sp>
        <p:nvSpPr>
          <p:cNvPr id="16" name="03-13-right-dot-2">
            <a:extLst>
              <a:ext uri="{FF2B5EF4-FFF2-40B4-BE49-F238E27FC236}">
                <a16:creationId xmlns:a16="http://schemas.microsoft.com/office/drawing/2014/main" id="{3D122962-C0C5-40DE-8725-929ADFDE1F45}"/>
              </a:ext>
            </a:extLst>
          </p:cNvPr>
          <p:cNvSpPr>
            <a:spLocks noGrp="1"/>
          </p:cNvSpPr>
          <p:nvPr/>
        </p:nvSpPr>
        <p:spPr>
          <a:xfrm>
            <a:off x="657225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03-13-right-line-2">
            <a:extLst>
              <a:ext uri="{FF2B5EF4-FFF2-40B4-BE49-F238E27FC236}">
                <a16:creationId xmlns:a16="http://schemas.microsoft.com/office/drawing/2014/main" id="{623CFBFC-D446-4DAA-8DBE-369E9D164408}"/>
              </a:ext>
            </a:extLst>
          </p:cNvPr>
          <p:cNvSpPr>
            <a:spLocks noGrp="1"/>
          </p:cNvSpPr>
          <p:nvPr/>
        </p:nvSpPr>
        <p:spPr>
          <a:xfrm>
            <a:off x="6800850" y="310515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큰 내부 복잡성을 숨긴다</a:t>
            </a:r>
          </a:p>
        </p:txBody>
      </p:sp>
      <p:sp>
        <p:nvSpPr>
          <p:cNvPr id="18" name="03-13-right-dot-3">
            <a:extLst>
              <a:ext uri="{FF2B5EF4-FFF2-40B4-BE49-F238E27FC236}">
                <a16:creationId xmlns:a16="http://schemas.microsoft.com/office/drawing/2014/main" id="{7F3DCA54-F398-4628-AB99-6D25A62E58A2}"/>
              </a:ext>
            </a:extLst>
          </p:cNvPr>
          <p:cNvSpPr>
            <a:spLocks noGrp="1"/>
          </p:cNvSpPr>
          <p:nvPr/>
        </p:nvSpPr>
        <p:spPr>
          <a:xfrm>
            <a:off x="657225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03-13-right-line-3">
            <a:extLst>
              <a:ext uri="{FF2B5EF4-FFF2-40B4-BE49-F238E27FC236}">
                <a16:creationId xmlns:a16="http://schemas.microsoft.com/office/drawing/2014/main" id="{3F3A5A01-2DD2-4228-ADA7-4B4B094FD09C}"/>
              </a:ext>
            </a:extLst>
          </p:cNvPr>
          <p:cNvSpPr>
            <a:spLocks noGrp="1"/>
          </p:cNvSpPr>
          <p:nvPr/>
        </p:nvSpPr>
        <p:spPr>
          <a:xfrm>
            <a:off x="6800850" y="38481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불변조건과 실패 계약이 분명하다</a:t>
            </a:r>
          </a:p>
        </p:txBody>
      </p:sp>
    </p:spTree>
    <p:extLst>
      <p:ext uri="{BB962C8B-B14F-4D97-AF65-F5344CB8AC3E}">
        <p14:creationId xmlns:p14="http://schemas.microsoft.com/office/powerpoint/2010/main" val="45888652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03-14-footer-section">
            <a:extLst>
              <a:ext uri="{FF2B5EF4-FFF2-40B4-BE49-F238E27FC236}">
                <a16:creationId xmlns:a16="http://schemas.microsoft.com/office/drawing/2014/main" id="{CFB0EB0C-33D7-4B35-B4DC-3EBC3AF2BCEB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DEEP MODULE</a:t>
            </a:r>
          </a:p>
        </p:txBody>
      </p:sp>
      <p:sp>
        <p:nvSpPr>
          <p:cNvPr id="2" name="03-14-footer-page">
            <a:extLst>
              <a:ext uri="{FF2B5EF4-FFF2-40B4-BE49-F238E27FC236}">
                <a16:creationId xmlns:a16="http://schemas.microsoft.com/office/drawing/2014/main" id="{CE9966FC-0A8E-4E6C-A5EF-EE90D0DE4352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47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3-14-accent-rule">
            <a:extLst>
              <a:ext uri="{FF2B5EF4-FFF2-40B4-BE49-F238E27FC236}">
                <a16:creationId xmlns:a16="http://schemas.microsoft.com/office/drawing/2014/main" id="{5A7864AB-817A-4BE6-8C44-9A34836496A9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3-14-title">
            <a:extLst>
              <a:ext uri="{FF2B5EF4-FFF2-40B4-BE49-F238E27FC236}">
                <a16:creationId xmlns:a16="http://schemas.microsoft.com/office/drawing/2014/main" id="{3CBFEE52-3655-4BF6-9A17-A3F79CC8EE42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Deep Module은 단계가 아니라 리뷰 질문으로 산다</a:t>
            </a:r>
          </a:p>
        </p:txBody>
      </p:sp>
      <p:sp>
        <p:nvSpPr>
          <p:cNvPr id="5" name="03-14-bullet-1">
            <a:extLst>
              <a:ext uri="{FF2B5EF4-FFF2-40B4-BE49-F238E27FC236}">
                <a16:creationId xmlns:a16="http://schemas.microsoft.com/office/drawing/2014/main" id="{C88AF9BC-A32F-41AD-B804-839A977B2382}"/>
              </a:ext>
            </a:extLst>
          </p:cNvPr>
          <p:cNvSpPr>
            <a:spLocks noGrp="1"/>
          </p:cNvSpPr>
          <p:nvPr/>
        </p:nvSpPr>
        <p:spPr>
          <a:xfrm>
            <a:off x="876300" y="19240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3-14-body-1">
            <a:extLst>
              <a:ext uri="{FF2B5EF4-FFF2-40B4-BE49-F238E27FC236}">
                <a16:creationId xmlns:a16="http://schemas.microsoft.com/office/drawing/2014/main" id="{5D7D0A23-8757-45DE-A56E-F0EED823E9C0}"/>
              </a:ext>
            </a:extLst>
          </p:cNvPr>
          <p:cNvSpPr>
            <a:spLocks noGrp="1"/>
          </p:cNvSpPr>
          <p:nvPr/>
        </p:nvSpPr>
        <p:spPr>
          <a:xfrm>
            <a:off x="1143000" y="18097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호출자가 새로 알아야 할 것은 무엇인가</a:t>
            </a:r>
          </a:p>
        </p:txBody>
      </p:sp>
      <p:sp>
        <p:nvSpPr>
          <p:cNvPr id="7" name="03-14-bullet-2">
            <a:extLst>
              <a:ext uri="{FF2B5EF4-FFF2-40B4-BE49-F238E27FC236}">
                <a16:creationId xmlns:a16="http://schemas.microsoft.com/office/drawing/2014/main" id="{F67E4455-D31A-4F40-B2F4-FBB8E295A191}"/>
              </a:ext>
            </a:extLst>
          </p:cNvPr>
          <p:cNvSpPr>
            <a:spLocks noGrp="1"/>
          </p:cNvSpPr>
          <p:nvPr/>
        </p:nvSpPr>
        <p:spPr>
          <a:xfrm>
            <a:off x="876300" y="24765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3-14-body-2">
            <a:extLst>
              <a:ext uri="{FF2B5EF4-FFF2-40B4-BE49-F238E27FC236}">
                <a16:creationId xmlns:a16="http://schemas.microsoft.com/office/drawing/2014/main" id="{D7F2358E-BB6A-4772-B438-444632A8FC91}"/>
              </a:ext>
            </a:extLst>
          </p:cNvPr>
          <p:cNvSpPr>
            <a:spLocks noGrp="1"/>
          </p:cNvSpPr>
          <p:nvPr/>
        </p:nvSpPr>
        <p:spPr>
          <a:xfrm>
            <a:off x="1143000" y="236220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내부 복잡성이 밖으로 새었는가</a:t>
            </a:r>
          </a:p>
        </p:txBody>
      </p:sp>
      <p:sp>
        <p:nvSpPr>
          <p:cNvPr id="9" name="03-14-bullet-3">
            <a:extLst>
              <a:ext uri="{FF2B5EF4-FFF2-40B4-BE49-F238E27FC236}">
                <a16:creationId xmlns:a16="http://schemas.microsoft.com/office/drawing/2014/main" id="{61649E4C-501D-4261-BFE5-C3C6B655FDB6}"/>
              </a:ext>
            </a:extLst>
          </p:cNvPr>
          <p:cNvSpPr>
            <a:spLocks noGrp="1"/>
          </p:cNvSpPr>
          <p:nvPr/>
        </p:nvSpPr>
        <p:spPr>
          <a:xfrm>
            <a:off x="876300" y="30289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3-14-body-3">
            <a:extLst>
              <a:ext uri="{FF2B5EF4-FFF2-40B4-BE49-F238E27FC236}">
                <a16:creationId xmlns:a16="http://schemas.microsoft.com/office/drawing/2014/main" id="{63A924C3-1C16-4BCF-8F30-8798E1B382DD}"/>
              </a:ext>
            </a:extLst>
          </p:cNvPr>
          <p:cNvSpPr>
            <a:spLocks noGrp="1"/>
          </p:cNvSpPr>
          <p:nvPr/>
        </p:nvSpPr>
        <p:spPr>
          <a:xfrm>
            <a:off x="1143000" y="29146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인터페이스 없이 내부를 바꿀 수 있는가</a:t>
            </a:r>
          </a:p>
        </p:txBody>
      </p:sp>
      <p:sp>
        <p:nvSpPr>
          <p:cNvPr id="11" name="03-14-bullet-4">
            <a:extLst>
              <a:ext uri="{FF2B5EF4-FFF2-40B4-BE49-F238E27FC236}">
                <a16:creationId xmlns:a16="http://schemas.microsoft.com/office/drawing/2014/main" id="{39388975-39CF-4A6C-B49C-E13F900DD154}"/>
              </a:ext>
            </a:extLst>
          </p:cNvPr>
          <p:cNvSpPr>
            <a:spLocks noGrp="1"/>
          </p:cNvSpPr>
          <p:nvPr/>
        </p:nvSpPr>
        <p:spPr>
          <a:xfrm>
            <a:off x="876300" y="35814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3-14-body-4">
            <a:extLst>
              <a:ext uri="{FF2B5EF4-FFF2-40B4-BE49-F238E27FC236}">
                <a16:creationId xmlns:a16="http://schemas.microsoft.com/office/drawing/2014/main" id="{D92823A1-5747-4183-A198-5143CF2829AC}"/>
              </a:ext>
            </a:extLst>
          </p:cNvPr>
          <p:cNvSpPr>
            <a:spLocks noGrp="1"/>
          </p:cNvSpPr>
          <p:nvPr/>
        </p:nvSpPr>
        <p:spPr>
          <a:xfrm>
            <a:off x="1143000" y="346710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실패 조건이 계약에 드러나는가</a:t>
            </a:r>
          </a:p>
        </p:txBody>
      </p:sp>
      <p:sp>
        <p:nvSpPr>
          <p:cNvPr id="13" name="03-14-optional">
            <a:extLst>
              <a:ext uri="{FF2B5EF4-FFF2-40B4-BE49-F238E27FC236}">
                <a16:creationId xmlns:a16="http://schemas.microsoft.com/office/drawing/2014/main" id="{D4D3F604-EFCA-4C0B-B2C9-BA2325974460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105682911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03-15-footer-section">
            <a:extLst>
              <a:ext uri="{FF2B5EF4-FFF2-40B4-BE49-F238E27FC236}">
                <a16:creationId xmlns:a16="http://schemas.microsoft.com/office/drawing/2014/main" id="{D57C9E43-F74B-499E-93D1-91E0BC3E2C01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무엇을 강제할 것인가</a:t>
            </a:r>
          </a:p>
        </p:txBody>
      </p:sp>
      <p:sp>
        <p:nvSpPr>
          <p:cNvPr id="2" name="03-15-footer-page">
            <a:extLst>
              <a:ext uri="{FF2B5EF4-FFF2-40B4-BE49-F238E27FC236}">
                <a16:creationId xmlns:a16="http://schemas.microsoft.com/office/drawing/2014/main" id="{CECD44F2-03C3-481E-A8FB-28829E8C267D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48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3-15-accent-rule">
            <a:extLst>
              <a:ext uri="{FF2B5EF4-FFF2-40B4-BE49-F238E27FC236}">
                <a16:creationId xmlns:a16="http://schemas.microsoft.com/office/drawing/2014/main" id="{56EC903B-DC13-4C8F-B49B-DFC07D506718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3-15-title">
            <a:extLst>
              <a:ext uri="{FF2B5EF4-FFF2-40B4-BE49-F238E27FC236}">
                <a16:creationId xmlns:a16="http://schemas.microsoft.com/office/drawing/2014/main" id="{F530159B-AC84-4CC5-8D4D-E1A69B77E6E4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네 방법론은 서로 다른 질문을 남긴다</a:t>
            </a:r>
          </a:p>
        </p:txBody>
      </p:sp>
      <p:sp>
        <p:nvSpPr>
          <p:cNvPr id="5" name="03-15-divider">
            <a:extLst>
              <a:ext uri="{FF2B5EF4-FFF2-40B4-BE49-F238E27FC236}">
                <a16:creationId xmlns:a16="http://schemas.microsoft.com/office/drawing/2014/main" id="{0EECB65D-BA3C-4812-9906-71C9B3146298}"/>
              </a:ext>
            </a:extLst>
          </p:cNvPr>
          <p:cNvSpPr>
            <a:spLocks noGrp="1"/>
          </p:cNvSpPr>
          <p:nvPr/>
        </p:nvSpPr>
        <p:spPr>
          <a:xfrm>
            <a:off x="6096000" y="1676400"/>
            <a:ext cx="0" cy="390525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3-15-left-heading">
            <a:extLst>
              <a:ext uri="{FF2B5EF4-FFF2-40B4-BE49-F238E27FC236}">
                <a16:creationId xmlns:a16="http://schemas.microsoft.com/office/drawing/2014/main" id="{139BF1DD-8385-4B98-A37C-334F29A670F4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4857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무엇을 합의하고 증명하나</a:t>
            </a:r>
          </a:p>
        </p:txBody>
      </p:sp>
      <p:sp>
        <p:nvSpPr>
          <p:cNvPr id="7" name="03-15-left-dot-1">
            <a:extLst>
              <a:ext uri="{FF2B5EF4-FFF2-40B4-BE49-F238E27FC236}">
                <a16:creationId xmlns:a16="http://schemas.microsoft.com/office/drawing/2014/main" id="{BAF34B28-6557-4CDE-A135-B29241C3ACA8}"/>
              </a:ext>
            </a:extLst>
          </p:cNvPr>
          <p:cNvSpPr>
            <a:spLocks noGrp="1"/>
          </p:cNvSpPr>
          <p:nvPr/>
        </p:nvSpPr>
        <p:spPr>
          <a:xfrm>
            <a:off x="72390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3-15-left-line-1">
            <a:extLst>
              <a:ext uri="{FF2B5EF4-FFF2-40B4-BE49-F238E27FC236}">
                <a16:creationId xmlns:a16="http://schemas.microsoft.com/office/drawing/2014/main" id="{994D19F5-1255-40D2-A693-7B0FEC0F3AFE}"/>
              </a:ext>
            </a:extLst>
          </p:cNvPr>
          <p:cNvSpPr>
            <a:spLocks noGrp="1"/>
          </p:cNvSpPr>
          <p:nvPr/>
        </p:nvSpPr>
        <p:spPr>
          <a:xfrm>
            <a:off x="952500" y="2362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SDD — 무엇을 만들고 성공을 어떻게 아나</a:t>
            </a:r>
          </a:p>
        </p:txBody>
      </p:sp>
      <p:sp>
        <p:nvSpPr>
          <p:cNvPr id="9" name="03-15-left-dot-2">
            <a:extLst>
              <a:ext uri="{FF2B5EF4-FFF2-40B4-BE49-F238E27FC236}">
                <a16:creationId xmlns:a16="http://schemas.microsoft.com/office/drawing/2014/main" id="{7FA17B88-987C-442B-8C6E-B6D291297399}"/>
              </a:ext>
            </a:extLst>
          </p:cNvPr>
          <p:cNvSpPr>
            <a:spLocks noGrp="1"/>
          </p:cNvSpPr>
          <p:nvPr/>
        </p:nvSpPr>
        <p:spPr>
          <a:xfrm>
            <a:off x="72390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3-15-left-line-2">
            <a:extLst>
              <a:ext uri="{FF2B5EF4-FFF2-40B4-BE49-F238E27FC236}">
                <a16:creationId xmlns:a16="http://schemas.microsoft.com/office/drawing/2014/main" id="{DF1A8EB6-F107-4AA6-A5D7-7BD09D62F018}"/>
              </a:ext>
            </a:extLst>
          </p:cNvPr>
          <p:cNvSpPr>
            <a:spLocks noGrp="1"/>
          </p:cNvSpPr>
          <p:nvPr/>
        </p:nvSpPr>
        <p:spPr>
          <a:xfrm>
            <a:off x="952500" y="310515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DDD — 이 단어는 정확히 무엇인가</a:t>
            </a:r>
          </a:p>
        </p:txBody>
      </p:sp>
      <p:sp>
        <p:nvSpPr>
          <p:cNvPr id="11" name="03-15-left-dot-3">
            <a:extLst>
              <a:ext uri="{FF2B5EF4-FFF2-40B4-BE49-F238E27FC236}">
                <a16:creationId xmlns:a16="http://schemas.microsoft.com/office/drawing/2014/main" id="{B0C8EF2E-D97E-49E4-BE99-633116CB199D}"/>
              </a:ext>
            </a:extLst>
          </p:cNvPr>
          <p:cNvSpPr>
            <a:spLocks noGrp="1"/>
          </p:cNvSpPr>
          <p:nvPr/>
        </p:nvSpPr>
        <p:spPr>
          <a:xfrm>
            <a:off x="72390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3-15-left-line-3">
            <a:extLst>
              <a:ext uri="{FF2B5EF4-FFF2-40B4-BE49-F238E27FC236}">
                <a16:creationId xmlns:a16="http://schemas.microsoft.com/office/drawing/2014/main" id="{A7E14751-BE63-441A-907C-A573D7BADD59}"/>
              </a:ext>
            </a:extLst>
          </p:cNvPr>
          <p:cNvSpPr>
            <a:spLocks noGrp="1"/>
          </p:cNvSpPr>
          <p:nvPr/>
        </p:nvSpPr>
        <p:spPr>
          <a:xfrm>
            <a:off x="952500" y="38481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TDD — 어떤 테스트로 증명하나</a:t>
            </a:r>
          </a:p>
        </p:txBody>
      </p:sp>
      <p:sp>
        <p:nvSpPr>
          <p:cNvPr id="13" name="03-15-right-heading">
            <a:extLst>
              <a:ext uri="{FF2B5EF4-FFF2-40B4-BE49-F238E27FC236}">
                <a16:creationId xmlns:a16="http://schemas.microsoft.com/office/drawing/2014/main" id="{1E1A2151-42A2-44D2-8DB8-F77A3EBAD7BD}"/>
              </a:ext>
            </a:extLst>
          </p:cNvPr>
          <p:cNvSpPr>
            <a:spLocks noGrp="1"/>
          </p:cNvSpPr>
          <p:nvPr/>
        </p:nvSpPr>
        <p:spPr>
          <a:xfrm>
            <a:off x="6572250" y="1676400"/>
            <a:ext cx="4762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어떤 경계를 지키나</a:t>
            </a:r>
          </a:p>
        </p:txBody>
      </p:sp>
      <p:sp>
        <p:nvSpPr>
          <p:cNvPr id="14" name="03-15-right-dot-1">
            <a:extLst>
              <a:ext uri="{FF2B5EF4-FFF2-40B4-BE49-F238E27FC236}">
                <a16:creationId xmlns:a16="http://schemas.microsoft.com/office/drawing/2014/main" id="{39E300A8-3626-480C-820A-472C4DBA80F0}"/>
              </a:ext>
            </a:extLst>
          </p:cNvPr>
          <p:cNvSpPr>
            <a:spLocks noGrp="1"/>
          </p:cNvSpPr>
          <p:nvPr/>
        </p:nvSpPr>
        <p:spPr>
          <a:xfrm>
            <a:off x="657225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03-15-right-line-1">
            <a:extLst>
              <a:ext uri="{FF2B5EF4-FFF2-40B4-BE49-F238E27FC236}">
                <a16:creationId xmlns:a16="http://schemas.microsoft.com/office/drawing/2014/main" id="{966A888E-79D1-45D2-8E9F-676D3CE6573F}"/>
              </a:ext>
            </a:extLst>
          </p:cNvPr>
          <p:cNvSpPr>
            <a:spLocks noGrp="1"/>
          </p:cNvSpPr>
          <p:nvPr/>
        </p:nvSpPr>
        <p:spPr>
          <a:xfrm>
            <a:off x="6800850" y="2362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Deep Module — 호출자는 무엇만 알면 되나</a:t>
            </a:r>
          </a:p>
        </p:txBody>
      </p:sp>
      <p:sp>
        <p:nvSpPr>
          <p:cNvPr id="16" name="03-15-right-dot-2">
            <a:extLst>
              <a:ext uri="{FF2B5EF4-FFF2-40B4-BE49-F238E27FC236}">
                <a16:creationId xmlns:a16="http://schemas.microsoft.com/office/drawing/2014/main" id="{E6D3D305-FBA7-4C09-8D62-EF7D6B45B869}"/>
              </a:ext>
            </a:extLst>
          </p:cNvPr>
          <p:cNvSpPr>
            <a:spLocks noGrp="1"/>
          </p:cNvSpPr>
          <p:nvPr/>
        </p:nvSpPr>
        <p:spPr>
          <a:xfrm>
            <a:off x="657225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03-15-right-line-2">
            <a:extLst>
              <a:ext uri="{FF2B5EF4-FFF2-40B4-BE49-F238E27FC236}">
                <a16:creationId xmlns:a16="http://schemas.microsoft.com/office/drawing/2014/main" id="{31701BDF-1934-4468-A522-290BDC7D070A}"/>
              </a:ext>
            </a:extLst>
          </p:cNvPr>
          <p:cNvSpPr>
            <a:spLocks noGrp="1"/>
          </p:cNvSpPr>
          <p:nvPr/>
        </p:nvSpPr>
        <p:spPr>
          <a:xfrm>
            <a:off x="6800850" y="310515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산출물 — spec·용어집·테스트·계약</a:t>
            </a:r>
          </a:p>
        </p:txBody>
      </p:sp>
      <p:sp>
        <p:nvSpPr>
          <p:cNvPr id="18" name="03-15-right-dot-3">
            <a:extLst>
              <a:ext uri="{FF2B5EF4-FFF2-40B4-BE49-F238E27FC236}">
                <a16:creationId xmlns:a16="http://schemas.microsoft.com/office/drawing/2014/main" id="{37BE0A71-959A-4BCF-AD72-C9446BC0BC98}"/>
              </a:ext>
            </a:extLst>
          </p:cNvPr>
          <p:cNvSpPr>
            <a:spLocks noGrp="1"/>
          </p:cNvSpPr>
          <p:nvPr/>
        </p:nvSpPr>
        <p:spPr>
          <a:xfrm>
            <a:off x="657225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03-15-right-line-3">
            <a:extLst>
              <a:ext uri="{FF2B5EF4-FFF2-40B4-BE49-F238E27FC236}">
                <a16:creationId xmlns:a16="http://schemas.microsoft.com/office/drawing/2014/main" id="{9055018D-CA99-4AC6-BDD0-965B98AB3CE9}"/>
              </a:ext>
            </a:extLst>
          </p:cNvPr>
          <p:cNvSpPr>
            <a:spLocks noGrp="1"/>
          </p:cNvSpPr>
          <p:nvPr/>
        </p:nvSpPr>
        <p:spPr>
          <a:xfrm>
            <a:off x="6800850" y="38481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harness — 상태와 검증으로 강제</a:t>
            </a:r>
          </a:p>
        </p:txBody>
      </p:sp>
    </p:spTree>
    <p:extLst>
      <p:ext uri="{BB962C8B-B14F-4D97-AF65-F5344CB8AC3E}">
        <p14:creationId xmlns:p14="http://schemas.microsoft.com/office/powerpoint/2010/main" val="42501132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03-16-footer-section">
            <a:extLst>
              <a:ext uri="{FF2B5EF4-FFF2-40B4-BE49-F238E27FC236}">
                <a16:creationId xmlns:a16="http://schemas.microsoft.com/office/drawing/2014/main" id="{6374BF73-4377-42C9-B428-35DD57DA3C58}"/>
              </a:ext>
            </a:extLst>
          </p:cNvPr>
          <p:cNvSpPr>
            <a:spLocks noGrp="1"/>
          </p:cNvSpPr>
          <p:nvPr/>
        </p:nvSpPr>
        <p:spPr>
          <a:xfrm>
            <a:off x="19494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무엇을 강제할 것인가</a:t>
            </a:r>
          </a:p>
        </p:txBody>
      </p:sp>
      <p:sp>
        <p:nvSpPr>
          <p:cNvPr id="2" name="03-16-footer-page">
            <a:extLst>
              <a:ext uri="{FF2B5EF4-FFF2-40B4-BE49-F238E27FC236}">
                <a16:creationId xmlns:a16="http://schemas.microsoft.com/office/drawing/2014/main" id="{8826180E-A2E5-4536-BF12-BEDB012040DB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49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3-16-accent-rule">
            <a:extLst>
              <a:ext uri="{FF2B5EF4-FFF2-40B4-BE49-F238E27FC236}">
                <a16:creationId xmlns:a16="http://schemas.microsoft.com/office/drawing/2014/main" id="{2DFF0072-26D3-4709-A4A4-8CE683113FCA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10477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3-16-title">
            <a:extLst>
              <a:ext uri="{FF2B5EF4-FFF2-40B4-BE49-F238E27FC236}">
                <a16:creationId xmlns:a16="http://schemas.microsoft.com/office/drawing/2014/main" id="{8E734050-5D77-4A5A-AC05-2FF57357B990}"/>
              </a:ext>
            </a:extLst>
          </p:cNvPr>
          <p:cNvSpPr>
            <a:spLocks noGrp="1"/>
          </p:cNvSpPr>
          <p:nvPr/>
        </p:nvSpPr>
        <p:spPr>
          <a:xfrm>
            <a:off x="723900" y="60960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9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원칙은 문서가 아니라 다음 행동을 바꿔야 한다</a:t>
            </a:r>
          </a:p>
        </p:txBody>
      </p:sp>
      <p:sp>
        <p:nvSpPr>
          <p:cNvPr id="5" name="03-16-number-1">
            <a:extLst>
              <a:ext uri="{FF2B5EF4-FFF2-40B4-BE49-F238E27FC236}">
                <a16:creationId xmlns:a16="http://schemas.microsoft.com/office/drawing/2014/main" id="{BBF75F7E-6793-4D77-A1A0-D399A98551B7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6" name="03-16-rule-1">
            <a:extLst>
              <a:ext uri="{FF2B5EF4-FFF2-40B4-BE49-F238E27FC236}">
                <a16:creationId xmlns:a16="http://schemas.microsoft.com/office/drawing/2014/main" id="{D7EA4D75-C995-4D4B-8072-AC682769E9FF}"/>
              </a:ext>
            </a:extLst>
          </p:cNvPr>
          <p:cNvSpPr>
            <a:spLocks noGrp="1"/>
          </p:cNvSpPr>
          <p:nvPr/>
        </p:nvSpPr>
        <p:spPr>
          <a:xfrm>
            <a:off x="1428750" y="200025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3-16-summary-1">
            <a:extLst>
              <a:ext uri="{FF2B5EF4-FFF2-40B4-BE49-F238E27FC236}">
                <a16:creationId xmlns:a16="http://schemas.microsoft.com/office/drawing/2014/main" id="{8BBC533A-1400-44CB-AA7E-5E266899BA4E}"/>
              </a:ext>
            </a:extLst>
          </p:cNvPr>
          <p:cNvSpPr>
            <a:spLocks noGrp="1"/>
          </p:cNvSpPr>
          <p:nvPr/>
        </p:nvSpPr>
        <p:spPr>
          <a:xfrm>
            <a:off x="2209800" y="175260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합의가 없으면 구현하지 않는다</a:t>
            </a:r>
          </a:p>
        </p:txBody>
      </p:sp>
      <p:sp>
        <p:nvSpPr>
          <p:cNvPr id="8" name="03-16-number-2">
            <a:extLst>
              <a:ext uri="{FF2B5EF4-FFF2-40B4-BE49-F238E27FC236}">
                <a16:creationId xmlns:a16="http://schemas.microsoft.com/office/drawing/2014/main" id="{E9920234-44A9-4774-968A-CFDE2C8E17DD}"/>
              </a:ext>
            </a:extLst>
          </p:cNvPr>
          <p:cNvSpPr>
            <a:spLocks noGrp="1"/>
          </p:cNvSpPr>
          <p:nvPr/>
        </p:nvSpPr>
        <p:spPr>
          <a:xfrm>
            <a:off x="876300" y="257175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9" name="03-16-rule-2">
            <a:extLst>
              <a:ext uri="{FF2B5EF4-FFF2-40B4-BE49-F238E27FC236}">
                <a16:creationId xmlns:a16="http://schemas.microsoft.com/office/drawing/2014/main" id="{F2E12F64-31B4-4935-92D1-E0151D6AB7C0}"/>
              </a:ext>
            </a:extLst>
          </p:cNvPr>
          <p:cNvSpPr>
            <a:spLocks noGrp="1"/>
          </p:cNvSpPr>
          <p:nvPr/>
        </p:nvSpPr>
        <p:spPr>
          <a:xfrm>
            <a:off x="1428750" y="281940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3-16-summary-2">
            <a:extLst>
              <a:ext uri="{FF2B5EF4-FFF2-40B4-BE49-F238E27FC236}">
                <a16:creationId xmlns:a16="http://schemas.microsoft.com/office/drawing/2014/main" id="{D32D02F0-244D-4ABD-9E00-B184DB2C435E}"/>
              </a:ext>
            </a:extLst>
          </p:cNvPr>
          <p:cNvSpPr>
            <a:spLocks noGrp="1"/>
          </p:cNvSpPr>
          <p:nvPr/>
        </p:nvSpPr>
        <p:spPr>
          <a:xfrm>
            <a:off x="2209800" y="257175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용어가 애매하면 추측하지 않는다</a:t>
            </a:r>
          </a:p>
        </p:txBody>
      </p:sp>
      <p:sp>
        <p:nvSpPr>
          <p:cNvPr id="11" name="03-16-number-3">
            <a:extLst>
              <a:ext uri="{FF2B5EF4-FFF2-40B4-BE49-F238E27FC236}">
                <a16:creationId xmlns:a16="http://schemas.microsoft.com/office/drawing/2014/main" id="{4C5BF2E3-FE8E-4B7B-B9CC-25FCF8196FF4}"/>
              </a:ext>
            </a:extLst>
          </p:cNvPr>
          <p:cNvSpPr>
            <a:spLocks noGrp="1"/>
          </p:cNvSpPr>
          <p:nvPr/>
        </p:nvSpPr>
        <p:spPr>
          <a:xfrm>
            <a:off x="876300" y="339090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2" name="03-16-rule-3">
            <a:extLst>
              <a:ext uri="{FF2B5EF4-FFF2-40B4-BE49-F238E27FC236}">
                <a16:creationId xmlns:a16="http://schemas.microsoft.com/office/drawing/2014/main" id="{16E8B0DC-30C9-4E53-A5A3-9E66BDB3D0A9}"/>
              </a:ext>
            </a:extLst>
          </p:cNvPr>
          <p:cNvSpPr>
            <a:spLocks noGrp="1"/>
          </p:cNvSpPr>
          <p:nvPr/>
        </p:nvSpPr>
        <p:spPr>
          <a:xfrm>
            <a:off x="1428750" y="363855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03-16-summary-3">
            <a:extLst>
              <a:ext uri="{FF2B5EF4-FFF2-40B4-BE49-F238E27FC236}">
                <a16:creationId xmlns:a16="http://schemas.microsoft.com/office/drawing/2014/main" id="{9EBF2535-555F-40B0-9811-DDDB0E7FF548}"/>
              </a:ext>
            </a:extLst>
          </p:cNvPr>
          <p:cNvSpPr>
            <a:spLocks noGrp="1"/>
          </p:cNvSpPr>
          <p:nvPr/>
        </p:nvSpPr>
        <p:spPr>
          <a:xfrm>
            <a:off x="2209800" y="339090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실패 테스트 없이 통과를 믿지 않는다</a:t>
            </a:r>
          </a:p>
        </p:txBody>
      </p:sp>
      <p:sp>
        <p:nvSpPr>
          <p:cNvPr id="14" name="03-16-number-4">
            <a:extLst>
              <a:ext uri="{FF2B5EF4-FFF2-40B4-BE49-F238E27FC236}">
                <a16:creationId xmlns:a16="http://schemas.microsoft.com/office/drawing/2014/main" id="{5AFB1E29-7B0D-48C7-ADEE-F6D8E6B0E2D5}"/>
              </a:ext>
            </a:extLst>
          </p:cNvPr>
          <p:cNvSpPr>
            <a:spLocks noGrp="1"/>
          </p:cNvSpPr>
          <p:nvPr/>
        </p:nvSpPr>
        <p:spPr>
          <a:xfrm>
            <a:off x="876300" y="421005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5" name="03-16-rule-4">
            <a:extLst>
              <a:ext uri="{FF2B5EF4-FFF2-40B4-BE49-F238E27FC236}">
                <a16:creationId xmlns:a16="http://schemas.microsoft.com/office/drawing/2014/main" id="{ACAB885B-EABF-42D0-842D-B03C2A81B14F}"/>
              </a:ext>
            </a:extLst>
          </p:cNvPr>
          <p:cNvSpPr>
            <a:spLocks noGrp="1"/>
          </p:cNvSpPr>
          <p:nvPr/>
        </p:nvSpPr>
        <p:spPr>
          <a:xfrm>
            <a:off x="1428750" y="445770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03-16-summary-4">
            <a:extLst>
              <a:ext uri="{FF2B5EF4-FFF2-40B4-BE49-F238E27FC236}">
                <a16:creationId xmlns:a16="http://schemas.microsoft.com/office/drawing/2014/main" id="{92380C16-B5CF-4965-BF17-AF7243AAC1E7}"/>
              </a:ext>
            </a:extLst>
          </p:cNvPr>
          <p:cNvSpPr>
            <a:spLocks noGrp="1"/>
          </p:cNvSpPr>
          <p:nvPr/>
        </p:nvSpPr>
        <p:spPr>
          <a:xfrm>
            <a:off x="2209800" y="421005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호출자에게 복잡성을 넘기지 않는다</a:t>
            </a:r>
          </a:p>
        </p:txBody>
      </p:sp>
      <p:sp>
        <p:nvSpPr>
          <p:cNvPr id="17" name="03-16-optional">
            <a:extLst>
              <a:ext uri="{FF2B5EF4-FFF2-40B4-BE49-F238E27FC236}">
                <a16:creationId xmlns:a16="http://schemas.microsoft.com/office/drawing/2014/main" id="{CC7FEE0F-DEB4-433D-ADF1-1C0F2CB90B25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123249404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04-01-footer-section">
            <a:extLst>
              <a:ext uri="{FF2B5EF4-FFF2-40B4-BE49-F238E27FC236}">
                <a16:creationId xmlns:a16="http://schemas.microsoft.com/office/drawing/2014/main" id="{3CB307C9-1494-4D54-BFEF-10E3D78B75BB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어떤 흐름으로 돌릴 것인가</a:t>
            </a:r>
          </a:p>
        </p:txBody>
      </p:sp>
      <p:sp>
        <p:nvSpPr>
          <p:cNvPr id="2" name="04-01-footer-page">
            <a:extLst>
              <a:ext uri="{FF2B5EF4-FFF2-40B4-BE49-F238E27FC236}">
                <a16:creationId xmlns:a16="http://schemas.microsoft.com/office/drawing/2014/main" id="{3935563B-2997-4D1F-B6F2-EADF86A763F2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50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4-01-accent-rule">
            <a:extLst>
              <a:ext uri="{FF2B5EF4-FFF2-40B4-BE49-F238E27FC236}">
                <a16:creationId xmlns:a16="http://schemas.microsoft.com/office/drawing/2014/main" id="{6B3AFEAE-4330-46E9-91C2-6D3B2D218C0F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477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01-label">
            <a:extLst>
              <a:ext uri="{FF2B5EF4-FFF2-40B4-BE49-F238E27FC236}">
                <a16:creationId xmlns:a16="http://schemas.microsoft.com/office/drawing/2014/main" id="{6EBB0936-E57A-4C90-AA78-BA9D39AEF689}"/>
              </a:ext>
            </a:extLst>
          </p:cNvPr>
          <p:cNvSpPr>
            <a:spLocks noGrp="1"/>
          </p:cNvSpPr>
          <p:nvPr/>
        </p:nvSpPr>
        <p:spPr>
          <a:xfrm>
            <a:off x="723900" y="1200150"/>
            <a:ext cx="7048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12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어떤 흐름으로 돌릴 것인가</a:t>
            </a:r>
          </a:p>
        </p:txBody>
      </p:sp>
      <p:sp>
        <p:nvSpPr>
          <p:cNvPr id="5" name="04-01-title">
            <a:extLst>
              <a:ext uri="{FF2B5EF4-FFF2-40B4-BE49-F238E27FC236}">
                <a16:creationId xmlns:a16="http://schemas.microsoft.com/office/drawing/2014/main" id="{FDF95D39-86D8-4D1E-BBC2-E85CBA9AB03B}"/>
              </a:ext>
            </a:extLst>
          </p:cNvPr>
          <p:cNvSpPr>
            <a:spLocks noGrp="1"/>
          </p:cNvSpPr>
          <p:nvPr/>
        </p:nvSpPr>
        <p:spPr>
          <a:xfrm>
            <a:off x="723900" y="2000250"/>
            <a:ext cx="10001250" cy="1676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5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5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합의 → 계획 → 구현 → 복원 → 지식</a:t>
            </a:r>
          </a:p>
        </p:txBody>
      </p:sp>
      <p:sp>
        <p:nvSpPr>
          <p:cNvPr id="6" name="04-01-subtitle">
            <a:extLst>
              <a:ext uri="{FF2B5EF4-FFF2-40B4-BE49-F238E27FC236}">
                <a16:creationId xmlns:a16="http://schemas.microsoft.com/office/drawing/2014/main" id="{FBA5F1A4-ACEB-4841-B1D3-7407BD77161F}"/>
              </a:ext>
            </a:extLst>
          </p:cNvPr>
          <p:cNvSpPr>
            <a:spLocks noGrp="1"/>
          </p:cNvSpPr>
          <p:nvPr/>
        </p:nvSpPr>
        <p:spPr>
          <a:xfrm>
            <a:off x="742950" y="3905250"/>
            <a:ext cx="885825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Harness의 여섯 단계</a:t>
            </a:r>
          </a:p>
        </p:txBody>
      </p:sp>
    </p:spTree>
    <p:extLst>
      <p:ext uri="{BB962C8B-B14F-4D97-AF65-F5344CB8AC3E}">
        <p14:creationId xmlns:p14="http://schemas.microsoft.com/office/powerpoint/2010/main" val="209867938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04-02-footer-section">
            <a:extLst>
              <a:ext uri="{FF2B5EF4-FFF2-40B4-BE49-F238E27FC236}">
                <a16:creationId xmlns:a16="http://schemas.microsoft.com/office/drawing/2014/main" id="{20BDD05E-35C2-4028-95BD-B6D1EA8C1886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ko-KR" alt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어떤 흐름으로 돌릴 것인가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4-02-footer-page">
            <a:extLst>
              <a:ext uri="{FF2B5EF4-FFF2-40B4-BE49-F238E27FC236}">
                <a16:creationId xmlns:a16="http://schemas.microsoft.com/office/drawing/2014/main" id="{1D23E736-8F21-4B49-B8CA-7910982DB35D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51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4-02-accent-rule">
            <a:extLst>
              <a:ext uri="{FF2B5EF4-FFF2-40B4-BE49-F238E27FC236}">
                <a16:creationId xmlns:a16="http://schemas.microsoft.com/office/drawing/2014/main" id="{5958EE66-F16B-4CA1-870A-E65CC68C9E47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02-title">
            <a:extLst>
              <a:ext uri="{FF2B5EF4-FFF2-40B4-BE49-F238E27FC236}">
                <a16:creationId xmlns:a16="http://schemas.microsoft.com/office/drawing/2014/main" id="{704343BA-F3D8-4F59-8412-F776D53DA3B2}"/>
              </a:ext>
            </a:extLst>
          </p:cNvPr>
          <p:cNvSpPr>
            <a:spLocks noGrp="1"/>
          </p:cNvSpPr>
          <p:nvPr/>
        </p:nvSpPr>
        <p:spPr>
          <a:xfrm>
            <a:off x="723900" y="704850"/>
            <a:ext cx="1028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코드는 빨리 늘지만 이해는 자동으로 늘지 않는다</a:t>
            </a:r>
          </a:p>
        </p:txBody>
      </p:sp>
      <p:sp>
        <p:nvSpPr>
          <p:cNvPr id="5" name="04-02-bullet-1">
            <a:extLst>
              <a:ext uri="{FF2B5EF4-FFF2-40B4-BE49-F238E27FC236}">
                <a16:creationId xmlns:a16="http://schemas.microsoft.com/office/drawing/2014/main" id="{C41FDBE8-1E2D-409F-B87C-47FF349B76B7}"/>
              </a:ext>
            </a:extLst>
          </p:cNvPr>
          <p:cNvSpPr>
            <a:spLocks noGrp="1"/>
          </p:cNvSpPr>
          <p:nvPr/>
        </p:nvSpPr>
        <p:spPr>
          <a:xfrm>
            <a:off x="876300" y="206692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4-02-body-1">
            <a:extLst>
              <a:ext uri="{FF2B5EF4-FFF2-40B4-BE49-F238E27FC236}">
                <a16:creationId xmlns:a16="http://schemas.microsoft.com/office/drawing/2014/main" id="{7CF2F7FD-1AE9-445F-A194-1D4A4C6493F0}"/>
              </a:ext>
            </a:extLst>
          </p:cNvPr>
          <p:cNvSpPr>
            <a:spLocks noGrp="1"/>
          </p:cNvSpPr>
          <p:nvPr/>
        </p:nvSpPr>
        <p:spPr>
          <a:xfrm>
            <a:off x="1143000" y="195262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생성된 코드는 기술 부채뿐 아니라 인지 부채를 남긴다</a:t>
            </a:r>
          </a:p>
        </p:txBody>
      </p:sp>
      <p:sp>
        <p:nvSpPr>
          <p:cNvPr id="7" name="04-02-bullet-2">
            <a:extLst>
              <a:ext uri="{FF2B5EF4-FFF2-40B4-BE49-F238E27FC236}">
                <a16:creationId xmlns:a16="http://schemas.microsoft.com/office/drawing/2014/main" id="{C14FC191-D1E7-42F6-9366-04D094BCB3C2}"/>
              </a:ext>
            </a:extLst>
          </p:cNvPr>
          <p:cNvSpPr>
            <a:spLocks noGrp="1"/>
          </p:cNvSpPr>
          <p:nvPr/>
        </p:nvSpPr>
        <p:spPr>
          <a:xfrm>
            <a:off x="876300" y="284797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4-02-body-2">
            <a:extLst>
              <a:ext uri="{FF2B5EF4-FFF2-40B4-BE49-F238E27FC236}">
                <a16:creationId xmlns:a16="http://schemas.microsoft.com/office/drawing/2014/main" id="{7AAE832E-A7E3-41E8-8821-69326D89DFAC}"/>
              </a:ext>
            </a:extLst>
          </p:cNvPr>
          <p:cNvSpPr>
            <a:spLocks noGrp="1"/>
          </p:cNvSpPr>
          <p:nvPr/>
        </p:nvSpPr>
        <p:spPr>
          <a:xfrm>
            <a:off x="1143000" y="273367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다음 사람이 다시 조사하면 속도 이득이 사라진다</a:t>
            </a:r>
          </a:p>
        </p:txBody>
      </p:sp>
      <p:sp>
        <p:nvSpPr>
          <p:cNvPr id="9" name="04-02-optional">
            <a:extLst>
              <a:ext uri="{FF2B5EF4-FFF2-40B4-BE49-F238E27FC236}">
                <a16:creationId xmlns:a16="http://schemas.microsoft.com/office/drawing/2014/main" id="{3CB18D54-5EE5-4AB3-84C5-14CC2A32E882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47402632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04-03-footer-section">
            <a:extLst>
              <a:ext uri="{FF2B5EF4-FFF2-40B4-BE49-F238E27FC236}">
                <a16:creationId xmlns:a16="http://schemas.microsoft.com/office/drawing/2014/main" id="{B33FB38D-6095-4527-A38F-84524AE001A8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ko-KR" alt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어떤 흐름으로 돌릴 것인가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4-03-footer-page">
            <a:extLst>
              <a:ext uri="{FF2B5EF4-FFF2-40B4-BE49-F238E27FC236}">
                <a16:creationId xmlns:a16="http://schemas.microsoft.com/office/drawing/2014/main" id="{BB76BD04-EE7A-484F-ABDC-36941A4D1AB7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52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4-03-accent-rule">
            <a:extLst>
              <a:ext uri="{FF2B5EF4-FFF2-40B4-BE49-F238E27FC236}">
                <a16:creationId xmlns:a16="http://schemas.microsoft.com/office/drawing/2014/main" id="{CA928EB8-BDF6-4991-AC34-11B8E13A13B1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03-title">
            <a:extLst>
              <a:ext uri="{FF2B5EF4-FFF2-40B4-BE49-F238E27FC236}">
                <a16:creationId xmlns:a16="http://schemas.microsoft.com/office/drawing/2014/main" id="{426E8A64-24BB-4A09-A07D-338CCCCDCA15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여섯 단계가 하나의 작업을 닫는다</a:t>
            </a:r>
          </a:p>
        </p:txBody>
      </p:sp>
      <p:sp>
        <p:nvSpPr>
          <p:cNvPr id="5" name="04-03-arrow-1">
            <a:extLst>
              <a:ext uri="{FF2B5EF4-FFF2-40B4-BE49-F238E27FC236}">
                <a16:creationId xmlns:a16="http://schemas.microsoft.com/office/drawing/2014/main" id="{A29CACED-6D81-405A-BBA5-19F63E4C29DF}"/>
              </a:ext>
            </a:extLst>
          </p:cNvPr>
          <p:cNvSpPr>
            <a:spLocks noGrp="1"/>
          </p:cNvSpPr>
          <p:nvPr/>
        </p:nvSpPr>
        <p:spPr>
          <a:xfrm>
            <a:off x="2857500" y="2390775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4-03-arrow-2">
            <a:extLst>
              <a:ext uri="{FF2B5EF4-FFF2-40B4-BE49-F238E27FC236}">
                <a16:creationId xmlns:a16="http://schemas.microsoft.com/office/drawing/2014/main" id="{E6D688C4-531D-4B19-8B92-A51D659AA682}"/>
              </a:ext>
            </a:extLst>
          </p:cNvPr>
          <p:cNvSpPr>
            <a:spLocks noGrp="1"/>
          </p:cNvSpPr>
          <p:nvPr/>
        </p:nvSpPr>
        <p:spPr>
          <a:xfrm>
            <a:off x="4857750" y="2390775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4-03-arrow-3a">
            <a:extLst>
              <a:ext uri="{FF2B5EF4-FFF2-40B4-BE49-F238E27FC236}">
                <a16:creationId xmlns:a16="http://schemas.microsoft.com/office/drawing/2014/main" id="{9A71710E-1875-4E1B-8DD5-0E373C2D6072}"/>
              </a:ext>
            </a:extLst>
          </p:cNvPr>
          <p:cNvSpPr>
            <a:spLocks noGrp="1"/>
          </p:cNvSpPr>
          <p:nvPr/>
        </p:nvSpPr>
        <p:spPr>
          <a:xfrm flipH="1">
            <a:off x="1950181" y="2828924"/>
            <a:ext cx="4002944" cy="876299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4-03-arrow-4">
            <a:extLst>
              <a:ext uri="{FF2B5EF4-FFF2-40B4-BE49-F238E27FC236}">
                <a16:creationId xmlns:a16="http://schemas.microsoft.com/office/drawing/2014/main" id="{833C3B39-B1E0-4B41-9F78-81950289EB24}"/>
              </a:ext>
            </a:extLst>
          </p:cNvPr>
          <p:cNvSpPr>
            <a:spLocks noGrp="1"/>
          </p:cNvSpPr>
          <p:nvPr/>
        </p:nvSpPr>
        <p:spPr>
          <a:xfrm>
            <a:off x="2857500" y="4200525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04-03-arrow-5">
            <a:extLst>
              <a:ext uri="{FF2B5EF4-FFF2-40B4-BE49-F238E27FC236}">
                <a16:creationId xmlns:a16="http://schemas.microsoft.com/office/drawing/2014/main" id="{4BD7D811-4720-4D1D-BE1A-B832FA3DF038}"/>
              </a:ext>
            </a:extLst>
          </p:cNvPr>
          <p:cNvSpPr>
            <a:spLocks noGrp="1"/>
          </p:cNvSpPr>
          <p:nvPr/>
        </p:nvSpPr>
        <p:spPr>
          <a:xfrm>
            <a:off x="4857750" y="4200525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4-03-node-1">
            <a:extLst>
              <a:ext uri="{FF2B5EF4-FFF2-40B4-BE49-F238E27FC236}">
                <a16:creationId xmlns:a16="http://schemas.microsoft.com/office/drawing/2014/main" id="{47290BF2-3280-46E1-B813-46B499239644}"/>
              </a:ext>
            </a:extLst>
          </p:cNvPr>
          <p:cNvSpPr>
            <a:spLocks noGrp="1"/>
          </p:cNvSpPr>
          <p:nvPr/>
        </p:nvSpPr>
        <p:spPr>
          <a:xfrm>
            <a:off x="1047750" y="195262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2878C7"/>
          </a:solidFill>
          <a:ln w="19050">
            <a:solidFill>
              <a:srgbClr val="2878C7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요구사항 합의</a:t>
            </a:r>
          </a:p>
        </p:txBody>
      </p:sp>
      <p:sp>
        <p:nvSpPr>
          <p:cNvPr id="11" name="04-03-node-2">
            <a:extLst>
              <a:ext uri="{FF2B5EF4-FFF2-40B4-BE49-F238E27FC236}">
                <a16:creationId xmlns:a16="http://schemas.microsoft.com/office/drawing/2014/main" id="{A2968EA5-38AF-49CD-AB8F-F21F528E9E20}"/>
              </a:ext>
            </a:extLst>
          </p:cNvPr>
          <p:cNvSpPr>
            <a:spLocks noGrp="1"/>
          </p:cNvSpPr>
          <p:nvPr/>
        </p:nvSpPr>
        <p:spPr>
          <a:xfrm>
            <a:off x="3048000" y="195262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구현 순서 설계</a:t>
            </a:r>
          </a:p>
        </p:txBody>
      </p:sp>
      <p:sp>
        <p:nvSpPr>
          <p:cNvPr id="12" name="04-03-node-3">
            <a:extLst>
              <a:ext uri="{FF2B5EF4-FFF2-40B4-BE49-F238E27FC236}">
                <a16:creationId xmlns:a16="http://schemas.microsoft.com/office/drawing/2014/main" id="{5F4891EA-3084-4406-87C2-0C7C01DEC8C7}"/>
              </a:ext>
            </a:extLst>
          </p:cNvPr>
          <p:cNvSpPr>
            <a:spLocks noGrp="1"/>
          </p:cNvSpPr>
          <p:nvPr/>
        </p:nvSpPr>
        <p:spPr>
          <a:xfrm>
            <a:off x="5048250" y="195262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구현 전 검토</a:t>
            </a:r>
          </a:p>
        </p:txBody>
      </p:sp>
      <p:sp>
        <p:nvSpPr>
          <p:cNvPr id="13" name="04-03-node-4">
            <a:extLst>
              <a:ext uri="{FF2B5EF4-FFF2-40B4-BE49-F238E27FC236}">
                <a16:creationId xmlns:a16="http://schemas.microsoft.com/office/drawing/2014/main" id="{796FC8C2-2F2C-489E-B06D-BEC785240E0E}"/>
              </a:ext>
            </a:extLst>
          </p:cNvPr>
          <p:cNvSpPr>
            <a:spLocks noGrp="1"/>
          </p:cNvSpPr>
          <p:nvPr/>
        </p:nvSpPr>
        <p:spPr>
          <a:xfrm>
            <a:off x="1047750" y="376237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구현·검증</a:t>
            </a:r>
          </a:p>
        </p:txBody>
      </p:sp>
      <p:sp>
        <p:nvSpPr>
          <p:cNvPr id="14" name="04-03-node-5">
            <a:extLst>
              <a:ext uri="{FF2B5EF4-FFF2-40B4-BE49-F238E27FC236}">
                <a16:creationId xmlns:a16="http://schemas.microsoft.com/office/drawing/2014/main" id="{E9A3F0EF-3FDC-462C-8E75-BF17510369E4}"/>
              </a:ext>
            </a:extLst>
          </p:cNvPr>
          <p:cNvSpPr>
            <a:spLocks noGrp="1"/>
          </p:cNvSpPr>
          <p:nvPr/>
        </p:nvSpPr>
        <p:spPr>
          <a:xfrm>
            <a:off x="3048000" y="376237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흐름 복원</a:t>
            </a:r>
          </a:p>
        </p:txBody>
      </p:sp>
      <p:sp>
        <p:nvSpPr>
          <p:cNvPr id="15" name="04-03-node-6">
            <a:extLst>
              <a:ext uri="{FF2B5EF4-FFF2-40B4-BE49-F238E27FC236}">
                <a16:creationId xmlns:a16="http://schemas.microsoft.com/office/drawing/2014/main" id="{9CAFE721-D1A4-481A-BF36-04DBA3EE2D41}"/>
              </a:ext>
            </a:extLst>
          </p:cNvPr>
          <p:cNvSpPr>
            <a:spLocks noGrp="1"/>
          </p:cNvSpPr>
          <p:nvPr/>
        </p:nvSpPr>
        <p:spPr>
          <a:xfrm>
            <a:off x="5048250" y="376237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지식화</a:t>
            </a:r>
          </a:p>
        </p:txBody>
      </p:sp>
      <p:sp>
        <p:nvSpPr>
          <p:cNvPr id="16" name="04-03-caption">
            <a:extLst>
              <a:ext uri="{FF2B5EF4-FFF2-40B4-BE49-F238E27FC236}">
                <a16:creationId xmlns:a16="http://schemas.microsoft.com/office/drawing/2014/main" id="{4A99A54A-07B4-4801-B449-52C10AF1AACD}"/>
              </a:ext>
            </a:extLst>
          </p:cNvPr>
          <p:cNvSpPr>
            <a:spLocks noGrp="1"/>
          </p:cNvSpPr>
          <p:nvPr/>
        </p:nvSpPr>
        <p:spPr>
          <a:xfrm>
            <a:off x="1143000" y="5524500"/>
            <a:ext cx="9906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spec   ·   plan   ·   explained   ·   code + tests   ·   e2e 문서   ·   wiki</a:t>
            </a:r>
          </a:p>
        </p:txBody>
      </p:sp>
    </p:spTree>
    <p:extLst>
      <p:ext uri="{BB962C8B-B14F-4D97-AF65-F5344CB8AC3E}">
        <p14:creationId xmlns:p14="http://schemas.microsoft.com/office/powerpoint/2010/main" val="168495898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04-04-footer-section">
            <a:extLst>
              <a:ext uri="{FF2B5EF4-FFF2-40B4-BE49-F238E27FC236}">
                <a16:creationId xmlns:a16="http://schemas.microsoft.com/office/drawing/2014/main" id="{0D76E0C8-9D31-4A48-B4D9-B43C8FA368B6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ko-KR" alt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어떤 흐름으로 돌릴 것인가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4-04-footer-page">
            <a:extLst>
              <a:ext uri="{FF2B5EF4-FFF2-40B4-BE49-F238E27FC236}">
                <a16:creationId xmlns:a16="http://schemas.microsoft.com/office/drawing/2014/main" id="{04883AEB-461F-43E8-8ADF-DD771641ECF1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53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4-04-accent-rule">
            <a:extLst>
              <a:ext uri="{FF2B5EF4-FFF2-40B4-BE49-F238E27FC236}">
                <a16:creationId xmlns:a16="http://schemas.microsoft.com/office/drawing/2014/main" id="{C6A541AD-D1C5-484F-8016-19D4CB619C6D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04-title">
            <a:extLst>
              <a:ext uri="{FF2B5EF4-FFF2-40B4-BE49-F238E27FC236}">
                <a16:creationId xmlns:a16="http://schemas.microsoft.com/office/drawing/2014/main" id="{3F4C50F1-A7AC-46F2-BF69-A7F322008976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안쪽 루프는 코드, 바깥 루프는 지식을 갱신한다</a:t>
            </a:r>
          </a:p>
        </p:txBody>
      </p:sp>
      <p:sp>
        <p:nvSpPr>
          <p:cNvPr id="5" name="04-04-divider">
            <a:extLst>
              <a:ext uri="{FF2B5EF4-FFF2-40B4-BE49-F238E27FC236}">
                <a16:creationId xmlns:a16="http://schemas.microsoft.com/office/drawing/2014/main" id="{E892D2D8-915A-4C92-B272-0A6458FE6767}"/>
              </a:ext>
            </a:extLst>
          </p:cNvPr>
          <p:cNvSpPr>
            <a:spLocks noGrp="1"/>
          </p:cNvSpPr>
          <p:nvPr/>
        </p:nvSpPr>
        <p:spPr>
          <a:xfrm>
            <a:off x="6096000" y="1676400"/>
            <a:ext cx="0" cy="390525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4-04-left-heading">
            <a:extLst>
              <a:ext uri="{FF2B5EF4-FFF2-40B4-BE49-F238E27FC236}">
                <a16:creationId xmlns:a16="http://schemas.microsoft.com/office/drawing/2014/main" id="{F4D75F99-F146-43E9-A6F5-CDEEF2645A68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4857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안쪽 루프</a:t>
            </a:r>
          </a:p>
        </p:txBody>
      </p:sp>
      <p:sp>
        <p:nvSpPr>
          <p:cNvPr id="7" name="04-04-left-dot-1">
            <a:extLst>
              <a:ext uri="{FF2B5EF4-FFF2-40B4-BE49-F238E27FC236}">
                <a16:creationId xmlns:a16="http://schemas.microsoft.com/office/drawing/2014/main" id="{31D719AB-3CC3-45D6-8131-3B9DE4FAAA2A}"/>
              </a:ext>
            </a:extLst>
          </p:cNvPr>
          <p:cNvSpPr>
            <a:spLocks noGrp="1"/>
          </p:cNvSpPr>
          <p:nvPr/>
        </p:nvSpPr>
        <p:spPr>
          <a:xfrm>
            <a:off x="72390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4-04-left-line-1">
            <a:extLst>
              <a:ext uri="{FF2B5EF4-FFF2-40B4-BE49-F238E27FC236}">
                <a16:creationId xmlns:a16="http://schemas.microsoft.com/office/drawing/2014/main" id="{01929BD0-B211-4E4F-A732-AFF04E7E2CE6}"/>
              </a:ext>
            </a:extLst>
          </p:cNvPr>
          <p:cNvSpPr>
            <a:spLocks noGrp="1"/>
          </p:cNvSpPr>
          <p:nvPr/>
        </p:nvSpPr>
        <p:spPr>
          <a:xfrm>
            <a:off x="952500" y="2362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생성</a:t>
            </a:r>
          </a:p>
        </p:txBody>
      </p:sp>
      <p:sp>
        <p:nvSpPr>
          <p:cNvPr id="9" name="04-04-left-dot-2">
            <a:extLst>
              <a:ext uri="{FF2B5EF4-FFF2-40B4-BE49-F238E27FC236}">
                <a16:creationId xmlns:a16="http://schemas.microsoft.com/office/drawing/2014/main" id="{FC16B22B-471B-4905-88DE-E4F154CE7431}"/>
              </a:ext>
            </a:extLst>
          </p:cNvPr>
          <p:cNvSpPr>
            <a:spLocks noGrp="1"/>
          </p:cNvSpPr>
          <p:nvPr/>
        </p:nvSpPr>
        <p:spPr>
          <a:xfrm>
            <a:off x="723900" y="30480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4-04-left-line-2">
            <a:extLst>
              <a:ext uri="{FF2B5EF4-FFF2-40B4-BE49-F238E27FC236}">
                <a16:creationId xmlns:a16="http://schemas.microsoft.com/office/drawing/2014/main" id="{28EAD8FD-D92C-4D86-9A84-531DE47153C7}"/>
              </a:ext>
            </a:extLst>
          </p:cNvPr>
          <p:cNvSpPr>
            <a:spLocks noGrp="1"/>
          </p:cNvSpPr>
          <p:nvPr/>
        </p:nvSpPr>
        <p:spPr>
          <a:xfrm>
            <a:off x="952500" y="29337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검증</a:t>
            </a:r>
          </a:p>
        </p:txBody>
      </p:sp>
      <p:sp>
        <p:nvSpPr>
          <p:cNvPr id="11" name="04-04-left-dot-3">
            <a:extLst>
              <a:ext uri="{FF2B5EF4-FFF2-40B4-BE49-F238E27FC236}">
                <a16:creationId xmlns:a16="http://schemas.microsoft.com/office/drawing/2014/main" id="{DFFC445D-0C38-4857-8CEE-776426B2CB67}"/>
              </a:ext>
            </a:extLst>
          </p:cNvPr>
          <p:cNvSpPr>
            <a:spLocks noGrp="1"/>
          </p:cNvSpPr>
          <p:nvPr/>
        </p:nvSpPr>
        <p:spPr>
          <a:xfrm>
            <a:off x="723900" y="3619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4-04-left-line-3">
            <a:extLst>
              <a:ext uri="{FF2B5EF4-FFF2-40B4-BE49-F238E27FC236}">
                <a16:creationId xmlns:a16="http://schemas.microsoft.com/office/drawing/2014/main" id="{23DE6DD5-7097-4B28-BE50-BD499E0ADA1A}"/>
              </a:ext>
            </a:extLst>
          </p:cNvPr>
          <p:cNvSpPr>
            <a:spLocks noGrp="1"/>
          </p:cNvSpPr>
          <p:nvPr/>
        </p:nvSpPr>
        <p:spPr>
          <a:xfrm>
            <a:off x="952500" y="3505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수정</a:t>
            </a:r>
          </a:p>
        </p:txBody>
      </p:sp>
      <p:sp>
        <p:nvSpPr>
          <p:cNvPr id="13" name="04-04-left-dot-4">
            <a:extLst>
              <a:ext uri="{FF2B5EF4-FFF2-40B4-BE49-F238E27FC236}">
                <a16:creationId xmlns:a16="http://schemas.microsoft.com/office/drawing/2014/main" id="{4E848EC6-917A-462C-8A5C-3D33B98BA64D}"/>
              </a:ext>
            </a:extLst>
          </p:cNvPr>
          <p:cNvSpPr>
            <a:spLocks noGrp="1"/>
          </p:cNvSpPr>
          <p:nvPr/>
        </p:nvSpPr>
        <p:spPr>
          <a:xfrm>
            <a:off x="723900" y="41910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04-04-left-line-4">
            <a:extLst>
              <a:ext uri="{FF2B5EF4-FFF2-40B4-BE49-F238E27FC236}">
                <a16:creationId xmlns:a16="http://schemas.microsoft.com/office/drawing/2014/main" id="{FDEE1DD8-6292-40C4-95A1-71F5259F694A}"/>
              </a:ext>
            </a:extLst>
          </p:cNvPr>
          <p:cNvSpPr>
            <a:spLocks noGrp="1"/>
          </p:cNvSpPr>
          <p:nvPr/>
        </p:nvSpPr>
        <p:spPr>
          <a:xfrm>
            <a:off x="952500" y="40767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재검증</a:t>
            </a:r>
          </a:p>
        </p:txBody>
      </p:sp>
      <p:sp>
        <p:nvSpPr>
          <p:cNvPr id="15" name="04-04-right-heading">
            <a:extLst>
              <a:ext uri="{FF2B5EF4-FFF2-40B4-BE49-F238E27FC236}">
                <a16:creationId xmlns:a16="http://schemas.microsoft.com/office/drawing/2014/main" id="{F9D9D719-FCEF-47D4-96B3-1D12CC3274C8}"/>
              </a:ext>
            </a:extLst>
          </p:cNvPr>
          <p:cNvSpPr>
            <a:spLocks noGrp="1"/>
          </p:cNvSpPr>
          <p:nvPr/>
        </p:nvSpPr>
        <p:spPr>
          <a:xfrm>
            <a:off x="6572250" y="1676400"/>
            <a:ext cx="4762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바깥 루프</a:t>
            </a:r>
          </a:p>
        </p:txBody>
      </p:sp>
      <p:sp>
        <p:nvSpPr>
          <p:cNvPr id="16" name="04-04-right-dot-1">
            <a:extLst>
              <a:ext uri="{FF2B5EF4-FFF2-40B4-BE49-F238E27FC236}">
                <a16:creationId xmlns:a16="http://schemas.microsoft.com/office/drawing/2014/main" id="{DEAB9FF6-F506-48F5-81C7-E32D6E4A2415}"/>
              </a:ext>
            </a:extLst>
          </p:cNvPr>
          <p:cNvSpPr>
            <a:spLocks noGrp="1"/>
          </p:cNvSpPr>
          <p:nvPr/>
        </p:nvSpPr>
        <p:spPr>
          <a:xfrm>
            <a:off x="657225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04-04-right-line-1">
            <a:extLst>
              <a:ext uri="{FF2B5EF4-FFF2-40B4-BE49-F238E27FC236}">
                <a16:creationId xmlns:a16="http://schemas.microsoft.com/office/drawing/2014/main" id="{6EAB1518-EFDE-4F5D-B153-375511AB2F2C}"/>
              </a:ext>
            </a:extLst>
          </p:cNvPr>
          <p:cNvSpPr>
            <a:spLocks noGrp="1"/>
          </p:cNvSpPr>
          <p:nvPr/>
        </p:nvSpPr>
        <p:spPr>
          <a:xfrm>
            <a:off x="6800850" y="2362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합의</a:t>
            </a:r>
          </a:p>
        </p:txBody>
      </p:sp>
      <p:sp>
        <p:nvSpPr>
          <p:cNvPr id="18" name="04-04-right-dot-2">
            <a:extLst>
              <a:ext uri="{FF2B5EF4-FFF2-40B4-BE49-F238E27FC236}">
                <a16:creationId xmlns:a16="http://schemas.microsoft.com/office/drawing/2014/main" id="{F9BBCF3F-31D5-4DA8-B216-7140CCFBCF25}"/>
              </a:ext>
            </a:extLst>
          </p:cNvPr>
          <p:cNvSpPr>
            <a:spLocks noGrp="1"/>
          </p:cNvSpPr>
          <p:nvPr/>
        </p:nvSpPr>
        <p:spPr>
          <a:xfrm>
            <a:off x="6572250" y="30480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04-04-right-line-2">
            <a:extLst>
              <a:ext uri="{FF2B5EF4-FFF2-40B4-BE49-F238E27FC236}">
                <a16:creationId xmlns:a16="http://schemas.microsoft.com/office/drawing/2014/main" id="{9CA60177-E8CB-4B9A-B935-442B827648D4}"/>
              </a:ext>
            </a:extLst>
          </p:cNvPr>
          <p:cNvSpPr>
            <a:spLocks noGrp="1"/>
          </p:cNvSpPr>
          <p:nvPr/>
        </p:nvSpPr>
        <p:spPr>
          <a:xfrm>
            <a:off x="6800850" y="29337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구현</a:t>
            </a:r>
          </a:p>
        </p:txBody>
      </p:sp>
      <p:sp>
        <p:nvSpPr>
          <p:cNvPr id="20" name="04-04-right-dot-3">
            <a:extLst>
              <a:ext uri="{FF2B5EF4-FFF2-40B4-BE49-F238E27FC236}">
                <a16:creationId xmlns:a16="http://schemas.microsoft.com/office/drawing/2014/main" id="{1883F2E3-FA3A-48B5-80B9-24E5FFF70833}"/>
              </a:ext>
            </a:extLst>
          </p:cNvPr>
          <p:cNvSpPr>
            <a:spLocks noGrp="1"/>
          </p:cNvSpPr>
          <p:nvPr/>
        </p:nvSpPr>
        <p:spPr>
          <a:xfrm>
            <a:off x="6572250" y="3619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04-04-right-line-3">
            <a:extLst>
              <a:ext uri="{FF2B5EF4-FFF2-40B4-BE49-F238E27FC236}">
                <a16:creationId xmlns:a16="http://schemas.microsoft.com/office/drawing/2014/main" id="{B86E8589-A1C7-4810-A713-8A994412E311}"/>
              </a:ext>
            </a:extLst>
          </p:cNvPr>
          <p:cNvSpPr>
            <a:spLocks noGrp="1"/>
          </p:cNvSpPr>
          <p:nvPr/>
        </p:nvSpPr>
        <p:spPr>
          <a:xfrm>
            <a:off x="6800850" y="3505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흐름 복원</a:t>
            </a:r>
          </a:p>
        </p:txBody>
      </p:sp>
      <p:sp>
        <p:nvSpPr>
          <p:cNvPr id="22" name="04-04-right-dot-4">
            <a:extLst>
              <a:ext uri="{FF2B5EF4-FFF2-40B4-BE49-F238E27FC236}">
                <a16:creationId xmlns:a16="http://schemas.microsoft.com/office/drawing/2014/main" id="{476C13E7-9CC5-44B2-A52F-CCEABAFAD6F7}"/>
              </a:ext>
            </a:extLst>
          </p:cNvPr>
          <p:cNvSpPr>
            <a:spLocks noGrp="1"/>
          </p:cNvSpPr>
          <p:nvPr/>
        </p:nvSpPr>
        <p:spPr>
          <a:xfrm>
            <a:off x="6572250" y="41910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04-04-right-line-4">
            <a:extLst>
              <a:ext uri="{FF2B5EF4-FFF2-40B4-BE49-F238E27FC236}">
                <a16:creationId xmlns:a16="http://schemas.microsoft.com/office/drawing/2014/main" id="{BDC9DD01-AF6B-4218-A72B-B7F59F4825FC}"/>
              </a:ext>
            </a:extLst>
          </p:cNvPr>
          <p:cNvSpPr>
            <a:spLocks noGrp="1"/>
          </p:cNvSpPr>
          <p:nvPr/>
        </p:nvSpPr>
        <p:spPr>
          <a:xfrm>
            <a:off x="6800850" y="40767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다음 작업의 지식</a:t>
            </a:r>
          </a:p>
        </p:txBody>
      </p:sp>
      <p:sp>
        <p:nvSpPr>
          <p:cNvPr id="24" name="04-04-optional">
            <a:extLst>
              <a:ext uri="{FF2B5EF4-FFF2-40B4-BE49-F238E27FC236}">
                <a16:creationId xmlns:a16="http://schemas.microsoft.com/office/drawing/2014/main" id="{8EB8E4FE-AC94-48AC-B6E0-BF7F6F1DC001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42840134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04-05-footer-section">
            <a:extLst>
              <a:ext uri="{FF2B5EF4-FFF2-40B4-BE49-F238E27FC236}">
                <a16:creationId xmlns:a16="http://schemas.microsoft.com/office/drawing/2014/main" id="{0CA8B8D0-2D41-43D2-82E4-119206737B44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ko-KR" alt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어떤 흐름으로 돌릴 것인가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4-05-footer-page">
            <a:extLst>
              <a:ext uri="{FF2B5EF4-FFF2-40B4-BE49-F238E27FC236}">
                <a16:creationId xmlns:a16="http://schemas.microsoft.com/office/drawing/2014/main" id="{ACEC7C31-3630-4B9A-861C-617FD2CA9D4D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54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4-05-accent-rule">
            <a:extLst>
              <a:ext uri="{FF2B5EF4-FFF2-40B4-BE49-F238E27FC236}">
                <a16:creationId xmlns:a16="http://schemas.microsoft.com/office/drawing/2014/main" id="{7812DD80-F76D-48DC-940D-42E193CD8174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05-title">
            <a:extLst>
              <a:ext uri="{FF2B5EF4-FFF2-40B4-BE49-F238E27FC236}">
                <a16:creationId xmlns:a16="http://schemas.microsoft.com/office/drawing/2014/main" id="{BE3AA81D-6C6B-4637-85C6-A9CE5BD17EA0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정본은 구현 전후에 이동한다</a:t>
            </a:r>
          </a:p>
        </p:txBody>
      </p:sp>
      <p:sp>
        <p:nvSpPr>
          <p:cNvPr id="5" name="04-05-arrow-1">
            <a:extLst>
              <a:ext uri="{FF2B5EF4-FFF2-40B4-BE49-F238E27FC236}">
                <a16:creationId xmlns:a16="http://schemas.microsoft.com/office/drawing/2014/main" id="{4297D064-AFB1-40B1-BC97-3EE77CB55798}"/>
              </a:ext>
            </a:extLst>
          </p:cNvPr>
          <p:cNvSpPr>
            <a:spLocks noGrp="1"/>
          </p:cNvSpPr>
          <p:nvPr/>
        </p:nvSpPr>
        <p:spPr>
          <a:xfrm>
            <a:off x="285750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4-05-arrow-2">
            <a:extLst>
              <a:ext uri="{FF2B5EF4-FFF2-40B4-BE49-F238E27FC236}">
                <a16:creationId xmlns:a16="http://schemas.microsoft.com/office/drawing/2014/main" id="{515277E6-9599-402D-B979-07E44F47039F}"/>
              </a:ext>
            </a:extLst>
          </p:cNvPr>
          <p:cNvSpPr>
            <a:spLocks noGrp="1"/>
          </p:cNvSpPr>
          <p:nvPr/>
        </p:nvSpPr>
        <p:spPr>
          <a:xfrm>
            <a:off x="485775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4-05-arrow-3">
            <a:extLst>
              <a:ext uri="{FF2B5EF4-FFF2-40B4-BE49-F238E27FC236}">
                <a16:creationId xmlns:a16="http://schemas.microsoft.com/office/drawing/2014/main" id="{5B35DCAF-B094-4841-A130-3FFE809CC8AD}"/>
              </a:ext>
            </a:extLst>
          </p:cNvPr>
          <p:cNvSpPr>
            <a:spLocks noGrp="1"/>
          </p:cNvSpPr>
          <p:nvPr/>
        </p:nvSpPr>
        <p:spPr>
          <a:xfrm>
            <a:off x="685800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4-05-arrow-4">
            <a:extLst>
              <a:ext uri="{FF2B5EF4-FFF2-40B4-BE49-F238E27FC236}">
                <a16:creationId xmlns:a16="http://schemas.microsoft.com/office/drawing/2014/main" id="{E796E0E7-EFDF-4EE8-B8EB-578E8761C0C2}"/>
              </a:ext>
            </a:extLst>
          </p:cNvPr>
          <p:cNvSpPr>
            <a:spLocks noGrp="1"/>
          </p:cNvSpPr>
          <p:nvPr/>
        </p:nvSpPr>
        <p:spPr>
          <a:xfrm>
            <a:off x="885825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04-05-node-1">
            <a:extLst>
              <a:ext uri="{FF2B5EF4-FFF2-40B4-BE49-F238E27FC236}">
                <a16:creationId xmlns:a16="http://schemas.microsoft.com/office/drawing/2014/main" id="{91359729-FE62-41B8-9149-0115C9549A42}"/>
              </a:ext>
            </a:extLst>
          </p:cNvPr>
          <p:cNvSpPr>
            <a:spLocks noGrp="1"/>
          </p:cNvSpPr>
          <p:nvPr/>
        </p:nvSpPr>
        <p:spPr>
          <a:xfrm>
            <a:off x="104775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2878C7"/>
          </a:solidFill>
          <a:ln w="19050">
            <a:solidFill>
              <a:srgbClr val="2878C7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spec</a:t>
            </a:r>
          </a:p>
        </p:txBody>
      </p:sp>
      <p:sp>
        <p:nvSpPr>
          <p:cNvPr id="10" name="04-05-node-2">
            <a:extLst>
              <a:ext uri="{FF2B5EF4-FFF2-40B4-BE49-F238E27FC236}">
                <a16:creationId xmlns:a16="http://schemas.microsoft.com/office/drawing/2014/main" id="{3AD401AB-6484-4CE3-BEB6-07CE71F93FD3}"/>
              </a:ext>
            </a:extLst>
          </p:cNvPr>
          <p:cNvSpPr>
            <a:spLocks noGrp="1"/>
          </p:cNvSpPr>
          <p:nvPr/>
        </p:nvSpPr>
        <p:spPr>
          <a:xfrm>
            <a:off x="304800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plan</a:t>
            </a:r>
          </a:p>
        </p:txBody>
      </p:sp>
      <p:sp>
        <p:nvSpPr>
          <p:cNvPr id="11" name="04-05-node-3">
            <a:extLst>
              <a:ext uri="{FF2B5EF4-FFF2-40B4-BE49-F238E27FC236}">
                <a16:creationId xmlns:a16="http://schemas.microsoft.com/office/drawing/2014/main" id="{AA9E2E14-1764-417E-B93B-9016964ED08E}"/>
              </a:ext>
            </a:extLst>
          </p:cNvPr>
          <p:cNvSpPr>
            <a:spLocks noGrp="1"/>
          </p:cNvSpPr>
          <p:nvPr/>
        </p:nvSpPr>
        <p:spPr>
          <a:xfrm>
            <a:off x="504825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구현</a:t>
            </a:r>
          </a:p>
        </p:txBody>
      </p:sp>
      <p:sp>
        <p:nvSpPr>
          <p:cNvPr id="12" name="04-05-node-4">
            <a:extLst>
              <a:ext uri="{FF2B5EF4-FFF2-40B4-BE49-F238E27FC236}">
                <a16:creationId xmlns:a16="http://schemas.microsoft.com/office/drawing/2014/main" id="{02455387-338E-4E04-A557-9A20318D7122}"/>
              </a:ext>
            </a:extLst>
          </p:cNvPr>
          <p:cNvSpPr>
            <a:spLocks noGrp="1"/>
          </p:cNvSpPr>
          <p:nvPr/>
        </p:nvSpPr>
        <p:spPr>
          <a:xfrm>
            <a:off x="704850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실제 소스코드</a:t>
            </a:r>
          </a:p>
        </p:txBody>
      </p:sp>
      <p:sp>
        <p:nvSpPr>
          <p:cNvPr id="13" name="04-05-node-5">
            <a:extLst>
              <a:ext uri="{FF2B5EF4-FFF2-40B4-BE49-F238E27FC236}">
                <a16:creationId xmlns:a16="http://schemas.microsoft.com/office/drawing/2014/main" id="{84029271-D498-4458-BADB-FE65AC7E8AB3}"/>
              </a:ext>
            </a:extLst>
          </p:cNvPr>
          <p:cNvSpPr>
            <a:spLocks noGrp="1"/>
          </p:cNvSpPr>
          <p:nvPr/>
        </p:nvSpPr>
        <p:spPr>
          <a:xfrm>
            <a:off x="904875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e2e</a:t>
            </a:r>
          </a:p>
        </p:txBody>
      </p:sp>
      <p:sp>
        <p:nvSpPr>
          <p:cNvPr id="14" name="04-05-caption">
            <a:extLst>
              <a:ext uri="{FF2B5EF4-FFF2-40B4-BE49-F238E27FC236}">
                <a16:creationId xmlns:a16="http://schemas.microsoft.com/office/drawing/2014/main" id="{AF581B68-A58C-4FF4-8E62-D78A5EAEF2CE}"/>
              </a:ext>
            </a:extLst>
          </p:cNvPr>
          <p:cNvSpPr>
            <a:spLocks noGrp="1"/>
          </p:cNvSpPr>
          <p:nvPr/>
        </p:nvSpPr>
        <p:spPr>
          <a:xfrm>
            <a:off x="1143000" y="4000500"/>
            <a:ext cx="9906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무엇을 만들기로 했나   ·   어떤 순서로 만들까   ·   전환점   ·   지금 뭐가 도나   ·   코드에서 복원한 지도</a:t>
            </a:r>
          </a:p>
        </p:txBody>
      </p:sp>
    </p:spTree>
    <p:extLst>
      <p:ext uri="{BB962C8B-B14F-4D97-AF65-F5344CB8AC3E}">
        <p14:creationId xmlns:p14="http://schemas.microsoft.com/office/powerpoint/2010/main" val="138528367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04-06-footer-section">
            <a:extLst>
              <a:ext uri="{FF2B5EF4-FFF2-40B4-BE49-F238E27FC236}">
                <a16:creationId xmlns:a16="http://schemas.microsoft.com/office/drawing/2014/main" id="{D34FB3FD-9739-4C67-915F-3ECB73C7DD0C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ko-KR" alt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어떤 흐름으로 돌릴 것인가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4-06-footer-page">
            <a:extLst>
              <a:ext uri="{FF2B5EF4-FFF2-40B4-BE49-F238E27FC236}">
                <a16:creationId xmlns:a16="http://schemas.microsoft.com/office/drawing/2014/main" id="{90D16286-A76B-4AE2-8235-62E1375BF068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55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4-06-accent-rule">
            <a:extLst>
              <a:ext uri="{FF2B5EF4-FFF2-40B4-BE49-F238E27FC236}">
                <a16:creationId xmlns:a16="http://schemas.microsoft.com/office/drawing/2014/main" id="{EBD195F1-1C9D-41E8-AC4C-57F7063B147B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06-title">
            <a:extLst>
              <a:ext uri="{FF2B5EF4-FFF2-40B4-BE49-F238E27FC236}">
                <a16:creationId xmlns:a16="http://schemas.microsoft.com/office/drawing/2014/main" id="{B63B7029-D3DA-4CE4-A795-91CCE5C7F8A8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단계를 건너뛰는 것은 실패가 아니라 판단이다</a:t>
            </a:r>
          </a:p>
        </p:txBody>
      </p:sp>
      <p:sp>
        <p:nvSpPr>
          <p:cNvPr id="5" name="04-06-divider">
            <a:extLst>
              <a:ext uri="{FF2B5EF4-FFF2-40B4-BE49-F238E27FC236}">
                <a16:creationId xmlns:a16="http://schemas.microsoft.com/office/drawing/2014/main" id="{D128F2D7-5B14-49A4-A328-96F6476F5849}"/>
              </a:ext>
            </a:extLst>
          </p:cNvPr>
          <p:cNvSpPr>
            <a:spLocks noGrp="1"/>
          </p:cNvSpPr>
          <p:nvPr/>
        </p:nvSpPr>
        <p:spPr>
          <a:xfrm>
            <a:off x="6096000" y="1676400"/>
            <a:ext cx="0" cy="390525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4-06-left-heading">
            <a:extLst>
              <a:ext uri="{FF2B5EF4-FFF2-40B4-BE49-F238E27FC236}">
                <a16:creationId xmlns:a16="http://schemas.microsoft.com/office/drawing/2014/main" id="{8842AF61-D74A-41EA-8BEB-149BB286679A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4857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가볍게 처리</a:t>
            </a:r>
          </a:p>
        </p:txBody>
      </p:sp>
      <p:sp>
        <p:nvSpPr>
          <p:cNvPr id="7" name="04-06-left-dot-1">
            <a:extLst>
              <a:ext uri="{FF2B5EF4-FFF2-40B4-BE49-F238E27FC236}">
                <a16:creationId xmlns:a16="http://schemas.microsoft.com/office/drawing/2014/main" id="{A0573202-F4E6-47C3-A708-C92BF69ED172}"/>
              </a:ext>
            </a:extLst>
          </p:cNvPr>
          <p:cNvSpPr>
            <a:spLocks noGrp="1"/>
          </p:cNvSpPr>
          <p:nvPr/>
        </p:nvSpPr>
        <p:spPr>
          <a:xfrm>
            <a:off x="72390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4-06-left-line-1">
            <a:extLst>
              <a:ext uri="{FF2B5EF4-FFF2-40B4-BE49-F238E27FC236}">
                <a16:creationId xmlns:a16="http://schemas.microsoft.com/office/drawing/2014/main" id="{E117B34B-A918-4041-951B-634C73296174}"/>
              </a:ext>
            </a:extLst>
          </p:cNvPr>
          <p:cNvSpPr>
            <a:spLocks noGrp="1"/>
          </p:cNvSpPr>
          <p:nvPr/>
        </p:nvSpPr>
        <p:spPr>
          <a:xfrm>
            <a:off x="952500" y="2362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오타·상수 변경 — 기존 검증</a:t>
            </a:r>
          </a:p>
        </p:txBody>
      </p:sp>
      <p:sp>
        <p:nvSpPr>
          <p:cNvPr id="9" name="04-06-left-dot-2">
            <a:extLst>
              <a:ext uri="{FF2B5EF4-FFF2-40B4-BE49-F238E27FC236}">
                <a16:creationId xmlns:a16="http://schemas.microsoft.com/office/drawing/2014/main" id="{6A3F60AC-8946-4BE7-B4E8-94B1947F1324}"/>
              </a:ext>
            </a:extLst>
          </p:cNvPr>
          <p:cNvSpPr>
            <a:spLocks noGrp="1"/>
          </p:cNvSpPr>
          <p:nvPr/>
        </p:nvSpPr>
        <p:spPr>
          <a:xfrm>
            <a:off x="72390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4-06-left-line-2">
            <a:extLst>
              <a:ext uri="{FF2B5EF4-FFF2-40B4-BE49-F238E27FC236}">
                <a16:creationId xmlns:a16="http://schemas.microsoft.com/office/drawing/2014/main" id="{4AEC7589-793C-4AF5-AA64-D19EDC1456BB}"/>
              </a:ext>
            </a:extLst>
          </p:cNvPr>
          <p:cNvSpPr>
            <a:spLocks noGrp="1"/>
          </p:cNvSpPr>
          <p:nvPr/>
        </p:nvSpPr>
        <p:spPr>
          <a:xfrm>
            <a:off x="952500" y="310515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원인 명확한 버그 — TDD 루프</a:t>
            </a:r>
          </a:p>
        </p:txBody>
      </p:sp>
      <p:sp>
        <p:nvSpPr>
          <p:cNvPr id="11" name="04-06-left-dot-3">
            <a:extLst>
              <a:ext uri="{FF2B5EF4-FFF2-40B4-BE49-F238E27FC236}">
                <a16:creationId xmlns:a16="http://schemas.microsoft.com/office/drawing/2014/main" id="{08944C00-1262-46E2-9A35-ACACC18124B5}"/>
              </a:ext>
            </a:extLst>
          </p:cNvPr>
          <p:cNvSpPr>
            <a:spLocks noGrp="1"/>
          </p:cNvSpPr>
          <p:nvPr/>
        </p:nvSpPr>
        <p:spPr>
          <a:xfrm>
            <a:off x="72390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4-06-left-line-3">
            <a:extLst>
              <a:ext uri="{FF2B5EF4-FFF2-40B4-BE49-F238E27FC236}">
                <a16:creationId xmlns:a16="http://schemas.microsoft.com/office/drawing/2014/main" id="{614F0036-BD3E-4932-82DA-9509327DA772}"/>
              </a:ext>
            </a:extLst>
          </p:cNvPr>
          <p:cNvSpPr>
            <a:spLocks noGrp="1"/>
          </p:cNvSpPr>
          <p:nvPr/>
        </p:nvSpPr>
        <p:spPr>
          <a:xfrm>
            <a:off x="952500" y="38481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기존 기능 확장 — plan부터</a:t>
            </a:r>
          </a:p>
        </p:txBody>
      </p:sp>
      <p:sp>
        <p:nvSpPr>
          <p:cNvPr id="13" name="04-06-right-heading">
            <a:extLst>
              <a:ext uri="{FF2B5EF4-FFF2-40B4-BE49-F238E27FC236}">
                <a16:creationId xmlns:a16="http://schemas.microsoft.com/office/drawing/2014/main" id="{7C4FE1E0-0FCF-4D07-8C1D-DEFCA3271CCF}"/>
              </a:ext>
            </a:extLst>
          </p:cNvPr>
          <p:cNvSpPr>
            <a:spLocks noGrp="1"/>
          </p:cNvSpPr>
          <p:nvPr/>
        </p:nvSpPr>
        <p:spPr>
          <a:xfrm>
            <a:off x="6572250" y="1676400"/>
            <a:ext cx="4762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전체 흐름</a:t>
            </a:r>
          </a:p>
        </p:txBody>
      </p:sp>
      <p:sp>
        <p:nvSpPr>
          <p:cNvPr id="14" name="04-06-right-dot-1">
            <a:extLst>
              <a:ext uri="{FF2B5EF4-FFF2-40B4-BE49-F238E27FC236}">
                <a16:creationId xmlns:a16="http://schemas.microsoft.com/office/drawing/2014/main" id="{0FC2191D-325E-43B1-9A41-E3C9C3302274}"/>
              </a:ext>
            </a:extLst>
          </p:cNvPr>
          <p:cNvSpPr>
            <a:spLocks noGrp="1"/>
          </p:cNvSpPr>
          <p:nvPr/>
        </p:nvSpPr>
        <p:spPr>
          <a:xfrm>
            <a:off x="657225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04-06-right-line-1">
            <a:extLst>
              <a:ext uri="{FF2B5EF4-FFF2-40B4-BE49-F238E27FC236}">
                <a16:creationId xmlns:a16="http://schemas.microsoft.com/office/drawing/2014/main" id="{D643AD38-A0E9-40B7-B8AA-A9363C076E9E}"/>
              </a:ext>
            </a:extLst>
          </p:cNvPr>
          <p:cNvSpPr>
            <a:spLocks noGrp="1"/>
          </p:cNvSpPr>
          <p:nvPr/>
        </p:nvSpPr>
        <p:spPr>
          <a:xfrm>
            <a:off x="6800850" y="2362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새 기능</a:t>
            </a:r>
          </a:p>
        </p:txBody>
      </p:sp>
      <p:sp>
        <p:nvSpPr>
          <p:cNvPr id="16" name="04-06-right-dot-2">
            <a:extLst>
              <a:ext uri="{FF2B5EF4-FFF2-40B4-BE49-F238E27FC236}">
                <a16:creationId xmlns:a16="http://schemas.microsoft.com/office/drawing/2014/main" id="{1C1D6675-6728-4F67-A3B5-2E883C1E8AFD}"/>
              </a:ext>
            </a:extLst>
          </p:cNvPr>
          <p:cNvSpPr>
            <a:spLocks noGrp="1"/>
          </p:cNvSpPr>
          <p:nvPr/>
        </p:nvSpPr>
        <p:spPr>
          <a:xfrm>
            <a:off x="6572250" y="30480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04-06-right-line-2">
            <a:extLst>
              <a:ext uri="{FF2B5EF4-FFF2-40B4-BE49-F238E27FC236}">
                <a16:creationId xmlns:a16="http://schemas.microsoft.com/office/drawing/2014/main" id="{56292D08-1EFF-4692-91F1-00667EE328DE}"/>
              </a:ext>
            </a:extLst>
          </p:cNvPr>
          <p:cNvSpPr>
            <a:spLocks noGrp="1"/>
          </p:cNvSpPr>
          <p:nvPr/>
        </p:nvSpPr>
        <p:spPr>
          <a:xfrm>
            <a:off x="6800850" y="29337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마이그레이션</a:t>
            </a:r>
          </a:p>
        </p:txBody>
      </p:sp>
      <p:sp>
        <p:nvSpPr>
          <p:cNvPr id="18" name="04-06-right-dot-3">
            <a:extLst>
              <a:ext uri="{FF2B5EF4-FFF2-40B4-BE49-F238E27FC236}">
                <a16:creationId xmlns:a16="http://schemas.microsoft.com/office/drawing/2014/main" id="{596537BB-C00B-436A-9885-6E10DFA9E024}"/>
              </a:ext>
            </a:extLst>
          </p:cNvPr>
          <p:cNvSpPr>
            <a:spLocks noGrp="1"/>
          </p:cNvSpPr>
          <p:nvPr/>
        </p:nvSpPr>
        <p:spPr>
          <a:xfrm>
            <a:off x="6572250" y="3619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04-06-right-line-3">
            <a:extLst>
              <a:ext uri="{FF2B5EF4-FFF2-40B4-BE49-F238E27FC236}">
                <a16:creationId xmlns:a16="http://schemas.microsoft.com/office/drawing/2014/main" id="{D66A2092-8642-4063-88A0-BDC685FB19FE}"/>
              </a:ext>
            </a:extLst>
          </p:cNvPr>
          <p:cNvSpPr>
            <a:spLocks noGrp="1"/>
          </p:cNvSpPr>
          <p:nvPr/>
        </p:nvSpPr>
        <p:spPr>
          <a:xfrm>
            <a:off x="6800850" y="3505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구조 변경</a:t>
            </a:r>
          </a:p>
        </p:txBody>
      </p:sp>
      <p:sp>
        <p:nvSpPr>
          <p:cNvPr id="20" name="04-06-right-dot-4">
            <a:extLst>
              <a:ext uri="{FF2B5EF4-FFF2-40B4-BE49-F238E27FC236}">
                <a16:creationId xmlns:a16="http://schemas.microsoft.com/office/drawing/2014/main" id="{488057F0-521D-4CA9-AD2E-061A1CB0FA79}"/>
              </a:ext>
            </a:extLst>
          </p:cNvPr>
          <p:cNvSpPr>
            <a:spLocks noGrp="1"/>
          </p:cNvSpPr>
          <p:nvPr/>
        </p:nvSpPr>
        <p:spPr>
          <a:xfrm>
            <a:off x="6572250" y="41910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04-06-right-line-4">
            <a:extLst>
              <a:ext uri="{FF2B5EF4-FFF2-40B4-BE49-F238E27FC236}">
                <a16:creationId xmlns:a16="http://schemas.microsoft.com/office/drawing/2014/main" id="{695AD673-5557-4BFF-AB39-F88694CF3F33}"/>
              </a:ext>
            </a:extLst>
          </p:cNvPr>
          <p:cNvSpPr>
            <a:spLocks noGrp="1"/>
          </p:cNvSpPr>
          <p:nvPr/>
        </p:nvSpPr>
        <p:spPr>
          <a:xfrm>
            <a:off x="6800850" y="40767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원인 불명확한 버그</a:t>
            </a:r>
          </a:p>
        </p:txBody>
      </p:sp>
      <p:sp>
        <p:nvSpPr>
          <p:cNvPr id="22" name="04-06-optional">
            <a:extLst>
              <a:ext uri="{FF2B5EF4-FFF2-40B4-BE49-F238E27FC236}">
                <a16:creationId xmlns:a16="http://schemas.microsoft.com/office/drawing/2014/main" id="{AC836A3A-5B2B-43B1-8856-22FF22F3A4D5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10758082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04-07-footer-section">
            <a:extLst>
              <a:ext uri="{FF2B5EF4-FFF2-40B4-BE49-F238E27FC236}">
                <a16:creationId xmlns:a16="http://schemas.microsoft.com/office/drawing/2014/main" id="{3B7752BC-548A-4399-8930-C89531615D57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ko-KR" alt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어떤 흐름으로 돌릴 것인가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4-07-footer-page">
            <a:extLst>
              <a:ext uri="{FF2B5EF4-FFF2-40B4-BE49-F238E27FC236}">
                <a16:creationId xmlns:a16="http://schemas.microsoft.com/office/drawing/2014/main" id="{57914C50-9058-4BEA-91CE-E6AB73479E0A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56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4-07-accent-rule">
            <a:extLst>
              <a:ext uri="{FF2B5EF4-FFF2-40B4-BE49-F238E27FC236}">
                <a16:creationId xmlns:a16="http://schemas.microsoft.com/office/drawing/2014/main" id="{2FD0CAAE-F8D6-4FD9-856E-043366F12069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07-title">
            <a:extLst>
              <a:ext uri="{FF2B5EF4-FFF2-40B4-BE49-F238E27FC236}">
                <a16:creationId xmlns:a16="http://schemas.microsoft.com/office/drawing/2014/main" id="{C6CF6F6A-6841-45D0-9B92-35F055353B9F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세 질문이 필요한 단계를 결정한다</a:t>
            </a:r>
          </a:p>
        </p:txBody>
      </p:sp>
      <p:sp>
        <p:nvSpPr>
          <p:cNvPr id="5" name="04-07-bullet-1">
            <a:extLst>
              <a:ext uri="{FF2B5EF4-FFF2-40B4-BE49-F238E27FC236}">
                <a16:creationId xmlns:a16="http://schemas.microsoft.com/office/drawing/2014/main" id="{48F7D141-F2C5-4D2E-9617-87481F6205B5}"/>
              </a:ext>
            </a:extLst>
          </p:cNvPr>
          <p:cNvSpPr>
            <a:spLocks noGrp="1"/>
          </p:cNvSpPr>
          <p:nvPr/>
        </p:nvSpPr>
        <p:spPr>
          <a:xfrm>
            <a:off x="876300" y="19240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4-07-body-1">
            <a:extLst>
              <a:ext uri="{FF2B5EF4-FFF2-40B4-BE49-F238E27FC236}">
                <a16:creationId xmlns:a16="http://schemas.microsoft.com/office/drawing/2014/main" id="{1D58CA59-88AB-433E-AAAE-187394CA1CA4}"/>
              </a:ext>
            </a:extLst>
          </p:cNvPr>
          <p:cNvSpPr>
            <a:spLocks noGrp="1"/>
          </p:cNvSpPr>
          <p:nvPr/>
        </p:nvSpPr>
        <p:spPr>
          <a:xfrm>
            <a:off x="1143000" y="18097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다른 해석이 가능한가 → 합의</a:t>
            </a:r>
          </a:p>
        </p:txBody>
      </p:sp>
      <p:sp>
        <p:nvSpPr>
          <p:cNvPr id="7" name="04-07-bullet-2">
            <a:extLst>
              <a:ext uri="{FF2B5EF4-FFF2-40B4-BE49-F238E27FC236}">
                <a16:creationId xmlns:a16="http://schemas.microsoft.com/office/drawing/2014/main" id="{7C0A84D8-B9A7-4D78-9FA1-A013F02C852D}"/>
              </a:ext>
            </a:extLst>
          </p:cNvPr>
          <p:cNvSpPr>
            <a:spLocks noGrp="1"/>
          </p:cNvSpPr>
          <p:nvPr/>
        </p:nvSpPr>
        <p:spPr>
          <a:xfrm>
            <a:off x="876300" y="27051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4-07-body-2">
            <a:extLst>
              <a:ext uri="{FF2B5EF4-FFF2-40B4-BE49-F238E27FC236}">
                <a16:creationId xmlns:a16="http://schemas.microsoft.com/office/drawing/2014/main" id="{5E0AAAC2-50A6-4857-90BC-F1C1BD45632C}"/>
              </a:ext>
            </a:extLst>
          </p:cNvPr>
          <p:cNvSpPr>
            <a:spLocks noGrp="1"/>
          </p:cNvSpPr>
          <p:nvPr/>
        </p:nvSpPr>
        <p:spPr>
          <a:xfrm>
            <a:off x="1143000" y="259080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한 번에 증명하기 어려운가 → 계획</a:t>
            </a:r>
          </a:p>
        </p:txBody>
      </p:sp>
      <p:sp>
        <p:nvSpPr>
          <p:cNvPr id="9" name="04-07-bullet-3">
            <a:extLst>
              <a:ext uri="{FF2B5EF4-FFF2-40B4-BE49-F238E27FC236}">
                <a16:creationId xmlns:a16="http://schemas.microsoft.com/office/drawing/2014/main" id="{E9FA2A07-F633-4D6F-BE76-1BAEA6DECB3D}"/>
              </a:ext>
            </a:extLst>
          </p:cNvPr>
          <p:cNvSpPr>
            <a:spLocks noGrp="1"/>
          </p:cNvSpPr>
          <p:nvPr/>
        </p:nvSpPr>
        <p:spPr>
          <a:xfrm>
            <a:off x="876300" y="34861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4-07-body-3">
            <a:extLst>
              <a:ext uri="{FF2B5EF4-FFF2-40B4-BE49-F238E27FC236}">
                <a16:creationId xmlns:a16="http://schemas.microsoft.com/office/drawing/2014/main" id="{4CB11CF9-7FE1-4A64-9CF5-E3DF04EA6C84}"/>
              </a:ext>
            </a:extLst>
          </p:cNvPr>
          <p:cNvSpPr>
            <a:spLocks noGrp="1"/>
          </p:cNvSpPr>
          <p:nvPr/>
        </p:nvSpPr>
        <p:spPr>
          <a:xfrm>
            <a:off x="1143000" y="33718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다음 사람이 다시 조사하는가 → 흐름 복원과 지식화</a:t>
            </a:r>
          </a:p>
        </p:txBody>
      </p:sp>
    </p:spTree>
    <p:extLst>
      <p:ext uri="{BB962C8B-B14F-4D97-AF65-F5344CB8AC3E}">
        <p14:creationId xmlns:p14="http://schemas.microsoft.com/office/powerpoint/2010/main" val="46205379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04-08-footer-section">
            <a:extLst>
              <a:ext uri="{FF2B5EF4-FFF2-40B4-BE49-F238E27FC236}">
                <a16:creationId xmlns:a16="http://schemas.microsoft.com/office/drawing/2014/main" id="{5221A0B7-A25F-467D-8424-FE1F3C8ABBE5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1. 요구사항 합의</a:t>
            </a:r>
          </a:p>
        </p:txBody>
      </p:sp>
      <p:sp>
        <p:nvSpPr>
          <p:cNvPr id="2" name="04-08-footer-page">
            <a:extLst>
              <a:ext uri="{FF2B5EF4-FFF2-40B4-BE49-F238E27FC236}">
                <a16:creationId xmlns:a16="http://schemas.microsoft.com/office/drawing/2014/main" id="{855CE9E8-987A-4597-ACC0-2B922F42C048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57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4-08-accent-rule">
            <a:extLst>
              <a:ext uri="{FF2B5EF4-FFF2-40B4-BE49-F238E27FC236}">
                <a16:creationId xmlns:a16="http://schemas.microsoft.com/office/drawing/2014/main" id="{6F375F86-5394-4C2D-8BD2-D5B10A86409C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08-title">
            <a:extLst>
              <a:ext uri="{FF2B5EF4-FFF2-40B4-BE49-F238E27FC236}">
                <a16:creationId xmlns:a16="http://schemas.microsoft.com/office/drawing/2014/main" id="{E290F300-2417-4EDC-8069-9A6B0FA82A87}"/>
              </a:ext>
            </a:extLst>
          </p:cNvPr>
          <p:cNvSpPr>
            <a:spLocks noGrp="1"/>
          </p:cNvSpPr>
          <p:nvPr/>
        </p:nvSpPr>
        <p:spPr>
          <a:xfrm>
            <a:off x="723900" y="704850"/>
            <a:ext cx="1028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무엇을 만들지, 무엇을 만들지 않을지 정한다</a:t>
            </a:r>
          </a:p>
        </p:txBody>
      </p:sp>
      <p:sp>
        <p:nvSpPr>
          <p:cNvPr id="5" name="04-08-body-1">
            <a:extLst>
              <a:ext uri="{FF2B5EF4-FFF2-40B4-BE49-F238E27FC236}">
                <a16:creationId xmlns:a16="http://schemas.microsoft.com/office/drawing/2014/main" id="{07896CCD-7D94-4C83-B888-D7DDC722416F}"/>
              </a:ext>
            </a:extLst>
          </p:cNvPr>
          <p:cNvSpPr>
            <a:spLocks noGrp="1"/>
          </p:cNvSpPr>
          <p:nvPr/>
        </p:nvSpPr>
        <p:spPr>
          <a:xfrm>
            <a:off x="876300" y="2333625"/>
            <a:ext cx="97155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5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목적 · 범위 · 제외 범위 · 제약 · 관찰 가능한 성공 조건</a:t>
            </a:r>
          </a:p>
        </p:txBody>
      </p:sp>
    </p:spTree>
    <p:extLst>
      <p:ext uri="{BB962C8B-B14F-4D97-AF65-F5344CB8AC3E}">
        <p14:creationId xmlns:p14="http://schemas.microsoft.com/office/powerpoint/2010/main" val="112901292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04-09-footer-section">
            <a:extLst>
              <a:ext uri="{FF2B5EF4-FFF2-40B4-BE49-F238E27FC236}">
                <a16:creationId xmlns:a16="http://schemas.microsoft.com/office/drawing/2014/main" id="{68162CE5-FE97-4EC7-8324-0381181F5DBD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1. 요구사항 합의</a:t>
            </a:r>
          </a:p>
        </p:txBody>
      </p:sp>
      <p:sp>
        <p:nvSpPr>
          <p:cNvPr id="2" name="04-09-footer-page">
            <a:extLst>
              <a:ext uri="{FF2B5EF4-FFF2-40B4-BE49-F238E27FC236}">
                <a16:creationId xmlns:a16="http://schemas.microsoft.com/office/drawing/2014/main" id="{1CDC5763-F5D8-452E-821B-FEF6356E750B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58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4-09-accent-rule">
            <a:extLst>
              <a:ext uri="{FF2B5EF4-FFF2-40B4-BE49-F238E27FC236}">
                <a16:creationId xmlns:a16="http://schemas.microsoft.com/office/drawing/2014/main" id="{2CD1DAB0-1A93-4609-9600-D68E44F933A7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09-title">
            <a:extLst>
              <a:ext uri="{FF2B5EF4-FFF2-40B4-BE49-F238E27FC236}">
                <a16:creationId xmlns:a16="http://schemas.microsoft.com/office/drawing/2014/main" id="{B9D4F2A1-E210-4A58-8300-D2E497035A34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‘주문 취소’의 빈칸부터 찾는다</a:t>
            </a:r>
          </a:p>
        </p:txBody>
      </p:sp>
      <p:sp>
        <p:nvSpPr>
          <p:cNvPr id="5" name="04-09-prompt">
            <a:extLst>
              <a:ext uri="{FF2B5EF4-FFF2-40B4-BE49-F238E27FC236}">
                <a16:creationId xmlns:a16="http://schemas.microsoft.com/office/drawing/2014/main" id="{60B1F7D9-B30B-4012-810F-C3A5E833E49B}"/>
              </a:ext>
            </a:extLst>
          </p:cNvPr>
          <p:cNvSpPr>
            <a:spLocks noGrp="1"/>
          </p:cNvSpPr>
          <p:nvPr/>
        </p:nvSpPr>
        <p:spPr>
          <a:xfrm>
            <a:off x="723900" y="1638300"/>
            <a:ext cx="990600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질문에서 드러난 것</a:t>
            </a:r>
          </a:p>
        </p:txBody>
      </p:sp>
      <p:sp>
        <p:nvSpPr>
          <p:cNvPr id="6" name="04-09-bullet-1">
            <a:extLst>
              <a:ext uri="{FF2B5EF4-FFF2-40B4-BE49-F238E27FC236}">
                <a16:creationId xmlns:a16="http://schemas.microsoft.com/office/drawing/2014/main" id="{1CDC38E1-D2C3-4D89-98D8-59AEA891C942}"/>
              </a:ext>
            </a:extLst>
          </p:cNvPr>
          <p:cNvSpPr>
            <a:spLocks noGrp="1"/>
          </p:cNvSpPr>
          <p:nvPr/>
        </p:nvSpPr>
        <p:spPr>
          <a:xfrm>
            <a:off x="876300" y="24955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4-09-body-1">
            <a:extLst>
              <a:ext uri="{FF2B5EF4-FFF2-40B4-BE49-F238E27FC236}">
                <a16:creationId xmlns:a16="http://schemas.microsoft.com/office/drawing/2014/main" id="{D8C5BE2F-1CAF-42D9-A2E6-7C2FCC61075A}"/>
              </a:ext>
            </a:extLst>
          </p:cNvPr>
          <p:cNvSpPr>
            <a:spLocks noGrp="1"/>
          </p:cNvSpPr>
          <p:nvPr/>
        </p:nvSpPr>
        <p:spPr>
          <a:xfrm>
            <a:off x="1143000" y="23812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환불을 포함하는가</a:t>
            </a:r>
          </a:p>
        </p:txBody>
      </p:sp>
      <p:sp>
        <p:nvSpPr>
          <p:cNvPr id="8" name="04-09-bullet-2">
            <a:extLst>
              <a:ext uri="{FF2B5EF4-FFF2-40B4-BE49-F238E27FC236}">
                <a16:creationId xmlns:a16="http://schemas.microsoft.com/office/drawing/2014/main" id="{1400963F-A3B7-46A7-B1F7-A3405C8110FF}"/>
              </a:ext>
            </a:extLst>
          </p:cNvPr>
          <p:cNvSpPr>
            <a:spLocks noGrp="1"/>
          </p:cNvSpPr>
          <p:nvPr/>
        </p:nvSpPr>
        <p:spPr>
          <a:xfrm>
            <a:off x="876300" y="30480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04-09-body-2">
            <a:extLst>
              <a:ext uri="{FF2B5EF4-FFF2-40B4-BE49-F238E27FC236}">
                <a16:creationId xmlns:a16="http://schemas.microsoft.com/office/drawing/2014/main" id="{0DD5C33D-230C-4C99-928C-B9CFA33E8406}"/>
              </a:ext>
            </a:extLst>
          </p:cNvPr>
          <p:cNvSpPr>
            <a:spLocks noGrp="1"/>
          </p:cNvSpPr>
          <p:nvPr/>
        </p:nvSpPr>
        <p:spPr>
          <a:xfrm>
            <a:off x="1143000" y="293370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배송 시작 후에도 가능한가</a:t>
            </a:r>
          </a:p>
        </p:txBody>
      </p:sp>
      <p:sp>
        <p:nvSpPr>
          <p:cNvPr id="10" name="04-09-bullet-3">
            <a:extLst>
              <a:ext uri="{FF2B5EF4-FFF2-40B4-BE49-F238E27FC236}">
                <a16:creationId xmlns:a16="http://schemas.microsoft.com/office/drawing/2014/main" id="{62EBCD3C-BC45-4E1D-893C-2B152D5419FE}"/>
              </a:ext>
            </a:extLst>
          </p:cNvPr>
          <p:cNvSpPr>
            <a:spLocks noGrp="1"/>
          </p:cNvSpPr>
          <p:nvPr/>
        </p:nvSpPr>
        <p:spPr>
          <a:xfrm>
            <a:off x="876300" y="36004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04-09-body-3">
            <a:extLst>
              <a:ext uri="{FF2B5EF4-FFF2-40B4-BE49-F238E27FC236}">
                <a16:creationId xmlns:a16="http://schemas.microsoft.com/office/drawing/2014/main" id="{622A0D55-EB74-44A3-9D4F-6515453B0320}"/>
              </a:ext>
            </a:extLst>
          </p:cNvPr>
          <p:cNvSpPr>
            <a:spLocks noGrp="1"/>
          </p:cNvSpPr>
          <p:nvPr/>
        </p:nvSpPr>
        <p:spPr>
          <a:xfrm>
            <a:off x="1143000" y="34861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부분 취소가 있는가</a:t>
            </a:r>
          </a:p>
        </p:txBody>
      </p:sp>
      <p:sp>
        <p:nvSpPr>
          <p:cNvPr id="12" name="04-09-bullet-4">
            <a:extLst>
              <a:ext uri="{FF2B5EF4-FFF2-40B4-BE49-F238E27FC236}">
                <a16:creationId xmlns:a16="http://schemas.microsoft.com/office/drawing/2014/main" id="{55CC0527-4525-4F6A-985E-FB5B10D975F7}"/>
              </a:ext>
            </a:extLst>
          </p:cNvPr>
          <p:cNvSpPr>
            <a:spLocks noGrp="1"/>
          </p:cNvSpPr>
          <p:nvPr/>
        </p:nvSpPr>
        <p:spPr>
          <a:xfrm>
            <a:off x="876300" y="41529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04-09-body-4">
            <a:extLst>
              <a:ext uri="{FF2B5EF4-FFF2-40B4-BE49-F238E27FC236}">
                <a16:creationId xmlns:a16="http://schemas.microsoft.com/office/drawing/2014/main" id="{27389A86-2554-423F-9DA1-CAD45D8F007C}"/>
              </a:ext>
            </a:extLst>
          </p:cNvPr>
          <p:cNvSpPr>
            <a:spLocks noGrp="1"/>
          </p:cNvSpPr>
          <p:nvPr/>
        </p:nvSpPr>
        <p:spPr>
          <a:xfrm>
            <a:off x="1143000" y="403860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누가 취소할 수 있는가</a:t>
            </a:r>
          </a:p>
        </p:txBody>
      </p:sp>
      <p:sp>
        <p:nvSpPr>
          <p:cNvPr id="14" name="04-09-optional">
            <a:extLst>
              <a:ext uri="{FF2B5EF4-FFF2-40B4-BE49-F238E27FC236}">
                <a16:creationId xmlns:a16="http://schemas.microsoft.com/office/drawing/2014/main" id="{9902DB47-2C38-47BA-9CEA-EC9986DC5280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140304130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04-10-footer-section">
            <a:extLst>
              <a:ext uri="{FF2B5EF4-FFF2-40B4-BE49-F238E27FC236}">
                <a16:creationId xmlns:a16="http://schemas.microsoft.com/office/drawing/2014/main" id="{15595594-2CAE-473E-884D-8F6AF68C2D5A}"/>
              </a:ext>
            </a:extLst>
          </p:cNvPr>
          <p:cNvSpPr>
            <a:spLocks noGrp="1"/>
          </p:cNvSpPr>
          <p:nvPr/>
        </p:nvSpPr>
        <p:spPr>
          <a:xfrm>
            <a:off x="19494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1. 요구사항 합의</a:t>
            </a:r>
          </a:p>
        </p:txBody>
      </p:sp>
      <p:sp>
        <p:nvSpPr>
          <p:cNvPr id="2" name="04-10-footer-page">
            <a:extLst>
              <a:ext uri="{FF2B5EF4-FFF2-40B4-BE49-F238E27FC236}">
                <a16:creationId xmlns:a16="http://schemas.microsoft.com/office/drawing/2014/main" id="{A25AF478-D390-4D9A-906D-20E3344E85A5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59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4-10-accent-rule">
            <a:extLst>
              <a:ext uri="{FF2B5EF4-FFF2-40B4-BE49-F238E27FC236}">
                <a16:creationId xmlns:a16="http://schemas.microsoft.com/office/drawing/2014/main" id="{F2367809-E7BA-417B-BF7D-0DDE853FB04B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10477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10-title">
            <a:extLst>
              <a:ext uri="{FF2B5EF4-FFF2-40B4-BE49-F238E27FC236}">
                <a16:creationId xmlns:a16="http://schemas.microsoft.com/office/drawing/2014/main" id="{3A8B8E4D-C3C7-43F2-96F9-3017E8124E5B}"/>
              </a:ext>
            </a:extLst>
          </p:cNvPr>
          <p:cNvSpPr>
            <a:spLocks noGrp="1"/>
          </p:cNvSpPr>
          <p:nvPr/>
        </p:nvSpPr>
        <p:spPr>
          <a:xfrm>
            <a:off x="723900" y="60960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9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합의된 spec이 구현 전 정본이다</a:t>
            </a:r>
          </a:p>
        </p:txBody>
      </p:sp>
      <p:sp>
        <p:nvSpPr>
          <p:cNvPr id="5" name="04-10-number-1">
            <a:extLst>
              <a:ext uri="{FF2B5EF4-FFF2-40B4-BE49-F238E27FC236}">
                <a16:creationId xmlns:a16="http://schemas.microsoft.com/office/drawing/2014/main" id="{9D25C29E-EC7A-42B2-A50F-B1E77448F7C1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6" name="04-10-rule-1">
            <a:extLst>
              <a:ext uri="{FF2B5EF4-FFF2-40B4-BE49-F238E27FC236}">
                <a16:creationId xmlns:a16="http://schemas.microsoft.com/office/drawing/2014/main" id="{E522D802-0926-427F-B822-292431BE6B19}"/>
              </a:ext>
            </a:extLst>
          </p:cNvPr>
          <p:cNvSpPr>
            <a:spLocks noGrp="1"/>
          </p:cNvSpPr>
          <p:nvPr/>
        </p:nvSpPr>
        <p:spPr>
          <a:xfrm>
            <a:off x="1428750" y="200025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4-10-summary-1">
            <a:extLst>
              <a:ext uri="{FF2B5EF4-FFF2-40B4-BE49-F238E27FC236}">
                <a16:creationId xmlns:a16="http://schemas.microsoft.com/office/drawing/2014/main" id="{0FD4A877-07A2-4D6B-BD07-96FB9C6A350E}"/>
              </a:ext>
            </a:extLst>
          </p:cNvPr>
          <p:cNvSpPr>
            <a:spLocks noGrp="1"/>
          </p:cNvSpPr>
          <p:nvPr/>
        </p:nvSpPr>
        <p:spPr>
          <a:xfrm>
            <a:off x="2209800" y="175260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배송 전에만 취소 가능</a:t>
            </a:r>
          </a:p>
        </p:txBody>
      </p:sp>
      <p:sp>
        <p:nvSpPr>
          <p:cNvPr id="8" name="04-10-number-2">
            <a:extLst>
              <a:ext uri="{FF2B5EF4-FFF2-40B4-BE49-F238E27FC236}">
                <a16:creationId xmlns:a16="http://schemas.microsoft.com/office/drawing/2014/main" id="{258B3E3A-3655-4498-891A-35F2ADAC6B99}"/>
              </a:ext>
            </a:extLst>
          </p:cNvPr>
          <p:cNvSpPr>
            <a:spLocks noGrp="1"/>
          </p:cNvSpPr>
          <p:nvPr/>
        </p:nvSpPr>
        <p:spPr>
          <a:xfrm>
            <a:off x="876300" y="257175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9" name="04-10-rule-2">
            <a:extLst>
              <a:ext uri="{FF2B5EF4-FFF2-40B4-BE49-F238E27FC236}">
                <a16:creationId xmlns:a16="http://schemas.microsoft.com/office/drawing/2014/main" id="{C9B867DA-9515-4FB3-8223-43C3967C789E}"/>
              </a:ext>
            </a:extLst>
          </p:cNvPr>
          <p:cNvSpPr>
            <a:spLocks noGrp="1"/>
          </p:cNvSpPr>
          <p:nvPr/>
        </p:nvSpPr>
        <p:spPr>
          <a:xfrm>
            <a:off x="1428750" y="281940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4-10-summary-2">
            <a:extLst>
              <a:ext uri="{FF2B5EF4-FFF2-40B4-BE49-F238E27FC236}">
                <a16:creationId xmlns:a16="http://schemas.microsoft.com/office/drawing/2014/main" id="{7D46BF6B-4A3D-4EB1-AC66-DE6DD002A50D}"/>
              </a:ext>
            </a:extLst>
          </p:cNvPr>
          <p:cNvSpPr>
            <a:spLocks noGrp="1"/>
          </p:cNvSpPr>
          <p:nvPr/>
        </p:nvSpPr>
        <p:spPr>
          <a:xfrm>
            <a:off x="2209800" y="257175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부분 취소는 범위 밖</a:t>
            </a:r>
          </a:p>
        </p:txBody>
      </p:sp>
      <p:sp>
        <p:nvSpPr>
          <p:cNvPr id="11" name="04-10-number-3">
            <a:extLst>
              <a:ext uri="{FF2B5EF4-FFF2-40B4-BE49-F238E27FC236}">
                <a16:creationId xmlns:a16="http://schemas.microsoft.com/office/drawing/2014/main" id="{02F6F8E0-9047-4BB7-9C54-3D71C082DD5B}"/>
              </a:ext>
            </a:extLst>
          </p:cNvPr>
          <p:cNvSpPr>
            <a:spLocks noGrp="1"/>
          </p:cNvSpPr>
          <p:nvPr/>
        </p:nvSpPr>
        <p:spPr>
          <a:xfrm>
            <a:off x="876300" y="339090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2" name="04-10-rule-3">
            <a:extLst>
              <a:ext uri="{FF2B5EF4-FFF2-40B4-BE49-F238E27FC236}">
                <a16:creationId xmlns:a16="http://schemas.microsoft.com/office/drawing/2014/main" id="{9C85CB59-903A-4862-932D-EBA7143146BD}"/>
              </a:ext>
            </a:extLst>
          </p:cNvPr>
          <p:cNvSpPr>
            <a:spLocks noGrp="1"/>
          </p:cNvSpPr>
          <p:nvPr/>
        </p:nvSpPr>
        <p:spPr>
          <a:xfrm>
            <a:off x="1428750" y="363855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04-10-summary-3">
            <a:extLst>
              <a:ext uri="{FF2B5EF4-FFF2-40B4-BE49-F238E27FC236}">
                <a16:creationId xmlns:a16="http://schemas.microsoft.com/office/drawing/2014/main" id="{8EFEE41B-80FA-48DF-9DAC-D8D68AED74CE}"/>
              </a:ext>
            </a:extLst>
          </p:cNvPr>
          <p:cNvSpPr>
            <a:spLocks noGrp="1"/>
          </p:cNvSpPr>
          <p:nvPr/>
        </p:nvSpPr>
        <p:spPr>
          <a:xfrm>
            <a:off x="2209800" y="339090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결제 취소는 별도 이벤트</a:t>
            </a:r>
          </a:p>
        </p:txBody>
      </p:sp>
      <p:sp>
        <p:nvSpPr>
          <p:cNvPr id="14" name="04-10-number-4">
            <a:extLst>
              <a:ext uri="{FF2B5EF4-FFF2-40B4-BE49-F238E27FC236}">
                <a16:creationId xmlns:a16="http://schemas.microsoft.com/office/drawing/2014/main" id="{8E2C6F8D-3A3D-4A18-9305-901384B0850B}"/>
              </a:ext>
            </a:extLst>
          </p:cNvPr>
          <p:cNvSpPr>
            <a:spLocks noGrp="1"/>
          </p:cNvSpPr>
          <p:nvPr/>
        </p:nvSpPr>
        <p:spPr>
          <a:xfrm>
            <a:off x="876300" y="421005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5" name="04-10-rule-4">
            <a:extLst>
              <a:ext uri="{FF2B5EF4-FFF2-40B4-BE49-F238E27FC236}">
                <a16:creationId xmlns:a16="http://schemas.microsoft.com/office/drawing/2014/main" id="{6E56ABF1-C849-4007-A5AA-C481F6D16B9B}"/>
              </a:ext>
            </a:extLst>
          </p:cNvPr>
          <p:cNvSpPr>
            <a:spLocks noGrp="1"/>
          </p:cNvSpPr>
          <p:nvPr/>
        </p:nvSpPr>
        <p:spPr>
          <a:xfrm>
            <a:off x="1428750" y="445770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04-10-summary-4">
            <a:extLst>
              <a:ext uri="{FF2B5EF4-FFF2-40B4-BE49-F238E27FC236}">
                <a16:creationId xmlns:a16="http://schemas.microsoft.com/office/drawing/2014/main" id="{EF814920-36B0-47D6-A25B-86069B78A4B0}"/>
              </a:ext>
            </a:extLst>
          </p:cNvPr>
          <p:cNvSpPr>
            <a:spLocks noGrp="1"/>
          </p:cNvSpPr>
          <p:nvPr/>
        </p:nvSpPr>
        <p:spPr>
          <a:xfrm>
            <a:off x="2209800" y="421005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성공: CANCELLED + 재고 복원</a:t>
            </a:r>
          </a:p>
        </p:txBody>
      </p:sp>
    </p:spTree>
    <p:extLst>
      <p:ext uri="{BB962C8B-B14F-4D97-AF65-F5344CB8AC3E}">
        <p14:creationId xmlns:p14="http://schemas.microsoft.com/office/powerpoint/2010/main" val="107746857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04-11-footer-section">
            <a:extLst>
              <a:ext uri="{FF2B5EF4-FFF2-40B4-BE49-F238E27FC236}">
                <a16:creationId xmlns:a16="http://schemas.microsoft.com/office/drawing/2014/main" id="{12FAC9E0-A9A8-45D4-871B-6A6C308FB1E5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2. 구현 순서 설계</a:t>
            </a:r>
          </a:p>
        </p:txBody>
      </p:sp>
      <p:sp>
        <p:nvSpPr>
          <p:cNvPr id="2" name="04-11-footer-page">
            <a:extLst>
              <a:ext uri="{FF2B5EF4-FFF2-40B4-BE49-F238E27FC236}">
                <a16:creationId xmlns:a16="http://schemas.microsoft.com/office/drawing/2014/main" id="{E72C2F9C-410B-4C7C-9D29-B1E14D327D56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60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4-11-accent-rule">
            <a:extLst>
              <a:ext uri="{FF2B5EF4-FFF2-40B4-BE49-F238E27FC236}">
                <a16:creationId xmlns:a16="http://schemas.microsoft.com/office/drawing/2014/main" id="{24C9845B-DD59-4B9D-BA91-6BC048AB8C03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11-title">
            <a:extLst>
              <a:ext uri="{FF2B5EF4-FFF2-40B4-BE49-F238E27FC236}">
                <a16:creationId xmlns:a16="http://schemas.microsoft.com/office/drawing/2014/main" id="{17D71F39-0E4E-4DB1-9413-CFA3329CAA1B}"/>
              </a:ext>
            </a:extLst>
          </p:cNvPr>
          <p:cNvSpPr>
            <a:spLocks noGrp="1"/>
          </p:cNvSpPr>
          <p:nvPr/>
        </p:nvSpPr>
        <p:spPr>
          <a:xfrm>
            <a:off x="723900" y="704850"/>
            <a:ext cx="1028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Plan은 검증 가능한 순서를 정하는 실행 계약이다</a:t>
            </a:r>
          </a:p>
        </p:txBody>
      </p:sp>
      <p:sp>
        <p:nvSpPr>
          <p:cNvPr id="5" name="04-11-bullet-1">
            <a:extLst>
              <a:ext uri="{FF2B5EF4-FFF2-40B4-BE49-F238E27FC236}">
                <a16:creationId xmlns:a16="http://schemas.microsoft.com/office/drawing/2014/main" id="{8CB7F0EE-06D6-49E0-9016-90A7773F8300}"/>
              </a:ext>
            </a:extLst>
          </p:cNvPr>
          <p:cNvSpPr>
            <a:spLocks noGrp="1"/>
          </p:cNvSpPr>
          <p:nvPr/>
        </p:nvSpPr>
        <p:spPr>
          <a:xfrm>
            <a:off x="876300" y="206692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4-11-body-1">
            <a:extLst>
              <a:ext uri="{FF2B5EF4-FFF2-40B4-BE49-F238E27FC236}">
                <a16:creationId xmlns:a16="http://schemas.microsoft.com/office/drawing/2014/main" id="{2BA9808C-464C-441B-B6B4-B92707683309}"/>
              </a:ext>
            </a:extLst>
          </p:cNvPr>
          <p:cNvSpPr>
            <a:spLocks noGrp="1"/>
          </p:cNvSpPr>
          <p:nvPr/>
        </p:nvSpPr>
        <p:spPr>
          <a:xfrm>
            <a:off x="1143000" y="195262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어떤 행동을 먼저 증명할까</a:t>
            </a:r>
          </a:p>
        </p:txBody>
      </p:sp>
      <p:sp>
        <p:nvSpPr>
          <p:cNvPr id="7" name="04-11-bullet-2">
            <a:extLst>
              <a:ext uri="{FF2B5EF4-FFF2-40B4-BE49-F238E27FC236}">
                <a16:creationId xmlns:a16="http://schemas.microsoft.com/office/drawing/2014/main" id="{14DC60F8-2C67-48FC-A6AF-EF2C509510AA}"/>
              </a:ext>
            </a:extLst>
          </p:cNvPr>
          <p:cNvSpPr>
            <a:spLocks noGrp="1"/>
          </p:cNvSpPr>
          <p:nvPr/>
        </p:nvSpPr>
        <p:spPr>
          <a:xfrm>
            <a:off x="876300" y="284797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4-11-body-2">
            <a:extLst>
              <a:ext uri="{FF2B5EF4-FFF2-40B4-BE49-F238E27FC236}">
                <a16:creationId xmlns:a16="http://schemas.microsoft.com/office/drawing/2014/main" id="{C8D6997E-893F-4251-8FBE-F11AFA8EFEEA}"/>
              </a:ext>
            </a:extLst>
          </p:cNvPr>
          <p:cNvSpPr>
            <a:spLocks noGrp="1"/>
          </p:cNvSpPr>
          <p:nvPr/>
        </p:nvSpPr>
        <p:spPr>
          <a:xfrm>
            <a:off x="1143000" y="273367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어느 파일과 테스트를 거칠까</a:t>
            </a:r>
          </a:p>
        </p:txBody>
      </p:sp>
      <p:sp>
        <p:nvSpPr>
          <p:cNvPr id="9" name="04-11-bullet-3">
            <a:extLst>
              <a:ext uri="{FF2B5EF4-FFF2-40B4-BE49-F238E27FC236}">
                <a16:creationId xmlns:a16="http://schemas.microsoft.com/office/drawing/2014/main" id="{E6219A56-D8AE-4068-B144-1FD1AF608B57}"/>
              </a:ext>
            </a:extLst>
          </p:cNvPr>
          <p:cNvSpPr>
            <a:spLocks noGrp="1"/>
          </p:cNvSpPr>
          <p:nvPr/>
        </p:nvSpPr>
        <p:spPr>
          <a:xfrm>
            <a:off x="876300" y="362902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4-11-body-3">
            <a:extLst>
              <a:ext uri="{FF2B5EF4-FFF2-40B4-BE49-F238E27FC236}">
                <a16:creationId xmlns:a16="http://schemas.microsoft.com/office/drawing/2014/main" id="{55D926B6-49B1-40D3-A741-62BE735CB9B6}"/>
              </a:ext>
            </a:extLst>
          </p:cNvPr>
          <p:cNvSpPr>
            <a:spLocks noGrp="1"/>
          </p:cNvSpPr>
          <p:nvPr/>
        </p:nvSpPr>
        <p:spPr>
          <a:xfrm>
            <a:off x="1143000" y="351472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무엇이 선행되어야 할까</a:t>
            </a:r>
          </a:p>
        </p:txBody>
      </p:sp>
    </p:spTree>
    <p:extLst>
      <p:ext uri="{BB962C8B-B14F-4D97-AF65-F5344CB8AC3E}">
        <p14:creationId xmlns:p14="http://schemas.microsoft.com/office/powerpoint/2010/main" val="694557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04-12-footer-section">
            <a:extLst>
              <a:ext uri="{FF2B5EF4-FFF2-40B4-BE49-F238E27FC236}">
                <a16:creationId xmlns:a16="http://schemas.microsoft.com/office/drawing/2014/main" id="{F4BA9FD0-7944-49B0-8B81-5A0807E15F60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2. 구현 순서 설계</a:t>
            </a:r>
          </a:p>
        </p:txBody>
      </p:sp>
      <p:sp>
        <p:nvSpPr>
          <p:cNvPr id="2" name="04-12-footer-page">
            <a:extLst>
              <a:ext uri="{FF2B5EF4-FFF2-40B4-BE49-F238E27FC236}">
                <a16:creationId xmlns:a16="http://schemas.microsoft.com/office/drawing/2014/main" id="{F0E02DAA-D697-4727-98B5-F74A663464E1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61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4-12-accent-rule">
            <a:extLst>
              <a:ext uri="{FF2B5EF4-FFF2-40B4-BE49-F238E27FC236}">
                <a16:creationId xmlns:a16="http://schemas.microsoft.com/office/drawing/2014/main" id="{24703E2D-BAF3-4F63-B886-34164CCD48F4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12-title">
            <a:extLst>
              <a:ext uri="{FF2B5EF4-FFF2-40B4-BE49-F238E27FC236}">
                <a16:creationId xmlns:a16="http://schemas.microsoft.com/office/drawing/2014/main" id="{0458D942-A792-4E52-9A9E-BE34EFB63A14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가장 큰 위험을 먼저 증명한다</a:t>
            </a:r>
          </a:p>
        </p:txBody>
      </p:sp>
      <p:sp>
        <p:nvSpPr>
          <p:cNvPr id="5" name="04-12-arrow-1">
            <a:extLst>
              <a:ext uri="{FF2B5EF4-FFF2-40B4-BE49-F238E27FC236}">
                <a16:creationId xmlns:a16="http://schemas.microsoft.com/office/drawing/2014/main" id="{89B1A122-AC61-4451-AD5A-46ABD8BDDD98}"/>
              </a:ext>
            </a:extLst>
          </p:cNvPr>
          <p:cNvSpPr>
            <a:spLocks noGrp="1"/>
          </p:cNvSpPr>
          <p:nvPr/>
        </p:nvSpPr>
        <p:spPr>
          <a:xfrm>
            <a:off x="285750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4-12-arrow-2">
            <a:extLst>
              <a:ext uri="{FF2B5EF4-FFF2-40B4-BE49-F238E27FC236}">
                <a16:creationId xmlns:a16="http://schemas.microsoft.com/office/drawing/2014/main" id="{DA30ACA6-A128-49A9-A70C-D4A992F091A0}"/>
              </a:ext>
            </a:extLst>
          </p:cNvPr>
          <p:cNvSpPr>
            <a:spLocks noGrp="1"/>
          </p:cNvSpPr>
          <p:nvPr/>
        </p:nvSpPr>
        <p:spPr>
          <a:xfrm>
            <a:off x="485775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4-12-arrow-3">
            <a:extLst>
              <a:ext uri="{FF2B5EF4-FFF2-40B4-BE49-F238E27FC236}">
                <a16:creationId xmlns:a16="http://schemas.microsoft.com/office/drawing/2014/main" id="{C6948CC3-3A9E-49EC-B506-1B6137330AF0}"/>
              </a:ext>
            </a:extLst>
          </p:cNvPr>
          <p:cNvSpPr>
            <a:spLocks noGrp="1"/>
          </p:cNvSpPr>
          <p:nvPr/>
        </p:nvSpPr>
        <p:spPr>
          <a:xfrm>
            <a:off x="685800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4-12-node-1">
            <a:extLst>
              <a:ext uri="{FF2B5EF4-FFF2-40B4-BE49-F238E27FC236}">
                <a16:creationId xmlns:a16="http://schemas.microsoft.com/office/drawing/2014/main" id="{799E67E4-6F74-4166-AD1C-89B0485F2FBE}"/>
              </a:ext>
            </a:extLst>
          </p:cNvPr>
          <p:cNvSpPr>
            <a:spLocks noGrp="1"/>
          </p:cNvSpPr>
          <p:nvPr/>
        </p:nvSpPr>
        <p:spPr>
          <a:xfrm>
            <a:off x="104775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2878C7"/>
          </a:solidFill>
          <a:ln w="19050">
            <a:solidFill>
              <a:srgbClr val="2878C7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상태 전이</a:t>
            </a:r>
          </a:p>
        </p:txBody>
      </p:sp>
      <p:sp>
        <p:nvSpPr>
          <p:cNvPr id="9" name="04-12-node-2">
            <a:extLst>
              <a:ext uri="{FF2B5EF4-FFF2-40B4-BE49-F238E27FC236}">
                <a16:creationId xmlns:a16="http://schemas.microsoft.com/office/drawing/2014/main" id="{F66B6AA8-87A3-40DE-997E-05727B6CC215}"/>
              </a:ext>
            </a:extLst>
          </p:cNvPr>
          <p:cNvSpPr>
            <a:spLocks noGrp="1"/>
          </p:cNvSpPr>
          <p:nvPr/>
        </p:nvSpPr>
        <p:spPr>
          <a:xfrm>
            <a:off x="304800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재고 복원</a:t>
            </a:r>
          </a:p>
        </p:txBody>
      </p:sp>
      <p:sp>
        <p:nvSpPr>
          <p:cNvPr id="10" name="04-12-node-3">
            <a:extLst>
              <a:ext uri="{FF2B5EF4-FFF2-40B4-BE49-F238E27FC236}">
                <a16:creationId xmlns:a16="http://schemas.microsoft.com/office/drawing/2014/main" id="{0B6BEC47-B331-431B-A847-40AC2DF8C61E}"/>
              </a:ext>
            </a:extLst>
          </p:cNvPr>
          <p:cNvSpPr>
            <a:spLocks noGrp="1"/>
          </p:cNvSpPr>
          <p:nvPr/>
        </p:nvSpPr>
        <p:spPr>
          <a:xfrm>
            <a:off x="504825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취소 이벤트</a:t>
            </a:r>
          </a:p>
        </p:txBody>
      </p:sp>
      <p:sp>
        <p:nvSpPr>
          <p:cNvPr id="11" name="04-12-node-4">
            <a:extLst>
              <a:ext uri="{FF2B5EF4-FFF2-40B4-BE49-F238E27FC236}">
                <a16:creationId xmlns:a16="http://schemas.microsoft.com/office/drawing/2014/main" id="{EEF158C0-F311-49A8-A18B-1BF7D9C70EDB}"/>
              </a:ext>
            </a:extLst>
          </p:cNvPr>
          <p:cNvSpPr>
            <a:spLocks noGrp="1"/>
          </p:cNvSpPr>
          <p:nvPr/>
        </p:nvSpPr>
        <p:spPr>
          <a:xfrm>
            <a:off x="704850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API</a:t>
            </a:r>
          </a:p>
        </p:txBody>
      </p:sp>
      <p:sp>
        <p:nvSpPr>
          <p:cNvPr id="12" name="04-12-caption">
            <a:extLst>
              <a:ext uri="{FF2B5EF4-FFF2-40B4-BE49-F238E27FC236}">
                <a16:creationId xmlns:a16="http://schemas.microsoft.com/office/drawing/2014/main" id="{FACDBD5C-ADF8-46AD-9590-C5106EC904AF}"/>
              </a:ext>
            </a:extLst>
          </p:cNvPr>
          <p:cNvSpPr>
            <a:spLocks noGrp="1"/>
          </p:cNvSpPr>
          <p:nvPr/>
        </p:nvSpPr>
        <p:spPr>
          <a:xfrm>
            <a:off x="1143000" y="4000500"/>
            <a:ext cx="9906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배송 시작 후 취소 금지   ·   수량 복원   ·   결제 취소와 분리   ·   마지막에 연결</a:t>
            </a:r>
          </a:p>
        </p:txBody>
      </p:sp>
      <p:sp>
        <p:nvSpPr>
          <p:cNvPr id="13" name="04-12-optional">
            <a:extLst>
              <a:ext uri="{FF2B5EF4-FFF2-40B4-BE49-F238E27FC236}">
                <a16:creationId xmlns:a16="http://schemas.microsoft.com/office/drawing/2014/main" id="{22E0811D-33F6-4C8C-858A-75D1DF95BECE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182922197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04-13-footer-section">
            <a:extLst>
              <a:ext uri="{FF2B5EF4-FFF2-40B4-BE49-F238E27FC236}">
                <a16:creationId xmlns:a16="http://schemas.microsoft.com/office/drawing/2014/main" id="{36487159-A534-4A29-850B-C1A82463F20D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3. 구현 전 검토</a:t>
            </a:r>
          </a:p>
        </p:txBody>
      </p:sp>
      <p:sp>
        <p:nvSpPr>
          <p:cNvPr id="2" name="04-13-footer-page">
            <a:extLst>
              <a:ext uri="{FF2B5EF4-FFF2-40B4-BE49-F238E27FC236}">
                <a16:creationId xmlns:a16="http://schemas.microsoft.com/office/drawing/2014/main" id="{75F467CB-7F76-4FB9-9FA0-B461B80AF053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62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4-13-accent-rule">
            <a:extLst>
              <a:ext uri="{FF2B5EF4-FFF2-40B4-BE49-F238E27FC236}">
                <a16:creationId xmlns:a16="http://schemas.microsoft.com/office/drawing/2014/main" id="{2EE79159-EEF1-4CAA-B1E0-FD4EC035CB43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13-title">
            <a:extLst>
              <a:ext uri="{FF2B5EF4-FFF2-40B4-BE49-F238E27FC236}">
                <a16:creationId xmlns:a16="http://schemas.microsoft.com/office/drawing/2014/main" id="{93BF8AE1-0756-4244-A346-B78D81531F56}"/>
              </a:ext>
            </a:extLst>
          </p:cNvPr>
          <p:cNvSpPr>
            <a:spLocks noGrp="1"/>
          </p:cNvSpPr>
          <p:nvPr/>
        </p:nvSpPr>
        <p:spPr>
          <a:xfrm>
            <a:off x="723900" y="704850"/>
            <a:ext cx="1028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구현 전에 오해를 잡는 것이 가장 싸다</a:t>
            </a:r>
          </a:p>
        </p:txBody>
      </p:sp>
      <p:sp>
        <p:nvSpPr>
          <p:cNvPr id="5" name="04-13-bullet-1">
            <a:extLst>
              <a:ext uri="{FF2B5EF4-FFF2-40B4-BE49-F238E27FC236}">
                <a16:creationId xmlns:a16="http://schemas.microsoft.com/office/drawing/2014/main" id="{FF847CE0-0CB0-4C4A-9B38-3AA6E110B3E6}"/>
              </a:ext>
            </a:extLst>
          </p:cNvPr>
          <p:cNvSpPr>
            <a:spLocks noGrp="1"/>
          </p:cNvSpPr>
          <p:nvPr/>
        </p:nvSpPr>
        <p:spPr>
          <a:xfrm>
            <a:off x="876300" y="206692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4-13-body-1">
            <a:extLst>
              <a:ext uri="{FF2B5EF4-FFF2-40B4-BE49-F238E27FC236}">
                <a16:creationId xmlns:a16="http://schemas.microsoft.com/office/drawing/2014/main" id="{707FA4A8-97F3-448E-A795-3FE5554AAA60}"/>
              </a:ext>
            </a:extLst>
          </p:cNvPr>
          <p:cNvSpPr>
            <a:spLocks noGrp="1"/>
          </p:cNvSpPr>
          <p:nvPr/>
        </p:nvSpPr>
        <p:spPr>
          <a:xfrm>
            <a:off x="1143000" y="195262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왜 이 설계인가</a:t>
            </a:r>
          </a:p>
        </p:txBody>
      </p:sp>
      <p:sp>
        <p:nvSpPr>
          <p:cNvPr id="7" name="04-13-bullet-2">
            <a:extLst>
              <a:ext uri="{FF2B5EF4-FFF2-40B4-BE49-F238E27FC236}">
                <a16:creationId xmlns:a16="http://schemas.microsoft.com/office/drawing/2014/main" id="{2E04E709-68AC-4457-805C-0C3C27BCBF89}"/>
              </a:ext>
            </a:extLst>
          </p:cNvPr>
          <p:cNvSpPr>
            <a:spLocks noGrp="1"/>
          </p:cNvSpPr>
          <p:nvPr/>
        </p:nvSpPr>
        <p:spPr>
          <a:xfrm>
            <a:off x="876300" y="284797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4-13-body-2">
            <a:extLst>
              <a:ext uri="{FF2B5EF4-FFF2-40B4-BE49-F238E27FC236}">
                <a16:creationId xmlns:a16="http://schemas.microsoft.com/office/drawing/2014/main" id="{8824AEF5-888B-4602-B49F-40D410FAEED0}"/>
              </a:ext>
            </a:extLst>
          </p:cNvPr>
          <p:cNvSpPr>
            <a:spLocks noGrp="1"/>
          </p:cNvSpPr>
          <p:nvPr/>
        </p:nvSpPr>
        <p:spPr>
          <a:xfrm>
            <a:off x="1143000" y="273367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어떤 대안을 왜 기각했나</a:t>
            </a:r>
          </a:p>
        </p:txBody>
      </p:sp>
      <p:sp>
        <p:nvSpPr>
          <p:cNvPr id="9" name="04-13-bullet-3">
            <a:extLst>
              <a:ext uri="{FF2B5EF4-FFF2-40B4-BE49-F238E27FC236}">
                <a16:creationId xmlns:a16="http://schemas.microsoft.com/office/drawing/2014/main" id="{2CA6C865-BCA2-4B73-941B-CD2524CCC8C9}"/>
              </a:ext>
            </a:extLst>
          </p:cNvPr>
          <p:cNvSpPr>
            <a:spLocks noGrp="1"/>
          </p:cNvSpPr>
          <p:nvPr/>
        </p:nvSpPr>
        <p:spPr>
          <a:xfrm>
            <a:off x="876300" y="362902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4-13-body-3">
            <a:extLst>
              <a:ext uri="{FF2B5EF4-FFF2-40B4-BE49-F238E27FC236}">
                <a16:creationId xmlns:a16="http://schemas.microsoft.com/office/drawing/2014/main" id="{8805E565-2473-4A51-AE70-84F3C1D13573}"/>
              </a:ext>
            </a:extLst>
          </p:cNvPr>
          <p:cNvSpPr>
            <a:spLocks noGrp="1"/>
          </p:cNvSpPr>
          <p:nvPr/>
        </p:nvSpPr>
        <p:spPr>
          <a:xfrm>
            <a:off x="1143000" y="351472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왜 이 task 순서인가</a:t>
            </a:r>
          </a:p>
        </p:txBody>
      </p:sp>
    </p:spTree>
    <p:extLst>
      <p:ext uri="{BB962C8B-B14F-4D97-AF65-F5344CB8AC3E}">
        <p14:creationId xmlns:p14="http://schemas.microsoft.com/office/powerpoint/2010/main" val="44376497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04-14-footer-section">
            <a:extLst>
              <a:ext uri="{FF2B5EF4-FFF2-40B4-BE49-F238E27FC236}">
                <a16:creationId xmlns:a16="http://schemas.microsoft.com/office/drawing/2014/main" id="{20C8195C-614F-4690-9E39-7EFD20D6188D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3. 구현 전 검토</a:t>
            </a:r>
          </a:p>
        </p:txBody>
      </p:sp>
      <p:sp>
        <p:nvSpPr>
          <p:cNvPr id="2" name="04-14-footer-page">
            <a:extLst>
              <a:ext uri="{FF2B5EF4-FFF2-40B4-BE49-F238E27FC236}">
                <a16:creationId xmlns:a16="http://schemas.microsoft.com/office/drawing/2014/main" id="{5BC11DFD-A5F4-48CB-9631-DA41A3EFA019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63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4-14-accent-rule">
            <a:extLst>
              <a:ext uri="{FF2B5EF4-FFF2-40B4-BE49-F238E27FC236}">
                <a16:creationId xmlns:a16="http://schemas.microsoft.com/office/drawing/2014/main" id="{36982A48-3EE4-4AF7-AFD9-FBD4CD4436B7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14-title">
            <a:extLst>
              <a:ext uri="{FF2B5EF4-FFF2-40B4-BE49-F238E27FC236}">
                <a16:creationId xmlns:a16="http://schemas.microsoft.com/office/drawing/2014/main" id="{CB9D2182-824B-4C47-BD38-4A6B89A46193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결제 취소를 같은 트랜잭션에 넣지 않은 이유</a:t>
            </a:r>
          </a:p>
        </p:txBody>
      </p:sp>
      <p:sp>
        <p:nvSpPr>
          <p:cNvPr id="5" name="04-14-bullet-1">
            <a:extLst>
              <a:ext uri="{FF2B5EF4-FFF2-40B4-BE49-F238E27FC236}">
                <a16:creationId xmlns:a16="http://schemas.microsoft.com/office/drawing/2014/main" id="{B5A72BB3-759D-483F-8490-62C774D868A0}"/>
              </a:ext>
            </a:extLst>
          </p:cNvPr>
          <p:cNvSpPr>
            <a:spLocks noGrp="1"/>
          </p:cNvSpPr>
          <p:nvPr/>
        </p:nvSpPr>
        <p:spPr>
          <a:xfrm>
            <a:off x="876300" y="19240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4-14-body-1">
            <a:extLst>
              <a:ext uri="{FF2B5EF4-FFF2-40B4-BE49-F238E27FC236}">
                <a16:creationId xmlns:a16="http://schemas.microsoft.com/office/drawing/2014/main" id="{82B7A519-61C7-4EE5-ADCC-228FC94F6235}"/>
              </a:ext>
            </a:extLst>
          </p:cNvPr>
          <p:cNvSpPr>
            <a:spLocks noGrp="1"/>
          </p:cNvSpPr>
          <p:nvPr/>
        </p:nvSpPr>
        <p:spPr>
          <a:xfrm>
            <a:off x="1143000" y="18097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외부 PG 호출은 실패할 수 있다</a:t>
            </a:r>
          </a:p>
        </p:txBody>
      </p:sp>
      <p:sp>
        <p:nvSpPr>
          <p:cNvPr id="7" name="04-14-bullet-2">
            <a:extLst>
              <a:ext uri="{FF2B5EF4-FFF2-40B4-BE49-F238E27FC236}">
                <a16:creationId xmlns:a16="http://schemas.microsoft.com/office/drawing/2014/main" id="{975DF102-529C-4B52-B93C-F3FBB754C64E}"/>
              </a:ext>
            </a:extLst>
          </p:cNvPr>
          <p:cNvSpPr>
            <a:spLocks noGrp="1"/>
          </p:cNvSpPr>
          <p:nvPr/>
        </p:nvSpPr>
        <p:spPr>
          <a:xfrm>
            <a:off x="876300" y="27051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4-14-body-2">
            <a:extLst>
              <a:ext uri="{FF2B5EF4-FFF2-40B4-BE49-F238E27FC236}">
                <a16:creationId xmlns:a16="http://schemas.microsoft.com/office/drawing/2014/main" id="{7151D490-E594-43A8-A6FD-2EB2A22F1F66}"/>
              </a:ext>
            </a:extLst>
          </p:cNvPr>
          <p:cNvSpPr>
            <a:spLocks noGrp="1"/>
          </p:cNvSpPr>
          <p:nvPr/>
        </p:nvSpPr>
        <p:spPr>
          <a:xfrm>
            <a:off x="1143000" y="259080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주문 취소 자체는 완료되어야 한다</a:t>
            </a:r>
          </a:p>
        </p:txBody>
      </p:sp>
      <p:sp>
        <p:nvSpPr>
          <p:cNvPr id="9" name="04-14-bullet-3">
            <a:extLst>
              <a:ext uri="{FF2B5EF4-FFF2-40B4-BE49-F238E27FC236}">
                <a16:creationId xmlns:a16="http://schemas.microsoft.com/office/drawing/2014/main" id="{AFAA5194-AFDB-4D5C-8C2F-23440862BFBE}"/>
              </a:ext>
            </a:extLst>
          </p:cNvPr>
          <p:cNvSpPr>
            <a:spLocks noGrp="1"/>
          </p:cNvSpPr>
          <p:nvPr/>
        </p:nvSpPr>
        <p:spPr>
          <a:xfrm>
            <a:off x="876300" y="34861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4-14-body-3">
            <a:extLst>
              <a:ext uri="{FF2B5EF4-FFF2-40B4-BE49-F238E27FC236}">
                <a16:creationId xmlns:a16="http://schemas.microsoft.com/office/drawing/2014/main" id="{158819AB-52EB-4786-8493-6FEB74B3D15F}"/>
              </a:ext>
            </a:extLst>
          </p:cNvPr>
          <p:cNvSpPr>
            <a:spLocks noGrp="1"/>
          </p:cNvSpPr>
          <p:nvPr/>
        </p:nvSpPr>
        <p:spPr>
          <a:xfrm>
            <a:off x="1143000" y="33718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트랜잭션 커밋 후 이벤트로 넘긴다</a:t>
            </a:r>
          </a:p>
        </p:txBody>
      </p:sp>
      <p:sp>
        <p:nvSpPr>
          <p:cNvPr id="11" name="04-14-optional">
            <a:extLst>
              <a:ext uri="{FF2B5EF4-FFF2-40B4-BE49-F238E27FC236}">
                <a16:creationId xmlns:a16="http://schemas.microsoft.com/office/drawing/2014/main" id="{06CAFCE5-9787-4FB3-A007-15053F397C65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34745107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04-15-footer-section">
            <a:extLst>
              <a:ext uri="{FF2B5EF4-FFF2-40B4-BE49-F238E27FC236}">
                <a16:creationId xmlns:a16="http://schemas.microsoft.com/office/drawing/2014/main" id="{E4935364-2EBA-4823-B9F4-7E1D86B4FD6D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4. 구현·검증</a:t>
            </a:r>
          </a:p>
        </p:txBody>
      </p:sp>
      <p:sp>
        <p:nvSpPr>
          <p:cNvPr id="2" name="04-15-footer-page">
            <a:extLst>
              <a:ext uri="{FF2B5EF4-FFF2-40B4-BE49-F238E27FC236}">
                <a16:creationId xmlns:a16="http://schemas.microsoft.com/office/drawing/2014/main" id="{BFF77C1E-205C-4698-AB18-2EC7CBBFB127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64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4-15-accent-rule">
            <a:extLst>
              <a:ext uri="{FF2B5EF4-FFF2-40B4-BE49-F238E27FC236}">
                <a16:creationId xmlns:a16="http://schemas.microsoft.com/office/drawing/2014/main" id="{41AA7984-61AB-46A5-8660-A07CD0377BBA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15-title">
            <a:extLst>
              <a:ext uri="{FF2B5EF4-FFF2-40B4-BE49-F238E27FC236}">
                <a16:creationId xmlns:a16="http://schemas.microsoft.com/office/drawing/2014/main" id="{90F1DB33-FB75-423B-B557-066F3D94648A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실패하는 테스트와 최소 코드로 task를 닫는다</a:t>
            </a:r>
          </a:p>
        </p:txBody>
      </p:sp>
      <p:sp>
        <p:nvSpPr>
          <p:cNvPr id="5" name="04-15-arrow-1">
            <a:extLst>
              <a:ext uri="{FF2B5EF4-FFF2-40B4-BE49-F238E27FC236}">
                <a16:creationId xmlns:a16="http://schemas.microsoft.com/office/drawing/2014/main" id="{A61F1F70-9B4A-4994-ACDA-C3CD495803D3}"/>
              </a:ext>
            </a:extLst>
          </p:cNvPr>
          <p:cNvSpPr>
            <a:spLocks noGrp="1"/>
          </p:cNvSpPr>
          <p:nvPr/>
        </p:nvSpPr>
        <p:spPr>
          <a:xfrm>
            <a:off x="285750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4-15-arrow-2">
            <a:extLst>
              <a:ext uri="{FF2B5EF4-FFF2-40B4-BE49-F238E27FC236}">
                <a16:creationId xmlns:a16="http://schemas.microsoft.com/office/drawing/2014/main" id="{AD808E83-B386-4F45-8F84-8D6B33E29C85}"/>
              </a:ext>
            </a:extLst>
          </p:cNvPr>
          <p:cNvSpPr>
            <a:spLocks noGrp="1"/>
          </p:cNvSpPr>
          <p:nvPr/>
        </p:nvSpPr>
        <p:spPr>
          <a:xfrm>
            <a:off x="485775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4-15-arrow-3">
            <a:extLst>
              <a:ext uri="{FF2B5EF4-FFF2-40B4-BE49-F238E27FC236}">
                <a16:creationId xmlns:a16="http://schemas.microsoft.com/office/drawing/2014/main" id="{D8E4C4EB-D731-4585-B665-12ADC7D04E1B}"/>
              </a:ext>
            </a:extLst>
          </p:cNvPr>
          <p:cNvSpPr>
            <a:spLocks noGrp="1"/>
          </p:cNvSpPr>
          <p:nvPr/>
        </p:nvSpPr>
        <p:spPr>
          <a:xfrm>
            <a:off x="685800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4-15-arrow-4">
            <a:extLst>
              <a:ext uri="{FF2B5EF4-FFF2-40B4-BE49-F238E27FC236}">
                <a16:creationId xmlns:a16="http://schemas.microsoft.com/office/drawing/2014/main" id="{2F3E2BE1-A3F5-4672-9228-4B9537FDB067}"/>
              </a:ext>
            </a:extLst>
          </p:cNvPr>
          <p:cNvSpPr>
            <a:spLocks noGrp="1"/>
          </p:cNvSpPr>
          <p:nvPr/>
        </p:nvSpPr>
        <p:spPr>
          <a:xfrm>
            <a:off x="885825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04-15-node-1">
            <a:extLst>
              <a:ext uri="{FF2B5EF4-FFF2-40B4-BE49-F238E27FC236}">
                <a16:creationId xmlns:a16="http://schemas.microsoft.com/office/drawing/2014/main" id="{07CDA655-ECD6-4ABD-A54E-D9F75BA22B99}"/>
              </a:ext>
            </a:extLst>
          </p:cNvPr>
          <p:cNvSpPr>
            <a:spLocks noGrp="1"/>
          </p:cNvSpPr>
          <p:nvPr/>
        </p:nvSpPr>
        <p:spPr>
          <a:xfrm>
            <a:off x="104775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2878C7"/>
          </a:solidFill>
          <a:ln w="19050">
            <a:solidFill>
              <a:srgbClr val="2878C7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실패 테스트</a:t>
            </a:r>
          </a:p>
        </p:txBody>
      </p:sp>
      <p:sp>
        <p:nvSpPr>
          <p:cNvPr id="10" name="04-15-node-2">
            <a:extLst>
              <a:ext uri="{FF2B5EF4-FFF2-40B4-BE49-F238E27FC236}">
                <a16:creationId xmlns:a16="http://schemas.microsoft.com/office/drawing/2014/main" id="{A26EE362-8335-437C-BE5C-7AC4A13E4D60}"/>
              </a:ext>
            </a:extLst>
          </p:cNvPr>
          <p:cNvSpPr>
            <a:spLocks noGrp="1"/>
          </p:cNvSpPr>
          <p:nvPr/>
        </p:nvSpPr>
        <p:spPr>
          <a:xfrm>
            <a:off x="304800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의도한 실패</a:t>
            </a:r>
          </a:p>
        </p:txBody>
      </p:sp>
      <p:sp>
        <p:nvSpPr>
          <p:cNvPr id="11" name="04-15-node-3">
            <a:extLst>
              <a:ext uri="{FF2B5EF4-FFF2-40B4-BE49-F238E27FC236}">
                <a16:creationId xmlns:a16="http://schemas.microsoft.com/office/drawing/2014/main" id="{52E010B4-927D-4639-A5E4-E8E48EEF80EC}"/>
              </a:ext>
            </a:extLst>
          </p:cNvPr>
          <p:cNvSpPr>
            <a:spLocks noGrp="1"/>
          </p:cNvSpPr>
          <p:nvPr/>
        </p:nvSpPr>
        <p:spPr>
          <a:xfrm>
            <a:off x="504825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최소 코드</a:t>
            </a:r>
          </a:p>
        </p:txBody>
      </p:sp>
      <p:sp>
        <p:nvSpPr>
          <p:cNvPr id="12" name="04-15-node-4">
            <a:extLst>
              <a:ext uri="{FF2B5EF4-FFF2-40B4-BE49-F238E27FC236}">
                <a16:creationId xmlns:a16="http://schemas.microsoft.com/office/drawing/2014/main" id="{9B5A1853-9699-4F53-B03F-02D0931B1D33}"/>
              </a:ext>
            </a:extLst>
          </p:cNvPr>
          <p:cNvSpPr>
            <a:spLocks noGrp="1"/>
          </p:cNvSpPr>
          <p:nvPr/>
        </p:nvSpPr>
        <p:spPr>
          <a:xfrm>
            <a:off x="704850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관련 테스트</a:t>
            </a:r>
          </a:p>
        </p:txBody>
      </p:sp>
      <p:sp>
        <p:nvSpPr>
          <p:cNvPr id="13" name="04-15-node-5">
            <a:extLst>
              <a:ext uri="{FF2B5EF4-FFF2-40B4-BE49-F238E27FC236}">
                <a16:creationId xmlns:a16="http://schemas.microsoft.com/office/drawing/2014/main" id="{0B52E8CB-6DC6-4A6A-B01D-C67836DF6C58}"/>
              </a:ext>
            </a:extLst>
          </p:cNvPr>
          <p:cNvSpPr>
            <a:spLocks noGrp="1"/>
          </p:cNvSpPr>
          <p:nvPr/>
        </p:nvSpPr>
        <p:spPr>
          <a:xfrm>
            <a:off x="904875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리뷰</a:t>
            </a:r>
          </a:p>
        </p:txBody>
      </p:sp>
      <p:sp>
        <p:nvSpPr>
          <p:cNvPr id="14" name="04-15-caption">
            <a:extLst>
              <a:ext uri="{FF2B5EF4-FFF2-40B4-BE49-F238E27FC236}">
                <a16:creationId xmlns:a16="http://schemas.microsoft.com/office/drawing/2014/main" id="{A0C6228F-ED38-46C7-9A0B-150EFD85FE59}"/>
              </a:ext>
            </a:extLst>
          </p:cNvPr>
          <p:cNvSpPr>
            <a:spLocks noGrp="1"/>
          </p:cNvSpPr>
          <p:nvPr/>
        </p:nvSpPr>
        <p:spPr>
          <a:xfrm>
            <a:off x="1143000" y="4000500"/>
            <a:ext cx="9906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생성 → 검증 → 수정 → 재검증이 실제로 도는 자리</a:t>
            </a:r>
          </a:p>
        </p:txBody>
      </p:sp>
    </p:spTree>
    <p:extLst>
      <p:ext uri="{BB962C8B-B14F-4D97-AF65-F5344CB8AC3E}">
        <p14:creationId xmlns:p14="http://schemas.microsoft.com/office/powerpoint/2010/main" val="107492342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04-16-footer-section">
            <a:extLst>
              <a:ext uri="{FF2B5EF4-FFF2-40B4-BE49-F238E27FC236}">
                <a16:creationId xmlns:a16="http://schemas.microsoft.com/office/drawing/2014/main" id="{71153AEB-9654-43FA-8439-B7CE3276D17D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4. 구현·검증</a:t>
            </a:r>
          </a:p>
        </p:txBody>
      </p:sp>
      <p:sp>
        <p:nvSpPr>
          <p:cNvPr id="2" name="04-16-footer-page">
            <a:extLst>
              <a:ext uri="{FF2B5EF4-FFF2-40B4-BE49-F238E27FC236}">
                <a16:creationId xmlns:a16="http://schemas.microsoft.com/office/drawing/2014/main" id="{FD65D2EE-FC6D-47A7-B47C-3EA7C9BEBC82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65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4-16-accent-rule">
            <a:extLst>
              <a:ext uri="{FF2B5EF4-FFF2-40B4-BE49-F238E27FC236}">
                <a16:creationId xmlns:a16="http://schemas.microsoft.com/office/drawing/2014/main" id="{3C1A2FD4-9F4A-4184-8BE1-54C6CCA0ED04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16-title">
            <a:extLst>
              <a:ext uri="{FF2B5EF4-FFF2-40B4-BE49-F238E27FC236}">
                <a16:creationId xmlns:a16="http://schemas.microsoft.com/office/drawing/2014/main" id="{7277F021-6260-4E62-AA12-A63E61D8F430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‘배송이 시작된 주문은 취소할 수 없다’를 먼저 증명한다</a:t>
            </a:r>
          </a:p>
        </p:txBody>
      </p:sp>
      <p:sp>
        <p:nvSpPr>
          <p:cNvPr id="5" name="04-16-bullet-1">
            <a:extLst>
              <a:ext uri="{FF2B5EF4-FFF2-40B4-BE49-F238E27FC236}">
                <a16:creationId xmlns:a16="http://schemas.microsoft.com/office/drawing/2014/main" id="{1B878219-5994-4B47-BC51-A8E083FA45FA}"/>
              </a:ext>
            </a:extLst>
          </p:cNvPr>
          <p:cNvSpPr>
            <a:spLocks noGrp="1"/>
          </p:cNvSpPr>
          <p:nvPr/>
        </p:nvSpPr>
        <p:spPr>
          <a:xfrm>
            <a:off x="876300" y="19240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4-16-body-1">
            <a:extLst>
              <a:ext uri="{FF2B5EF4-FFF2-40B4-BE49-F238E27FC236}">
                <a16:creationId xmlns:a16="http://schemas.microsoft.com/office/drawing/2014/main" id="{3B4129B1-F3CD-4EF4-B7E1-29576A282E35}"/>
              </a:ext>
            </a:extLst>
          </p:cNvPr>
          <p:cNvSpPr>
            <a:spLocks noGrp="1"/>
          </p:cNvSpPr>
          <p:nvPr/>
        </p:nvSpPr>
        <p:spPr>
          <a:xfrm>
            <a:off x="1143000" y="18097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테스트를 작성한다</a:t>
            </a:r>
          </a:p>
        </p:txBody>
      </p:sp>
      <p:sp>
        <p:nvSpPr>
          <p:cNvPr id="7" name="04-16-bullet-2">
            <a:extLst>
              <a:ext uri="{FF2B5EF4-FFF2-40B4-BE49-F238E27FC236}">
                <a16:creationId xmlns:a16="http://schemas.microsoft.com/office/drawing/2014/main" id="{2B6B9156-D392-460F-AF66-90B76BDDBAC9}"/>
              </a:ext>
            </a:extLst>
          </p:cNvPr>
          <p:cNvSpPr>
            <a:spLocks noGrp="1"/>
          </p:cNvSpPr>
          <p:nvPr/>
        </p:nvSpPr>
        <p:spPr>
          <a:xfrm>
            <a:off x="876300" y="24765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4-16-body-2">
            <a:extLst>
              <a:ext uri="{FF2B5EF4-FFF2-40B4-BE49-F238E27FC236}">
                <a16:creationId xmlns:a16="http://schemas.microsoft.com/office/drawing/2014/main" id="{5137943C-9A3E-488B-82D1-6BF9E20CE49D}"/>
              </a:ext>
            </a:extLst>
          </p:cNvPr>
          <p:cNvSpPr>
            <a:spLocks noGrp="1"/>
          </p:cNvSpPr>
          <p:nvPr/>
        </p:nvSpPr>
        <p:spPr>
          <a:xfrm>
            <a:off x="1143000" y="236220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빨갛게 실패하는지 확인한다</a:t>
            </a:r>
          </a:p>
        </p:txBody>
      </p:sp>
      <p:sp>
        <p:nvSpPr>
          <p:cNvPr id="9" name="04-16-bullet-3">
            <a:extLst>
              <a:ext uri="{FF2B5EF4-FFF2-40B4-BE49-F238E27FC236}">
                <a16:creationId xmlns:a16="http://schemas.microsoft.com/office/drawing/2014/main" id="{553A4FEA-E20B-4F8D-B066-25E52187889A}"/>
              </a:ext>
            </a:extLst>
          </p:cNvPr>
          <p:cNvSpPr>
            <a:spLocks noGrp="1"/>
          </p:cNvSpPr>
          <p:nvPr/>
        </p:nvSpPr>
        <p:spPr>
          <a:xfrm>
            <a:off x="876300" y="30289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4-16-body-3">
            <a:extLst>
              <a:ext uri="{FF2B5EF4-FFF2-40B4-BE49-F238E27FC236}">
                <a16:creationId xmlns:a16="http://schemas.microsoft.com/office/drawing/2014/main" id="{6A103BAD-2897-4CDB-B75C-D2550BB5627A}"/>
              </a:ext>
            </a:extLst>
          </p:cNvPr>
          <p:cNvSpPr>
            <a:spLocks noGrp="1"/>
          </p:cNvSpPr>
          <p:nvPr/>
        </p:nvSpPr>
        <p:spPr>
          <a:xfrm>
            <a:off x="1143000" y="29146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상태 전이 가드를 추가한다</a:t>
            </a:r>
          </a:p>
        </p:txBody>
      </p:sp>
      <p:sp>
        <p:nvSpPr>
          <p:cNvPr id="11" name="04-16-bullet-4">
            <a:extLst>
              <a:ext uri="{FF2B5EF4-FFF2-40B4-BE49-F238E27FC236}">
                <a16:creationId xmlns:a16="http://schemas.microsoft.com/office/drawing/2014/main" id="{C69C3489-E35A-4209-AFCF-8C3555BF9A14}"/>
              </a:ext>
            </a:extLst>
          </p:cNvPr>
          <p:cNvSpPr>
            <a:spLocks noGrp="1"/>
          </p:cNvSpPr>
          <p:nvPr/>
        </p:nvSpPr>
        <p:spPr>
          <a:xfrm>
            <a:off x="876300" y="35814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4-16-body-4">
            <a:extLst>
              <a:ext uri="{FF2B5EF4-FFF2-40B4-BE49-F238E27FC236}">
                <a16:creationId xmlns:a16="http://schemas.microsoft.com/office/drawing/2014/main" id="{46D78073-C5DA-4F39-8E9E-EE2CCCD54D66}"/>
              </a:ext>
            </a:extLst>
          </p:cNvPr>
          <p:cNvSpPr>
            <a:spLocks noGrp="1"/>
          </p:cNvSpPr>
          <p:nvPr/>
        </p:nvSpPr>
        <p:spPr>
          <a:xfrm>
            <a:off x="1143000" y="346710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다시 실행해 통과시킨다</a:t>
            </a:r>
          </a:p>
        </p:txBody>
      </p:sp>
      <p:sp>
        <p:nvSpPr>
          <p:cNvPr id="13" name="04-16-optional">
            <a:extLst>
              <a:ext uri="{FF2B5EF4-FFF2-40B4-BE49-F238E27FC236}">
                <a16:creationId xmlns:a16="http://schemas.microsoft.com/office/drawing/2014/main" id="{1FAC0452-DA90-4526-AAE7-9BB1611782D3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31217473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04-17-footer-section">
            <a:extLst>
              <a:ext uri="{FF2B5EF4-FFF2-40B4-BE49-F238E27FC236}">
                <a16:creationId xmlns:a16="http://schemas.microsoft.com/office/drawing/2014/main" id="{B05F8F33-FC2C-487E-A977-9EDA7A96A286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4. 구현·검증</a:t>
            </a:r>
          </a:p>
        </p:txBody>
      </p:sp>
      <p:sp>
        <p:nvSpPr>
          <p:cNvPr id="2" name="04-17-footer-page">
            <a:extLst>
              <a:ext uri="{FF2B5EF4-FFF2-40B4-BE49-F238E27FC236}">
                <a16:creationId xmlns:a16="http://schemas.microsoft.com/office/drawing/2014/main" id="{AB1A63F4-27FB-4257-A5FD-AD4E210176FF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66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4-17-accent-rule">
            <a:extLst>
              <a:ext uri="{FF2B5EF4-FFF2-40B4-BE49-F238E27FC236}">
                <a16:creationId xmlns:a16="http://schemas.microsoft.com/office/drawing/2014/main" id="{079BBFD9-9DBB-4632-8EFF-80898CB5FEF4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17-title">
            <a:extLst>
              <a:ext uri="{FF2B5EF4-FFF2-40B4-BE49-F238E27FC236}">
                <a16:creationId xmlns:a16="http://schemas.microsoft.com/office/drawing/2014/main" id="{C364661F-75AB-4CC8-B548-FED014727272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구현이 끝나면 정본의 질문이 달라진다</a:t>
            </a:r>
          </a:p>
        </p:txBody>
      </p:sp>
      <p:sp>
        <p:nvSpPr>
          <p:cNvPr id="5" name="04-17-divider">
            <a:extLst>
              <a:ext uri="{FF2B5EF4-FFF2-40B4-BE49-F238E27FC236}">
                <a16:creationId xmlns:a16="http://schemas.microsoft.com/office/drawing/2014/main" id="{AAB25C94-BB29-44A9-B197-8777973F89B6}"/>
              </a:ext>
            </a:extLst>
          </p:cNvPr>
          <p:cNvSpPr>
            <a:spLocks noGrp="1"/>
          </p:cNvSpPr>
          <p:nvPr/>
        </p:nvSpPr>
        <p:spPr>
          <a:xfrm>
            <a:off x="6096000" y="1676400"/>
            <a:ext cx="0" cy="390525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4-17-left-heading">
            <a:extLst>
              <a:ext uri="{FF2B5EF4-FFF2-40B4-BE49-F238E27FC236}">
                <a16:creationId xmlns:a16="http://schemas.microsoft.com/office/drawing/2014/main" id="{CC1DDDE4-917B-477C-B26C-068BAD1A32AF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4857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구현 전</a:t>
            </a:r>
          </a:p>
        </p:txBody>
      </p:sp>
      <p:sp>
        <p:nvSpPr>
          <p:cNvPr id="7" name="04-17-left-dot-1">
            <a:extLst>
              <a:ext uri="{FF2B5EF4-FFF2-40B4-BE49-F238E27FC236}">
                <a16:creationId xmlns:a16="http://schemas.microsoft.com/office/drawing/2014/main" id="{C4B35FCD-AE60-4699-8E9D-355792558753}"/>
              </a:ext>
            </a:extLst>
          </p:cNvPr>
          <p:cNvSpPr>
            <a:spLocks noGrp="1"/>
          </p:cNvSpPr>
          <p:nvPr/>
        </p:nvSpPr>
        <p:spPr>
          <a:xfrm>
            <a:off x="72390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4-17-left-line-1">
            <a:extLst>
              <a:ext uri="{FF2B5EF4-FFF2-40B4-BE49-F238E27FC236}">
                <a16:creationId xmlns:a16="http://schemas.microsoft.com/office/drawing/2014/main" id="{20AF764A-BC2A-421C-97EB-C91FEB728480}"/>
              </a:ext>
            </a:extLst>
          </p:cNvPr>
          <p:cNvSpPr>
            <a:spLocks noGrp="1"/>
          </p:cNvSpPr>
          <p:nvPr/>
        </p:nvSpPr>
        <p:spPr>
          <a:xfrm>
            <a:off x="952500" y="2362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spec — 무엇을 만들기로 했나</a:t>
            </a:r>
          </a:p>
        </p:txBody>
      </p:sp>
      <p:sp>
        <p:nvSpPr>
          <p:cNvPr id="9" name="04-17-left-dot-2">
            <a:extLst>
              <a:ext uri="{FF2B5EF4-FFF2-40B4-BE49-F238E27FC236}">
                <a16:creationId xmlns:a16="http://schemas.microsoft.com/office/drawing/2014/main" id="{94886C09-77BD-4635-B65E-0A2CDF1415E9}"/>
              </a:ext>
            </a:extLst>
          </p:cNvPr>
          <p:cNvSpPr>
            <a:spLocks noGrp="1"/>
          </p:cNvSpPr>
          <p:nvPr/>
        </p:nvSpPr>
        <p:spPr>
          <a:xfrm>
            <a:off x="72390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4-17-left-line-2">
            <a:extLst>
              <a:ext uri="{FF2B5EF4-FFF2-40B4-BE49-F238E27FC236}">
                <a16:creationId xmlns:a16="http://schemas.microsoft.com/office/drawing/2014/main" id="{8D062D08-68A3-48DB-A4C5-21C830CFD3BA}"/>
              </a:ext>
            </a:extLst>
          </p:cNvPr>
          <p:cNvSpPr>
            <a:spLocks noGrp="1"/>
          </p:cNvSpPr>
          <p:nvPr/>
        </p:nvSpPr>
        <p:spPr>
          <a:xfrm>
            <a:off x="952500" y="310515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plan — 어떤 순서로 만들까</a:t>
            </a:r>
          </a:p>
        </p:txBody>
      </p:sp>
      <p:sp>
        <p:nvSpPr>
          <p:cNvPr id="11" name="04-17-left-dot-3">
            <a:extLst>
              <a:ext uri="{FF2B5EF4-FFF2-40B4-BE49-F238E27FC236}">
                <a16:creationId xmlns:a16="http://schemas.microsoft.com/office/drawing/2014/main" id="{7CF6C50B-81BA-4103-A83B-D6EB53576A16}"/>
              </a:ext>
            </a:extLst>
          </p:cNvPr>
          <p:cNvSpPr>
            <a:spLocks noGrp="1"/>
          </p:cNvSpPr>
          <p:nvPr/>
        </p:nvSpPr>
        <p:spPr>
          <a:xfrm>
            <a:off x="72390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4-17-left-line-3">
            <a:extLst>
              <a:ext uri="{FF2B5EF4-FFF2-40B4-BE49-F238E27FC236}">
                <a16:creationId xmlns:a16="http://schemas.microsoft.com/office/drawing/2014/main" id="{51C40B8B-71EF-4066-8567-E52A58E091F8}"/>
              </a:ext>
            </a:extLst>
          </p:cNvPr>
          <p:cNvSpPr>
            <a:spLocks noGrp="1"/>
          </p:cNvSpPr>
          <p:nvPr/>
        </p:nvSpPr>
        <p:spPr>
          <a:xfrm>
            <a:off x="952500" y="38481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explained — 왜 이 설계인가</a:t>
            </a:r>
          </a:p>
        </p:txBody>
      </p:sp>
      <p:sp>
        <p:nvSpPr>
          <p:cNvPr id="13" name="04-17-right-heading">
            <a:extLst>
              <a:ext uri="{FF2B5EF4-FFF2-40B4-BE49-F238E27FC236}">
                <a16:creationId xmlns:a16="http://schemas.microsoft.com/office/drawing/2014/main" id="{42B0647F-D5CB-4C20-8C36-9979FB69E73C}"/>
              </a:ext>
            </a:extLst>
          </p:cNvPr>
          <p:cNvSpPr>
            <a:spLocks noGrp="1"/>
          </p:cNvSpPr>
          <p:nvPr/>
        </p:nvSpPr>
        <p:spPr>
          <a:xfrm>
            <a:off x="6572250" y="1676400"/>
            <a:ext cx="4762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구현 후</a:t>
            </a:r>
          </a:p>
        </p:txBody>
      </p:sp>
      <p:sp>
        <p:nvSpPr>
          <p:cNvPr id="14" name="04-17-right-dot-1">
            <a:extLst>
              <a:ext uri="{FF2B5EF4-FFF2-40B4-BE49-F238E27FC236}">
                <a16:creationId xmlns:a16="http://schemas.microsoft.com/office/drawing/2014/main" id="{EF6CA097-542F-4829-A3BF-9E410693741B}"/>
              </a:ext>
            </a:extLst>
          </p:cNvPr>
          <p:cNvSpPr>
            <a:spLocks noGrp="1"/>
          </p:cNvSpPr>
          <p:nvPr/>
        </p:nvSpPr>
        <p:spPr>
          <a:xfrm>
            <a:off x="657225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04-17-right-line-1">
            <a:extLst>
              <a:ext uri="{FF2B5EF4-FFF2-40B4-BE49-F238E27FC236}">
                <a16:creationId xmlns:a16="http://schemas.microsoft.com/office/drawing/2014/main" id="{5D0CEB67-AA63-4C26-BBDD-9414312E6204}"/>
              </a:ext>
            </a:extLst>
          </p:cNvPr>
          <p:cNvSpPr>
            <a:spLocks noGrp="1"/>
          </p:cNvSpPr>
          <p:nvPr/>
        </p:nvSpPr>
        <p:spPr>
          <a:xfrm>
            <a:off x="6800850" y="2362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실제 소스코드 — 지금 뭐가 도나</a:t>
            </a:r>
          </a:p>
        </p:txBody>
      </p:sp>
      <p:sp>
        <p:nvSpPr>
          <p:cNvPr id="16" name="04-17-right-dot-2">
            <a:extLst>
              <a:ext uri="{FF2B5EF4-FFF2-40B4-BE49-F238E27FC236}">
                <a16:creationId xmlns:a16="http://schemas.microsoft.com/office/drawing/2014/main" id="{1704D308-E0F1-450B-A655-90EA6C8B27CF}"/>
              </a:ext>
            </a:extLst>
          </p:cNvPr>
          <p:cNvSpPr>
            <a:spLocks noGrp="1"/>
          </p:cNvSpPr>
          <p:nvPr/>
        </p:nvSpPr>
        <p:spPr>
          <a:xfrm>
            <a:off x="657225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04-17-right-line-2">
            <a:extLst>
              <a:ext uri="{FF2B5EF4-FFF2-40B4-BE49-F238E27FC236}">
                <a16:creationId xmlns:a16="http://schemas.microsoft.com/office/drawing/2014/main" id="{710548A4-A61D-484E-8867-B610EFCB6C5F}"/>
              </a:ext>
            </a:extLst>
          </p:cNvPr>
          <p:cNvSpPr>
            <a:spLocks noGrp="1"/>
          </p:cNvSpPr>
          <p:nvPr/>
        </p:nvSpPr>
        <p:spPr>
          <a:xfrm>
            <a:off x="6800850" y="310515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테스트 — 어떤 행동이 증명됐나</a:t>
            </a:r>
          </a:p>
        </p:txBody>
      </p:sp>
      <p:sp>
        <p:nvSpPr>
          <p:cNvPr id="18" name="04-17-right-dot-3">
            <a:extLst>
              <a:ext uri="{FF2B5EF4-FFF2-40B4-BE49-F238E27FC236}">
                <a16:creationId xmlns:a16="http://schemas.microsoft.com/office/drawing/2014/main" id="{96389661-D3F7-44C4-BCE9-D461CB0127D2}"/>
              </a:ext>
            </a:extLst>
          </p:cNvPr>
          <p:cNvSpPr>
            <a:spLocks noGrp="1"/>
          </p:cNvSpPr>
          <p:nvPr/>
        </p:nvSpPr>
        <p:spPr>
          <a:xfrm>
            <a:off x="657225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04-17-right-line-3">
            <a:extLst>
              <a:ext uri="{FF2B5EF4-FFF2-40B4-BE49-F238E27FC236}">
                <a16:creationId xmlns:a16="http://schemas.microsoft.com/office/drawing/2014/main" id="{E3C55AC6-0FCC-4E10-9DB8-29EB24E16CB1}"/>
              </a:ext>
            </a:extLst>
          </p:cNvPr>
          <p:cNvSpPr>
            <a:spLocks noGrp="1"/>
          </p:cNvSpPr>
          <p:nvPr/>
        </p:nvSpPr>
        <p:spPr>
          <a:xfrm>
            <a:off x="6800850" y="38481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plan — 관련 파일을 찾는 지도</a:t>
            </a:r>
          </a:p>
        </p:txBody>
      </p:sp>
    </p:spTree>
    <p:extLst>
      <p:ext uri="{BB962C8B-B14F-4D97-AF65-F5344CB8AC3E}">
        <p14:creationId xmlns:p14="http://schemas.microsoft.com/office/powerpoint/2010/main" val="181118833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04-18-footer-section">
            <a:extLst>
              <a:ext uri="{FF2B5EF4-FFF2-40B4-BE49-F238E27FC236}">
                <a16:creationId xmlns:a16="http://schemas.microsoft.com/office/drawing/2014/main" id="{7D650FAE-0697-42C0-AF12-358B09FE67F7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5. 흐름 복원</a:t>
            </a:r>
          </a:p>
        </p:txBody>
      </p:sp>
      <p:sp>
        <p:nvSpPr>
          <p:cNvPr id="2" name="04-18-footer-page">
            <a:extLst>
              <a:ext uri="{FF2B5EF4-FFF2-40B4-BE49-F238E27FC236}">
                <a16:creationId xmlns:a16="http://schemas.microsoft.com/office/drawing/2014/main" id="{914BF399-B480-4FFE-8E3E-0927931FD9E8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67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4-18-accent-rule">
            <a:extLst>
              <a:ext uri="{FF2B5EF4-FFF2-40B4-BE49-F238E27FC236}">
                <a16:creationId xmlns:a16="http://schemas.microsoft.com/office/drawing/2014/main" id="{5E637198-E514-43F6-BF77-ED6084004CBF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18-title">
            <a:extLst>
              <a:ext uri="{FF2B5EF4-FFF2-40B4-BE49-F238E27FC236}">
                <a16:creationId xmlns:a16="http://schemas.microsoft.com/office/drawing/2014/main" id="{35BDB059-EC1E-4B22-AC78-9FE488B5CE6A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실제 코드에서 front → back → db → back → front를 되읽는다</a:t>
            </a:r>
          </a:p>
        </p:txBody>
      </p:sp>
      <p:sp>
        <p:nvSpPr>
          <p:cNvPr id="5" name="04-18-arrow-1">
            <a:extLst>
              <a:ext uri="{FF2B5EF4-FFF2-40B4-BE49-F238E27FC236}">
                <a16:creationId xmlns:a16="http://schemas.microsoft.com/office/drawing/2014/main" id="{51388D84-AAC1-4778-A999-991002007BA0}"/>
              </a:ext>
            </a:extLst>
          </p:cNvPr>
          <p:cNvSpPr>
            <a:spLocks noGrp="1"/>
          </p:cNvSpPr>
          <p:nvPr/>
        </p:nvSpPr>
        <p:spPr>
          <a:xfrm>
            <a:off x="2857500" y="2390775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4-18-arrow-2">
            <a:extLst>
              <a:ext uri="{FF2B5EF4-FFF2-40B4-BE49-F238E27FC236}">
                <a16:creationId xmlns:a16="http://schemas.microsoft.com/office/drawing/2014/main" id="{8EF6CEFD-5A40-4A47-AD53-8953A3CAA6D8}"/>
              </a:ext>
            </a:extLst>
          </p:cNvPr>
          <p:cNvSpPr>
            <a:spLocks noGrp="1"/>
          </p:cNvSpPr>
          <p:nvPr/>
        </p:nvSpPr>
        <p:spPr>
          <a:xfrm>
            <a:off x="4857750" y="2390775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4-18-arrow-3a">
            <a:extLst>
              <a:ext uri="{FF2B5EF4-FFF2-40B4-BE49-F238E27FC236}">
                <a16:creationId xmlns:a16="http://schemas.microsoft.com/office/drawing/2014/main" id="{CB84FBF2-112C-45F1-A588-E45B731AF079}"/>
              </a:ext>
            </a:extLst>
          </p:cNvPr>
          <p:cNvSpPr>
            <a:spLocks noGrp="1"/>
          </p:cNvSpPr>
          <p:nvPr/>
        </p:nvSpPr>
        <p:spPr>
          <a:xfrm flipH="1">
            <a:off x="1869260" y="2828924"/>
            <a:ext cx="4083865" cy="885823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4-18-arrow-4">
            <a:extLst>
              <a:ext uri="{FF2B5EF4-FFF2-40B4-BE49-F238E27FC236}">
                <a16:creationId xmlns:a16="http://schemas.microsoft.com/office/drawing/2014/main" id="{1D28E27A-E366-4AA7-8091-722CFEA68180}"/>
              </a:ext>
            </a:extLst>
          </p:cNvPr>
          <p:cNvSpPr>
            <a:spLocks noGrp="1"/>
          </p:cNvSpPr>
          <p:nvPr/>
        </p:nvSpPr>
        <p:spPr>
          <a:xfrm>
            <a:off x="2857500" y="4200525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04-18-arrow-5">
            <a:extLst>
              <a:ext uri="{FF2B5EF4-FFF2-40B4-BE49-F238E27FC236}">
                <a16:creationId xmlns:a16="http://schemas.microsoft.com/office/drawing/2014/main" id="{E3B0FE8B-7888-4568-A71C-E130BA9F0AD0}"/>
              </a:ext>
            </a:extLst>
          </p:cNvPr>
          <p:cNvSpPr>
            <a:spLocks noGrp="1"/>
          </p:cNvSpPr>
          <p:nvPr/>
        </p:nvSpPr>
        <p:spPr>
          <a:xfrm>
            <a:off x="4857750" y="4200525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4-18-node-1">
            <a:extLst>
              <a:ext uri="{FF2B5EF4-FFF2-40B4-BE49-F238E27FC236}">
                <a16:creationId xmlns:a16="http://schemas.microsoft.com/office/drawing/2014/main" id="{87099CE1-1110-4DA7-8BBC-0D6A6709FB8D}"/>
              </a:ext>
            </a:extLst>
          </p:cNvPr>
          <p:cNvSpPr>
            <a:spLocks noGrp="1"/>
          </p:cNvSpPr>
          <p:nvPr/>
        </p:nvSpPr>
        <p:spPr>
          <a:xfrm>
            <a:off x="1047750" y="195262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2878C7"/>
          </a:solidFill>
          <a:ln w="19050">
            <a:solidFill>
              <a:srgbClr val="2878C7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진입점</a:t>
            </a:r>
          </a:p>
        </p:txBody>
      </p:sp>
      <p:sp>
        <p:nvSpPr>
          <p:cNvPr id="11" name="04-18-node-2">
            <a:extLst>
              <a:ext uri="{FF2B5EF4-FFF2-40B4-BE49-F238E27FC236}">
                <a16:creationId xmlns:a16="http://schemas.microsoft.com/office/drawing/2014/main" id="{257F573B-8F81-40A6-B71C-787493C5F378}"/>
              </a:ext>
            </a:extLst>
          </p:cNvPr>
          <p:cNvSpPr>
            <a:spLocks noGrp="1"/>
          </p:cNvSpPr>
          <p:nvPr/>
        </p:nvSpPr>
        <p:spPr>
          <a:xfrm>
            <a:off x="3048000" y="195262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권한·검증 gate</a:t>
            </a:r>
          </a:p>
        </p:txBody>
      </p:sp>
      <p:sp>
        <p:nvSpPr>
          <p:cNvPr id="12" name="04-18-node-3">
            <a:extLst>
              <a:ext uri="{FF2B5EF4-FFF2-40B4-BE49-F238E27FC236}">
                <a16:creationId xmlns:a16="http://schemas.microsoft.com/office/drawing/2014/main" id="{59DF716C-3086-4CA8-9351-01DD18BA9E1C}"/>
              </a:ext>
            </a:extLst>
          </p:cNvPr>
          <p:cNvSpPr>
            <a:spLocks noGrp="1"/>
          </p:cNvSpPr>
          <p:nvPr/>
        </p:nvSpPr>
        <p:spPr>
          <a:xfrm>
            <a:off x="5048250" y="195262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상태 변경</a:t>
            </a:r>
          </a:p>
        </p:txBody>
      </p:sp>
      <p:sp>
        <p:nvSpPr>
          <p:cNvPr id="13" name="04-18-node-4">
            <a:extLst>
              <a:ext uri="{FF2B5EF4-FFF2-40B4-BE49-F238E27FC236}">
                <a16:creationId xmlns:a16="http://schemas.microsoft.com/office/drawing/2014/main" id="{F6756528-0220-4602-8D36-09006E8FDC44}"/>
              </a:ext>
            </a:extLst>
          </p:cNvPr>
          <p:cNvSpPr>
            <a:spLocks noGrp="1"/>
          </p:cNvSpPr>
          <p:nvPr/>
        </p:nvSpPr>
        <p:spPr>
          <a:xfrm>
            <a:off x="1047750" y="376237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transaction</a:t>
            </a:r>
          </a:p>
        </p:txBody>
      </p:sp>
      <p:sp>
        <p:nvSpPr>
          <p:cNvPr id="14" name="04-18-node-5">
            <a:extLst>
              <a:ext uri="{FF2B5EF4-FFF2-40B4-BE49-F238E27FC236}">
                <a16:creationId xmlns:a16="http://schemas.microsoft.com/office/drawing/2014/main" id="{BBE40D39-3C90-4CFF-800C-12C57FE0E2A3}"/>
              </a:ext>
            </a:extLst>
          </p:cNvPr>
          <p:cNvSpPr>
            <a:spLocks noGrp="1"/>
          </p:cNvSpPr>
          <p:nvPr/>
        </p:nvSpPr>
        <p:spPr>
          <a:xfrm>
            <a:off x="3048000" y="376237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event</a:t>
            </a:r>
          </a:p>
        </p:txBody>
      </p:sp>
      <p:sp>
        <p:nvSpPr>
          <p:cNvPr id="15" name="04-18-node-6">
            <a:extLst>
              <a:ext uri="{FF2B5EF4-FFF2-40B4-BE49-F238E27FC236}">
                <a16:creationId xmlns:a16="http://schemas.microsoft.com/office/drawing/2014/main" id="{F856D698-3AC1-4CD5-B53E-77EC24B058FD}"/>
              </a:ext>
            </a:extLst>
          </p:cNvPr>
          <p:cNvSpPr>
            <a:spLocks noGrp="1"/>
          </p:cNvSpPr>
          <p:nvPr/>
        </p:nvSpPr>
        <p:spPr>
          <a:xfrm>
            <a:off x="5048250" y="376237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응답</a:t>
            </a:r>
          </a:p>
        </p:txBody>
      </p:sp>
      <p:sp>
        <p:nvSpPr>
          <p:cNvPr id="16" name="04-18-caption">
            <a:extLst>
              <a:ext uri="{FF2B5EF4-FFF2-40B4-BE49-F238E27FC236}">
                <a16:creationId xmlns:a16="http://schemas.microsoft.com/office/drawing/2014/main" id="{CFBB18D0-562D-4CA2-B3B7-5AFB52E3A08F}"/>
              </a:ext>
            </a:extLst>
          </p:cNvPr>
          <p:cNvSpPr>
            <a:spLocks noGrp="1"/>
          </p:cNvSpPr>
          <p:nvPr/>
        </p:nvSpPr>
        <p:spPr>
          <a:xfrm>
            <a:off x="1143000" y="5524500"/>
            <a:ext cx="9906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plan과 다른 지점을 숨기지 않고 보고한다</a:t>
            </a:r>
          </a:p>
        </p:txBody>
      </p:sp>
    </p:spTree>
    <p:extLst>
      <p:ext uri="{BB962C8B-B14F-4D97-AF65-F5344CB8AC3E}">
        <p14:creationId xmlns:p14="http://schemas.microsoft.com/office/powerpoint/2010/main" val="159148347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04-19-footer-section">
            <a:extLst>
              <a:ext uri="{FF2B5EF4-FFF2-40B4-BE49-F238E27FC236}">
                <a16:creationId xmlns:a16="http://schemas.microsoft.com/office/drawing/2014/main" id="{09CE2540-174D-460C-99EA-1E8182B58941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5. 흐름 복원</a:t>
            </a:r>
          </a:p>
        </p:txBody>
      </p:sp>
      <p:sp>
        <p:nvSpPr>
          <p:cNvPr id="2" name="04-19-footer-page">
            <a:extLst>
              <a:ext uri="{FF2B5EF4-FFF2-40B4-BE49-F238E27FC236}">
                <a16:creationId xmlns:a16="http://schemas.microsoft.com/office/drawing/2014/main" id="{336958AD-43C6-416B-88B5-12284C9E143E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68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4-19-accent-rule">
            <a:extLst>
              <a:ext uri="{FF2B5EF4-FFF2-40B4-BE49-F238E27FC236}">
                <a16:creationId xmlns:a16="http://schemas.microsoft.com/office/drawing/2014/main" id="{4F95D0E0-AD61-499C-A65A-86388FFB2FFB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19-title">
            <a:extLst>
              <a:ext uri="{FF2B5EF4-FFF2-40B4-BE49-F238E27FC236}">
                <a16:creationId xmlns:a16="http://schemas.microsoft.com/office/drawing/2014/main" id="{F07FC7D6-84DD-4DF5-8A14-EE61F30C0EA7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문서와 코드의 차이는 판단을 요구하는 발견이다</a:t>
            </a:r>
          </a:p>
        </p:txBody>
      </p:sp>
      <p:sp>
        <p:nvSpPr>
          <p:cNvPr id="5" name="04-19-divider">
            <a:extLst>
              <a:ext uri="{FF2B5EF4-FFF2-40B4-BE49-F238E27FC236}">
                <a16:creationId xmlns:a16="http://schemas.microsoft.com/office/drawing/2014/main" id="{E809B871-F6BD-4815-8CAF-124B4E4DB831}"/>
              </a:ext>
            </a:extLst>
          </p:cNvPr>
          <p:cNvSpPr>
            <a:spLocks noGrp="1"/>
          </p:cNvSpPr>
          <p:nvPr/>
        </p:nvSpPr>
        <p:spPr>
          <a:xfrm>
            <a:off x="6096000" y="1676400"/>
            <a:ext cx="0" cy="390525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4-19-left-heading">
            <a:extLst>
              <a:ext uri="{FF2B5EF4-FFF2-40B4-BE49-F238E27FC236}">
                <a16:creationId xmlns:a16="http://schemas.microsoft.com/office/drawing/2014/main" id="{D93B05B7-D926-4A25-8BCA-4D958CBEA7B6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4857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발견된 차이</a:t>
            </a:r>
          </a:p>
        </p:txBody>
      </p:sp>
      <p:sp>
        <p:nvSpPr>
          <p:cNvPr id="7" name="04-19-left-dot-1">
            <a:extLst>
              <a:ext uri="{FF2B5EF4-FFF2-40B4-BE49-F238E27FC236}">
                <a16:creationId xmlns:a16="http://schemas.microsoft.com/office/drawing/2014/main" id="{8503D113-0946-4AD3-BD04-5940B607154C}"/>
              </a:ext>
            </a:extLst>
          </p:cNvPr>
          <p:cNvSpPr>
            <a:spLocks noGrp="1"/>
          </p:cNvSpPr>
          <p:nvPr/>
        </p:nvSpPr>
        <p:spPr>
          <a:xfrm>
            <a:off x="72390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4-19-left-line-1">
            <a:extLst>
              <a:ext uri="{FF2B5EF4-FFF2-40B4-BE49-F238E27FC236}">
                <a16:creationId xmlns:a16="http://schemas.microsoft.com/office/drawing/2014/main" id="{5D69C8C4-35B0-4BDC-9C29-A381627F8E77}"/>
              </a:ext>
            </a:extLst>
          </p:cNvPr>
          <p:cNvSpPr>
            <a:spLocks noGrp="1"/>
          </p:cNvSpPr>
          <p:nvPr/>
        </p:nvSpPr>
        <p:spPr>
          <a:xfrm>
            <a:off x="952500" y="2362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의도된 개선</a:t>
            </a:r>
          </a:p>
        </p:txBody>
      </p:sp>
      <p:sp>
        <p:nvSpPr>
          <p:cNvPr id="9" name="04-19-left-dot-2">
            <a:extLst>
              <a:ext uri="{FF2B5EF4-FFF2-40B4-BE49-F238E27FC236}">
                <a16:creationId xmlns:a16="http://schemas.microsoft.com/office/drawing/2014/main" id="{543B3086-4266-45B7-BF3F-11CFE7667A3F}"/>
              </a:ext>
            </a:extLst>
          </p:cNvPr>
          <p:cNvSpPr>
            <a:spLocks noGrp="1"/>
          </p:cNvSpPr>
          <p:nvPr/>
        </p:nvSpPr>
        <p:spPr>
          <a:xfrm>
            <a:off x="72390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4-19-left-line-2">
            <a:extLst>
              <a:ext uri="{FF2B5EF4-FFF2-40B4-BE49-F238E27FC236}">
                <a16:creationId xmlns:a16="http://schemas.microsoft.com/office/drawing/2014/main" id="{BEBAE632-EAD7-4037-A5C5-7CD7E8066969}"/>
              </a:ext>
            </a:extLst>
          </p:cNvPr>
          <p:cNvSpPr>
            <a:spLocks noGrp="1"/>
          </p:cNvSpPr>
          <p:nvPr/>
        </p:nvSpPr>
        <p:spPr>
          <a:xfrm>
            <a:off x="952500" y="310515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요구에서 벗어남</a:t>
            </a:r>
          </a:p>
        </p:txBody>
      </p:sp>
      <p:sp>
        <p:nvSpPr>
          <p:cNvPr id="11" name="04-19-left-dot-3">
            <a:extLst>
              <a:ext uri="{FF2B5EF4-FFF2-40B4-BE49-F238E27FC236}">
                <a16:creationId xmlns:a16="http://schemas.microsoft.com/office/drawing/2014/main" id="{401B714D-CFA7-4BD8-AB15-17163DAF2649}"/>
              </a:ext>
            </a:extLst>
          </p:cNvPr>
          <p:cNvSpPr>
            <a:spLocks noGrp="1"/>
          </p:cNvSpPr>
          <p:nvPr/>
        </p:nvSpPr>
        <p:spPr>
          <a:xfrm>
            <a:off x="72390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4-19-left-line-3">
            <a:extLst>
              <a:ext uri="{FF2B5EF4-FFF2-40B4-BE49-F238E27FC236}">
                <a16:creationId xmlns:a16="http://schemas.microsoft.com/office/drawing/2014/main" id="{29A2230B-0C8C-4EDA-9821-78F0817C72FC}"/>
              </a:ext>
            </a:extLst>
          </p:cNvPr>
          <p:cNvSpPr>
            <a:spLocks noGrp="1"/>
          </p:cNvSpPr>
          <p:nvPr/>
        </p:nvSpPr>
        <p:spPr>
          <a:xfrm>
            <a:off x="952500" y="38481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spec이 애매했음</a:t>
            </a:r>
          </a:p>
        </p:txBody>
      </p:sp>
      <p:sp>
        <p:nvSpPr>
          <p:cNvPr id="13" name="04-19-right-heading">
            <a:extLst>
              <a:ext uri="{FF2B5EF4-FFF2-40B4-BE49-F238E27FC236}">
                <a16:creationId xmlns:a16="http://schemas.microsoft.com/office/drawing/2014/main" id="{D5E54226-1461-4295-8E25-D4EF93CB122F}"/>
              </a:ext>
            </a:extLst>
          </p:cNvPr>
          <p:cNvSpPr>
            <a:spLocks noGrp="1"/>
          </p:cNvSpPr>
          <p:nvPr/>
        </p:nvSpPr>
        <p:spPr>
          <a:xfrm>
            <a:off x="6572250" y="1676400"/>
            <a:ext cx="4762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돌아갈 곳</a:t>
            </a:r>
          </a:p>
        </p:txBody>
      </p:sp>
      <p:sp>
        <p:nvSpPr>
          <p:cNvPr id="14" name="04-19-right-dot-1">
            <a:extLst>
              <a:ext uri="{FF2B5EF4-FFF2-40B4-BE49-F238E27FC236}">
                <a16:creationId xmlns:a16="http://schemas.microsoft.com/office/drawing/2014/main" id="{687C6864-A324-4ECE-948A-E0BE0558CD5A}"/>
              </a:ext>
            </a:extLst>
          </p:cNvPr>
          <p:cNvSpPr>
            <a:spLocks noGrp="1"/>
          </p:cNvSpPr>
          <p:nvPr/>
        </p:nvSpPr>
        <p:spPr>
          <a:xfrm>
            <a:off x="657225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04-19-right-line-1">
            <a:extLst>
              <a:ext uri="{FF2B5EF4-FFF2-40B4-BE49-F238E27FC236}">
                <a16:creationId xmlns:a16="http://schemas.microsoft.com/office/drawing/2014/main" id="{F68F476E-FFC5-41DD-A8A0-61DA8C67D528}"/>
              </a:ext>
            </a:extLst>
          </p:cNvPr>
          <p:cNvSpPr>
            <a:spLocks noGrp="1"/>
          </p:cNvSpPr>
          <p:nvPr/>
        </p:nvSpPr>
        <p:spPr>
          <a:xfrm>
            <a:off x="6800850" y="2362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spec을 갱신</a:t>
            </a:r>
          </a:p>
        </p:txBody>
      </p:sp>
      <p:sp>
        <p:nvSpPr>
          <p:cNvPr id="16" name="04-19-right-dot-2">
            <a:extLst>
              <a:ext uri="{FF2B5EF4-FFF2-40B4-BE49-F238E27FC236}">
                <a16:creationId xmlns:a16="http://schemas.microsoft.com/office/drawing/2014/main" id="{34B6F659-A558-4E3F-B6DE-DE6B5B85FBAD}"/>
              </a:ext>
            </a:extLst>
          </p:cNvPr>
          <p:cNvSpPr>
            <a:spLocks noGrp="1"/>
          </p:cNvSpPr>
          <p:nvPr/>
        </p:nvSpPr>
        <p:spPr>
          <a:xfrm>
            <a:off x="657225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04-19-right-line-2">
            <a:extLst>
              <a:ext uri="{FF2B5EF4-FFF2-40B4-BE49-F238E27FC236}">
                <a16:creationId xmlns:a16="http://schemas.microsoft.com/office/drawing/2014/main" id="{78D61234-8D03-42B2-A1A5-4A1161ABAA9B}"/>
              </a:ext>
            </a:extLst>
          </p:cNvPr>
          <p:cNvSpPr>
            <a:spLocks noGrp="1"/>
          </p:cNvSpPr>
          <p:nvPr/>
        </p:nvSpPr>
        <p:spPr>
          <a:xfrm>
            <a:off x="6800850" y="310515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구현을 되돌림</a:t>
            </a:r>
          </a:p>
        </p:txBody>
      </p:sp>
      <p:sp>
        <p:nvSpPr>
          <p:cNvPr id="18" name="04-19-right-dot-3">
            <a:extLst>
              <a:ext uri="{FF2B5EF4-FFF2-40B4-BE49-F238E27FC236}">
                <a16:creationId xmlns:a16="http://schemas.microsoft.com/office/drawing/2014/main" id="{D2AE9A9C-1078-47A1-B77A-2F412A835664}"/>
              </a:ext>
            </a:extLst>
          </p:cNvPr>
          <p:cNvSpPr>
            <a:spLocks noGrp="1"/>
          </p:cNvSpPr>
          <p:nvPr/>
        </p:nvSpPr>
        <p:spPr>
          <a:xfrm>
            <a:off x="657225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04-19-right-line-3">
            <a:extLst>
              <a:ext uri="{FF2B5EF4-FFF2-40B4-BE49-F238E27FC236}">
                <a16:creationId xmlns:a16="http://schemas.microsoft.com/office/drawing/2014/main" id="{571E9F57-5DF1-412C-A25A-55AF277051FB}"/>
              </a:ext>
            </a:extLst>
          </p:cNvPr>
          <p:cNvSpPr>
            <a:spLocks noGrp="1"/>
          </p:cNvSpPr>
          <p:nvPr/>
        </p:nvSpPr>
        <p:spPr>
          <a:xfrm>
            <a:off x="6800850" y="38481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brainstorming으로 돌아감</a:t>
            </a:r>
          </a:p>
        </p:txBody>
      </p:sp>
      <p:sp>
        <p:nvSpPr>
          <p:cNvPr id="20" name="04-19-optional">
            <a:extLst>
              <a:ext uri="{FF2B5EF4-FFF2-40B4-BE49-F238E27FC236}">
                <a16:creationId xmlns:a16="http://schemas.microsoft.com/office/drawing/2014/main" id="{031FF331-9FBA-4FED-8B01-5C6E3C191BAA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209165070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04-20-footer-section">
            <a:extLst>
              <a:ext uri="{FF2B5EF4-FFF2-40B4-BE49-F238E27FC236}">
                <a16:creationId xmlns:a16="http://schemas.microsoft.com/office/drawing/2014/main" id="{227E646C-E32A-40D8-8063-894953DFA5F2}"/>
              </a:ext>
            </a:extLst>
          </p:cNvPr>
          <p:cNvSpPr>
            <a:spLocks noGrp="1"/>
          </p:cNvSpPr>
          <p:nvPr/>
        </p:nvSpPr>
        <p:spPr>
          <a:xfrm>
            <a:off x="19494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6. 지식화</a:t>
            </a:r>
          </a:p>
        </p:txBody>
      </p:sp>
      <p:sp>
        <p:nvSpPr>
          <p:cNvPr id="2" name="04-20-footer-page">
            <a:extLst>
              <a:ext uri="{FF2B5EF4-FFF2-40B4-BE49-F238E27FC236}">
                <a16:creationId xmlns:a16="http://schemas.microsoft.com/office/drawing/2014/main" id="{A7D4C829-480E-4BCC-9EB0-1E05BD865668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69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4-20-accent-rule">
            <a:extLst>
              <a:ext uri="{FF2B5EF4-FFF2-40B4-BE49-F238E27FC236}">
                <a16:creationId xmlns:a16="http://schemas.microsoft.com/office/drawing/2014/main" id="{DAFE98D7-455A-4864-B3CA-DFC42A9D44C5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10477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20-title">
            <a:extLst>
              <a:ext uri="{FF2B5EF4-FFF2-40B4-BE49-F238E27FC236}">
                <a16:creationId xmlns:a16="http://schemas.microsoft.com/office/drawing/2014/main" id="{8EC439F2-C80F-4458-A459-5825C11E36E1}"/>
              </a:ext>
            </a:extLst>
          </p:cNvPr>
          <p:cNvSpPr>
            <a:spLocks noGrp="1"/>
          </p:cNvSpPr>
          <p:nvPr/>
        </p:nvSpPr>
        <p:spPr>
          <a:xfrm>
            <a:off x="723900" y="60960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9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끝난 작업이 다음 작업의 입력이 된다</a:t>
            </a:r>
          </a:p>
        </p:txBody>
      </p:sp>
      <p:sp>
        <p:nvSpPr>
          <p:cNvPr id="5" name="04-20-number-1">
            <a:extLst>
              <a:ext uri="{FF2B5EF4-FFF2-40B4-BE49-F238E27FC236}">
                <a16:creationId xmlns:a16="http://schemas.microsoft.com/office/drawing/2014/main" id="{614A2C55-6963-4514-8247-597F0CB2565F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6" name="04-20-rule-1">
            <a:extLst>
              <a:ext uri="{FF2B5EF4-FFF2-40B4-BE49-F238E27FC236}">
                <a16:creationId xmlns:a16="http://schemas.microsoft.com/office/drawing/2014/main" id="{2374920E-BE0D-4A06-A8DB-C019BBB76B9F}"/>
              </a:ext>
            </a:extLst>
          </p:cNvPr>
          <p:cNvSpPr>
            <a:spLocks noGrp="1"/>
          </p:cNvSpPr>
          <p:nvPr/>
        </p:nvSpPr>
        <p:spPr>
          <a:xfrm>
            <a:off x="1428750" y="200025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4-20-summary-1">
            <a:extLst>
              <a:ext uri="{FF2B5EF4-FFF2-40B4-BE49-F238E27FC236}">
                <a16:creationId xmlns:a16="http://schemas.microsoft.com/office/drawing/2014/main" id="{DC4EBEBA-8C35-47F3-906E-66EB4E3A64B0}"/>
              </a:ext>
            </a:extLst>
          </p:cNvPr>
          <p:cNvSpPr>
            <a:spLocks noGrp="1"/>
          </p:cNvSpPr>
          <p:nvPr/>
        </p:nvSpPr>
        <p:spPr>
          <a:xfrm>
            <a:off x="2209800" y="175260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spec — 합의</a:t>
            </a:r>
          </a:p>
        </p:txBody>
      </p:sp>
      <p:sp>
        <p:nvSpPr>
          <p:cNvPr id="8" name="04-20-number-2">
            <a:extLst>
              <a:ext uri="{FF2B5EF4-FFF2-40B4-BE49-F238E27FC236}">
                <a16:creationId xmlns:a16="http://schemas.microsoft.com/office/drawing/2014/main" id="{F048F71D-411B-45C8-9E62-6013237CFA0D}"/>
              </a:ext>
            </a:extLst>
          </p:cNvPr>
          <p:cNvSpPr>
            <a:spLocks noGrp="1"/>
          </p:cNvSpPr>
          <p:nvPr/>
        </p:nvSpPr>
        <p:spPr>
          <a:xfrm>
            <a:off x="876300" y="241935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9" name="04-20-rule-2">
            <a:extLst>
              <a:ext uri="{FF2B5EF4-FFF2-40B4-BE49-F238E27FC236}">
                <a16:creationId xmlns:a16="http://schemas.microsoft.com/office/drawing/2014/main" id="{31636E60-2C39-43C1-8D7E-68401E776EEE}"/>
              </a:ext>
            </a:extLst>
          </p:cNvPr>
          <p:cNvSpPr>
            <a:spLocks noGrp="1"/>
          </p:cNvSpPr>
          <p:nvPr/>
        </p:nvSpPr>
        <p:spPr>
          <a:xfrm>
            <a:off x="1428750" y="266700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4-20-summary-2">
            <a:extLst>
              <a:ext uri="{FF2B5EF4-FFF2-40B4-BE49-F238E27FC236}">
                <a16:creationId xmlns:a16="http://schemas.microsoft.com/office/drawing/2014/main" id="{4B069952-E208-4402-BB4C-994F50D4DC7F}"/>
              </a:ext>
            </a:extLst>
          </p:cNvPr>
          <p:cNvSpPr>
            <a:spLocks noGrp="1"/>
          </p:cNvSpPr>
          <p:nvPr/>
        </p:nvSpPr>
        <p:spPr>
          <a:xfrm>
            <a:off x="2209800" y="241935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plan — 구현 지도</a:t>
            </a:r>
          </a:p>
        </p:txBody>
      </p:sp>
      <p:sp>
        <p:nvSpPr>
          <p:cNvPr id="11" name="04-20-number-3">
            <a:extLst>
              <a:ext uri="{FF2B5EF4-FFF2-40B4-BE49-F238E27FC236}">
                <a16:creationId xmlns:a16="http://schemas.microsoft.com/office/drawing/2014/main" id="{2D98687B-395C-4FEC-8D9D-4ED5E76F2472}"/>
              </a:ext>
            </a:extLst>
          </p:cNvPr>
          <p:cNvSpPr>
            <a:spLocks noGrp="1"/>
          </p:cNvSpPr>
          <p:nvPr/>
        </p:nvSpPr>
        <p:spPr>
          <a:xfrm>
            <a:off x="876300" y="308610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2" name="04-20-rule-3">
            <a:extLst>
              <a:ext uri="{FF2B5EF4-FFF2-40B4-BE49-F238E27FC236}">
                <a16:creationId xmlns:a16="http://schemas.microsoft.com/office/drawing/2014/main" id="{BBC141A5-D0D9-4B3C-A24A-DB2B2CCCE32A}"/>
              </a:ext>
            </a:extLst>
          </p:cNvPr>
          <p:cNvSpPr>
            <a:spLocks noGrp="1"/>
          </p:cNvSpPr>
          <p:nvPr/>
        </p:nvSpPr>
        <p:spPr>
          <a:xfrm>
            <a:off x="1428750" y="333375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04-20-summary-3">
            <a:extLst>
              <a:ext uri="{FF2B5EF4-FFF2-40B4-BE49-F238E27FC236}">
                <a16:creationId xmlns:a16="http://schemas.microsoft.com/office/drawing/2014/main" id="{EB10C9A0-831D-4DB8-B187-256496346B29}"/>
              </a:ext>
            </a:extLst>
          </p:cNvPr>
          <p:cNvSpPr>
            <a:spLocks noGrp="1"/>
          </p:cNvSpPr>
          <p:nvPr/>
        </p:nvSpPr>
        <p:spPr>
          <a:xfrm>
            <a:off x="2209800" y="308610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explained — 이유</a:t>
            </a:r>
          </a:p>
        </p:txBody>
      </p:sp>
      <p:sp>
        <p:nvSpPr>
          <p:cNvPr id="14" name="04-20-number-4">
            <a:extLst>
              <a:ext uri="{FF2B5EF4-FFF2-40B4-BE49-F238E27FC236}">
                <a16:creationId xmlns:a16="http://schemas.microsoft.com/office/drawing/2014/main" id="{79D733EC-A95D-43FB-A750-41ED3CAF091F}"/>
              </a:ext>
            </a:extLst>
          </p:cNvPr>
          <p:cNvSpPr>
            <a:spLocks noGrp="1"/>
          </p:cNvSpPr>
          <p:nvPr/>
        </p:nvSpPr>
        <p:spPr>
          <a:xfrm>
            <a:off x="876300" y="375285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5" name="04-20-rule-4">
            <a:extLst>
              <a:ext uri="{FF2B5EF4-FFF2-40B4-BE49-F238E27FC236}">
                <a16:creationId xmlns:a16="http://schemas.microsoft.com/office/drawing/2014/main" id="{CF33B77A-417E-4D89-968A-C895B004E25E}"/>
              </a:ext>
            </a:extLst>
          </p:cNvPr>
          <p:cNvSpPr>
            <a:spLocks noGrp="1"/>
          </p:cNvSpPr>
          <p:nvPr/>
        </p:nvSpPr>
        <p:spPr>
          <a:xfrm>
            <a:off x="1428750" y="400050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04-20-summary-4">
            <a:extLst>
              <a:ext uri="{FF2B5EF4-FFF2-40B4-BE49-F238E27FC236}">
                <a16:creationId xmlns:a16="http://schemas.microsoft.com/office/drawing/2014/main" id="{F20747AE-B673-49C3-8994-B05B8EFAE871}"/>
              </a:ext>
            </a:extLst>
          </p:cNvPr>
          <p:cNvSpPr>
            <a:spLocks noGrp="1"/>
          </p:cNvSpPr>
          <p:nvPr/>
        </p:nvSpPr>
        <p:spPr>
          <a:xfrm>
            <a:off x="2209800" y="375285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e2e — 실제 흐름</a:t>
            </a:r>
          </a:p>
        </p:txBody>
      </p:sp>
      <p:sp>
        <p:nvSpPr>
          <p:cNvPr id="17" name="04-20-number-5">
            <a:extLst>
              <a:ext uri="{FF2B5EF4-FFF2-40B4-BE49-F238E27FC236}">
                <a16:creationId xmlns:a16="http://schemas.microsoft.com/office/drawing/2014/main" id="{2B6A21B4-7DD1-4E0D-B60B-B7DD782B29FB}"/>
              </a:ext>
            </a:extLst>
          </p:cNvPr>
          <p:cNvSpPr>
            <a:spLocks noGrp="1"/>
          </p:cNvSpPr>
          <p:nvPr/>
        </p:nvSpPr>
        <p:spPr>
          <a:xfrm>
            <a:off x="876300" y="441960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8" name="04-20-rule-5">
            <a:extLst>
              <a:ext uri="{FF2B5EF4-FFF2-40B4-BE49-F238E27FC236}">
                <a16:creationId xmlns:a16="http://schemas.microsoft.com/office/drawing/2014/main" id="{322F19A1-4C54-45B2-B4B7-390AA890B356}"/>
              </a:ext>
            </a:extLst>
          </p:cNvPr>
          <p:cNvSpPr>
            <a:spLocks noGrp="1"/>
          </p:cNvSpPr>
          <p:nvPr/>
        </p:nvSpPr>
        <p:spPr>
          <a:xfrm>
            <a:off x="1428750" y="466725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04-20-summary-5">
            <a:extLst>
              <a:ext uri="{FF2B5EF4-FFF2-40B4-BE49-F238E27FC236}">
                <a16:creationId xmlns:a16="http://schemas.microsoft.com/office/drawing/2014/main" id="{6180486E-96BD-45CB-8928-B99D5157BE44}"/>
              </a:ext>
            </a:extLst>
          </p:cNvPr>
          <p:cNvSpPr>
            <a:spLocks noGrp="1"/>
          </p:cNvSpPr>
          <p:nvPr/>
        </p:nvSpPr>
        <p:spPr>
          <a:xfrm>
            <a:off x="2209800" y="441960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wiki — 원문을 찾는 색인</a:t>
            </a:r>
          </a:p>
        </p:txBody>
      </p:sp>
      <p:sp>
        <p:nvSpPr>
          <p:cNvPr id="20" name="04-20-optional">
            <a:extLst>
              <a:ext uri="{FF2B5EF4-FFF2-40B4-BE49-F238E27FC236}">
                <a16:creationId xmlns:a16="http://schemas.microsoft.com/office/drawing/2014/main" id="{875D3D4E-54CA-4406-9639-0CB71EF3826C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118520135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05-01-footer-section">
            <a:extLst>
              <a:ext uri="{FF2B5EF4-FFF2-40B4-BE49-F238E27FC236}">
                <a16:creationId xmlns:a16="http://schemas.microsoft.com/office/drawing/2014/main" id="{AFE54E3E-5D96-472E-85ED-78B02D14E83A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강의 운영</a:t>
            </a:r>
          </a:p>
        </p:txBody>
      </p:sp>
      <p:sp>
        <p:nvSpPr>
          <p:cNvPr id="2" name="05-01-footer-page">
            <a:extLst>
              <a:ext uri="{FF2B5EF4-FFF2-40B4-BE49-F238E27FC236}">
                <a16:creationId xmlns:a16="http://schemas.microsoft.com/office/drawing/2014/main" id="{55CC426D-E054-4B6A-AE51-CBB8304BE860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70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5-01-accent-rule">
            <a:extLst>
              <a:ext uri="{FF2B5EF4-FFF2-40B4-BE49-F238E27FC236}">
                <a16:creationId xmlns:a16="http://schemas.microsoft.com/office/drawing/2014/main" id="{F17C9DFF-E82F-4999-87AE-1EE580EA210A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5-01-title">
            <a:extLst>
              <a:ext uri="{FF2B5EF4-FFF2-40B4-BE49-F238E27FC236}">
                <a16:creationId xmlns:a16="http://schemas.microsoft.com/office/drawing/2014/main" id="{6C116D2E-3CD3-4AC5-9F5B-A921BCFC6B76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시간이 줄어들면 모듈째 덜어낸다</a:t>
            </a:r>
          </a:p>
        </p:txBody>
      </p:sp>
      <p:sp>
        <p:nvSpPr>
          <p:cNvPr id="5" name="05-01-divider">
            <a:extLst>
              <a:ext uri="{FF2B5EF4-FFF2-40B4-BE49-F238E27FC236}">
                <a16:creationId xmlns:a16="http://schemas.microsoft.com/office/drawing/2014/main" id="{D2D36860-2ACC-4E4C-A5DF-0A4F28B6A937}"/>
              </a:ext>
            </a:extLst>
          </p:cNvPr>
          <p:cNvSpPr>
            <a:spLocks noGrp="1"/>
          </p:cNvSpPr>
          <p:nvPr/>
        </p:nvSpPr>
        <p:spPr>
          <a:xfrm>
            <a:off x="6096000" y="1676400"/>
            <a:ext cx="0" cy="390525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5-01-left-heading">
            <a:extLst>
              <a:ext uri="{FF2B5EF4-FFF2-40B4-BE49-F238E27FC236}">
                <a16:creationId xmlns:a16="http://schemas.microsoft.com/office/drawing/2014/main" id="{44639B5E-D297-4467-AD70-6F79EADD5CD0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4857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5시간</a:t>
            </a:r>
          </a:p>
        </p:txBody>
      </p:sp>
      <p:sp>
        <p:nvSpPr>
          <p:cNvPr id="7" name="05-01-left-dot-1">
            <a:extLst>
              <a:ext uri="{FF2B5EF4-FFF2-40B4-BE49-F238E27FC236}">
                <a16:creationId xmlns:a16="http://schemas.microsoft.com/office/drawing/2014/main" id="{3D74D641-16B2-4506-BE33-A038EC503BE8}"/>
              </a:ext>
            </a:extLst>
          </p:cNvPr>
          <p:cNvSpPr>
            <a:spLocks noGrp="1"/>
          </p:cNvSpPr>
          <p:nvPr/>
        </p:nvSpPr>
        <p:spPr>
          <a:xfrm>
            <a:off x="72390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5-01-left-line-1">
            <a:extLst>
              <a:ext uri="{FF2B5EF4-FFF2-40B4-BE49-F238E27FC236}">
                <a16:creationId xmlns:a16="http://schemas.microsoft.com/office/drawing/2014/main" id="{0050A1D6-DEB7-4740-B21B-CFDB0FCDD937}"/>
              </a:ext>
            </a:extLst>
          </p:cNvPr>
          <p:cNvSpPr>
            <a:spLocks noGrp="1"/>
          </p:cNvSpPr>
          <p:nvPr/>
        </p:nvSpPr>
        <p:spPr>
          <a:xfrm>
            <a:off x="952500" y="2362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전체 70장</a:t>
            </a:r>
          </a:p>
        </p:txBody>
      </p:sp>
      <p:sp>
        <p:nvSpPr>
          <p:cNvPr id="9" name="05-01-left-dot-2">
            <a:extLst>
              <a:ext uri="{FF2B5EF4-FFF2-40B4-BE49-F238E27FC236}">
                <a16:creationId xmlns:a16="http://schemas.microsoft.com/office/drawing/2014/main" id="{05721135-C70C-4CF5-B437-D3EA57D64C00}"/>
              </a:ext>
            </a:extLst>
          </p:cNvPr>
          <p:cNvSpPr>
            <a:spLocks noGrp="1"/>
          </p:cNvSpPr>
          <p:nvPr/>
        </p:nvSpPr>
        <p:spPr>
          <a:xfrm>
            <a:off x="72390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5-01-left-line-2">
            <a:extLst>
              <a:ext uri="{FF2B5EF4-FFF2-40B4-BE49-F238E27FC236}">
                <a16:creationId xmlns:a16="http://schemas.microsoft.com/office/drawing/2014/main" id="{0D058BA2-E913-4532-BED5-3B64A24C0F84}"/>
              </a:ext>
            </a:extLst>
          </p:cNvPr>
          <p:cNvSpPr>
            <a:spLocks noGrp="1"/>
          </p:cNvSpPr>
          <p:nvPr/>
        </p:nvSpPr>
        <p:spPr>
          <a:xfrm>
            <a:off x="952500" y="310515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AI 기초와 방법론 사례 포함</a:t>
            </a:r>
          </a:p>
        </p:txBody>
      </p:sp>
      <p:sp>
        <p:nvSpPr>
          <p:cNvPr id="11" name="05-01-left-dot-3">
            <a:extLst>
              <a:ext uri="{FF2B5EF4-FFF2-40B4-BE49-F238E27FC236}">
                <a16:creationId xmlns:a16="http://schemas.microsoft.com/office/drawing/2014/main" id="{71BA5E3D-BDF6-4774-81D1-B27037712F00}"/>
              </a:ext>
            </a:extLst>
          </p:cNvPr>
          <p:cNvSpPr>
            <a:spLocks noGrp="1"/>
          </p:cNvSpPr>
          <p:nvPr/>
        </p:nvSpPr>
        <p:spPr>
          <a:xfrm>
            <a:off x="72390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5-01-left-line-3">
            <a:extLst>
              <a:ext uri="{FF2B5EF4-FFF2-40B4-BE49-F238E27FC236}">
                <a16:creationId xmlns:a16="http://schemas.microsoft.com/office/drawing/2014/main" id="{E9974417-3D5A-4A16-A96A-FFEB480ADA9D}"/>
              </a:ext>
            </a:extLst>
          </p:cNvPr>
          <p:cNvSpPr>
            <a:spLocks noGrp="1"/>
          </p:cNvSpPr>
          <p:nvPr/>
        </p:nvSpPr>
        <p:spPr>
          <a:xfrm>
            <a:off x="952500" y="38481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여섯 단계 상세 사례</a:t>
            </a:r>
          </a:p>
        </p:txBody>
      </p:sp>
      <p:sp>
        <p:nvSpPr>
          <p:cNvPr id="13" name="05-01-right-heading">
            <a:extLst>
              <a:ext uri="{FF2B5EF4-FFF2-40B4-BE49-F238E27FC236}">
                <a16:creationId xmlns:a16="http://schemas.microsoft.com/office/drawing/2014/main" id="{6B8125E7-BAC4-463D-A428-0803510865C5}"/>
              </a:ext>
            </a:extLst>
          </p:cNvPr>
          <p:cNvSpPr>
            <a:spLocks noGrp="1"/>
          </p:cNvSpPr>
          <p:nvPr/>
        </p:nvSpPr>
        <p:spPr>
          <a:xfrm>
            <a:off x="6572250" y="1676400"/>
            <a:ext cx="4762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3시간 / 2시간</a:t>
            </a:r>
          </a:p>
        </p:txBody>
      </p:sp>
      <p:sp>
        <p:nvSpPr>
          <p:cNvPr id="14" name="05-01-right-dot-1">
            <a:extLst>
              <a:ext uri="{FF2B5EF4-FFF2-40B4-BE49-F238E27FC236}">
                <a16:creationId xmlns:a16="http://schemas.microsoft.com/office/drawing/2014/main" id="{6C01E7F0-9395-4838-9FCB-C3B082265476}"/>
              </a:ext>
            </a:extLst>
          </p:cNvPr>
          <p:cNvSpPr>
            <a:spLocks noGrp="1"/>
          </p:cNvSpPr>
          <p:nvPr/>
        </p:nvSpPr>
        <p:spPr>
          <a:xfrm>
            <a:off x="657225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05-01-right-line-1">
            <a:extLst>
              <a:ext uri="{FF2B5EF4-FFF2-40B4-BE49-F238E27FC236}">
                <a16:creationId xmlns:a16="http://schemas.microsoft.com/office/drawing/2014/main" id="{14EBE80D-0C2A-4561-A278-E2F86E290A5F}"/>
              </a:ext>
            </a:extLst>
          </p:cNvPr>
          <p:cNvSpPr>
            <a:spLocks noGrp="1"/>
          </p:cNvSpPr>
          <p:nvPr/>
        </p:nvSpPr>
        <p:spPr>
          <a:xfrm>
            <a:off x="6800850" y="2362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3시간 — 선택 모듈 생략</a:t>
            </a:r>
          </a:p>
        </p:txBody>
      </p:sp>
      <p:sp>
        <p:nvSpPr>
          <p:cNvPr id="16" name="05-01-right-dot-2">
            <a:extLst>
              <a:ext uri="{FF2B5EF4-FFF2-40B4-BE49-F238E27FC236}">
                <a16:creationId xmlns:a16="http://schemas.microsoft.com/office/drawing/2014/main" id="{A613EAE3-BE8F-45C0-8416-E3F817783E79}"/>
              </a:ext>
            </a:extLst>
          </p:cNvPr>
          <p:cNvSpPr>
            <a:spLocks noGrp="1"/>
          </p:cNvSpPr>
          <p:nvPr/>
        </p:nvSpPr>
        <p:spPr>
          <a:xfrm>
            <a:off x="657225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05-01-right-line-2">
            <a:extLst>
              <a:ext uri="{FF2B5EF4-FFF2-40B4-BE49-F238E27FC236}">
                <a16:creationId xmlns:a16="http://schemas.microsoft.com/office/drawing/2014/main" id="{E933A5FC-E0D3-417E-8D7D-82A3B7695506}"/>
              </a:ext>
            </a:extLst>
          </p:cNvPr>
          <p:cNvSpPr>
            <a:spLocks noGrp="1"/>
          </p:cNvSpPr>
          <p:nvPr/>
        </p:nvSpPr>
        <p:spPr>
          <a:xfrm>
            <a:off x="6800850" y="310515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2시간 — 원문·다섯 축·검증 루프·정본 이동 유지</a:t>
            </a:r>
          </a:p>
        </p:txBody>
      </p:sp>
      <p:sp>
        <p:nvSpPr>
          <p:cNvPr id="18" name="05-01-right-dot-3">
            <a:extLst>
              <a:ext uri="{FF2B5EF4-FFF2-40B4-BE49-F238E27FC236}">
                <a16:creationId xmlns:a16="http://schemas.microsoft.com/office/drawing/2014/main" id="{94E0C318-6534-4EA4-BA31-9127C97FFD07}"/>
              </a:ext>
            </a:extLst>
          </p:cNvPr>
          <p:cNvSpPr>
            <a:spLocks noGrp="1"/>
          </p:cNvSpPr>
          <p:nvPr/>
        </p:nvSpPr>
        <p:spPr>
          <a:xfrm>
            <a:off x="657225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05-01-right-line-3">
            <a:extLst>
              <a:ext uri="{FF2B5EF4-FFF2-40B4-BE49-F238E27FC236}">
                <a16:creationId xmlns:a16="http://schemas.microsoft.com/office/drawing/2014/main" id="{A2A77403-4A1E-4E77-8F5D-C9D0CE482C2C}"/>
              </a:ext>
            </a:extLst>
          </p:cNvPr>
          <p:cNvSpPr>
            <a:spLocks noGrp="1"/>
          </p:cNvSpPr>
          <p:nvPr/>
        </p:nvSpPr>
        <p:spPr>
          <a:xfrm>
            <a:off x="6800850" y="38481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개별 장이 아니라 연속 묶음으로 생략</a:t>
            </a:r>
          </a:p>
        </p:txBody>
      </p:sp>
    </p:spTree>
    <p:extLst>
      <p:ext uri="{BB962C8B-B14F-4D97-AF65-F5344CB8AC3E}">
        <p14:creationId xmlns:p14="http://schemas.microsoft.com/office/powerpoint/2010/main" val="89179497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05-02-footer-section">
            <a:extLst>
              <a:ext uri="{FF2B5EF4-FFF2-40B4-BE49-F238E27FC236}">
                <a16:creationId xmlns:a16="http://schemas.microsoft.com/office/drawing/2014/main" id="{28C42897-7EBC-4F73-9F8B-45F9BB0A5EB1}"/>
              </a:ext>
            </a:extLst>
          </p:cNvPr>
          <p:cNvSpPr>
            <a:spLocks noGrp="1"/>
          </p:cNvSpPr>
          <p:nvPr/>
        </p:nvSpPr>
        <p:spPr>
          <a:xfrm>
            <a:off x="19494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마무리</a:t>
            </a:r>
          </a:p>
        </p:txBody>
      </p:sp>
      <p:sp>
        <p:nvSpPr>
          <p:cNvPr id="2" name="05-02-footer-page">
            <a:extLst>
              <a:ext uri="{FF2B5EF4-FFF2-40B4-BE49-F238E27FC236}">
                <a16:creationId xmlns:a16="http://schemas.microsoft.com/office/drawing/2014/main" id="{64E295AB-8791-4DC8-9044-1081960219B0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71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5-02-accent-rule">
            <a:extLst>
              <a:ext uri="{FF2B5EF4-FFF2-40B4-BE49-F238E27FC236}">
                <a16:creationId xmlns:a16="http://schemas.microsoft.com/office/drawing/2014/main" id="{C122D81D-4F5A-4D7B-8DB0-2E3F12C59C7F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10477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5-02-title">
            <a:extLst>
              <a:ext uri="{FF2B5EF4-FFF2-40B4-BE49-F238E27FC236}">
                <a16:creationId xmlns:a16="http://schemas.microsoft.com/office/drawing/2014/main" id="{691228DE-3C61-4A1C-8D83-A3EA95253614}"/>
              </a:ext>
            </a:extLst>
          </p:cNvPr>
          <p:cNvSpPr>
            <a:spLocks noGrp="1"/>
          </p:cNvSpPr>
          <p:nvPr/>
        </p:nvSpPr>
        <p:spPr>
          <a:xfrm>
            <a:off x="723900" y="60960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9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검증할 수 있는 만큼만 맡길 수 있다</a:t>
            </a:r>
          </a:p>
        </p:txBody>
      </p:sp>
      <p:sp>
        <p:nvSpPr>
          <p:cNvPr id="5" name="05-02-number-1">
            <a:extLst>
              <a:ext uri="{FF2B5EF4-FFF2-40B4-BE49-F238E27FC236}">
                <a16:creationId xmlns:a16="http://schemas.microsoft.com/office/drawing/2014/main" id="{BFF3C45B-932D-4E8C-83D7-3481CEB2E5D2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6" name="05-02-rule-1">
            <a:extLst>
              <a:ext uri="{FF2B5EF4-FFF2-40B4-BE49-F238E27FC236}">
                <a16:creationId xmlns:a16="http://schemas.microsoft.com/office/drawing/2014/main" id="{553A9334-08C3-4870-8A3C-0E94BDE642E3}"/>
              </a:ext>
            </a:extLst>
          </p:cNvPr>
          <p:cNvSpPr>
            <a:spLocks noGrp="1"/>
          </p:cNvSpPr>
          <p:nvPr/>
        </p:nvSpPr>
        <p:spPr>
          <a:xfrm>
            <a:off x="1428750" y="200025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5-02-summary-1">
            <a:extLst>
              <a:ext uri="{FF2B5EF4-FFF2-40B4-BE49-F238E27FC236}">
                <a16:creationId xmlns:a16="http://schemas.microsoft.com/office/drawing/2014/main" id="{ABC32B14-E564-4F3A-A70E-30ECA4A0F8F8}"/>
              </a:ext>
            </a:extLst>
          </p:cNvPr>
          <p:cNvSpPr>
            <a:spLocks noGrp="1"/>
          </p:cNvSpPr>
          <p:nvPr/>
        </p:nvSpPr>
        <p:spPr>
          <a:xfrm>
            <a:off x="2209800" y="175260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AI가 일하는 환경을 설계한다</a:t>
            </a:r>
          </a:p>
        </p:txBody>
      </p:sp>
      <p:sp>
        <p:nvSpPr>
          <p:cNvPr id="8" name="05-02-number-2">
            <a:extLst>
              <a:ext uri="{FF2B5EF4-FFF2-40B4-BE49-F238E27FC236}">
                <a16:creationId xmlns:a16="http://schemas.microsoft.com/office/drawing/2014/main" id="{C6011F5A-69F8-44CC-9AE5-3A496A68692B}"/>
              </a:ext>
            </a:extLst>
          </p:cNvPr>
          <p:cNvSpPr>
            <a:spLocks noGrp="1"/>
          </p:cNvSpPr>
          <p:nvPr/>
        </p:nvSpPr>
        <p:spPr>
          <a:xfrm>
            <a:off x="876300" y="257175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9" name="05-02-rule-2">
            <a:extLst>
              <a:ext uri="{FF2B5EF4-FFF2-40B4-BE49-F238E27FC236}">
                <a16:creationId xmlns:a16="http://schemas.microsoft.com/office/drawing/2014/main" id="{70274DAC-44D8-4D2D-8643-860735B38EA7}"/>
              </a:ext>
            </a:extLst>
          </p:cNvPr>
          <p:cNvSpPr>
            <a:spLocks noGrp="1"/>
          </p:cNvSpPr>
          <p:nvPr/>
        </p:nvSpPr>
        <p:spPr>
          <a:xfrm>
            <a:off x="1428750" y="281940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5-02-summary-2">
            <a:extLst>
              <a:ext uri="{FF2B5EF4-FFF2-40B4-BE49-F238E27FC236}">
                <a16:creationId xmlns:a16="http://schemas.microsoft.com/office/drawing/2014/main" id="{28135944-6153-4EFB-BB73-1BF4956C98F4}"/>
              </a:ext>
            </a:extLst>
          </p:cNvPr>
          <p:cNvSpPr>
            <a:spLocks noGrp="1"/>
          </p:cNvSpPr>
          <p:nvPr/>
        </p:nvSpPr>
        <p:spPr>
          <a:xfrm>
            <a:off x="2209800" y="257175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검증 결과를 자동으로 되먹인다</a:t>
            </a:r>
          </a:p>
        </p:txBody>
      </p:sp>
      <p:sp>
        <p:nvSpPr>
          <p:cNvPr id="11" name="05-02-number-3">
            <a:extLst>
              <a:ext uri="{FF2B5EF4-FFF2-40B4-BE49-F238E27FC236}">
                <a16:creationId xmlns:a16="http://schemas.microsoft.com/office/drawing/2014/main" id="{47122EB3-8F37-4D67-8EC6-4258762766ED}"/>
              </a:ext>
            </a:extLst>
          </p:cNvPr>
          <p:cNvSpPr>
            <a:spLocks noGrp="1"/>
          </p:cNvSpPr>
          <p:nvPr/>
        </p:nvSpPr>
        <p:spPr>
          <a:xfrm>
            <a:off x="876300" y="339090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2" name="05-02-rule-3">
            <a:extLst>
              <a:ext uri="{FF2B5EF4-FFF2-40B4-BE49-F238E27FC236}">
                <a16:creationId xmlns:a16="http://schemas.microsoft.com/office/drawing/2014/main" id="{2326C995-F3FF-4E42-840B-DD5BC088F005}"/>
              </a:ext>
            </a:extLst>
          </p:cNvPr>
          <p:cNvSpPr>
            <a:spLocks noGrp="1"/>
          </p:cNvSpPr>
          <p:nvPr/>
        </p:nvSpPr>
        <p:spPr>
          <a:xfrm>
            <a:off x="1428750" y="363855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05-02-summary-3">
            <a:extLst>
              <a:ext uri="{FF2B5EF4-FFF2-40B4-BE49-F238E27FC236}">
                <a16:creationId xmlns:a16="http://schemas.microsoft.com/office/drawing/2014/main" id="{C8450ABE-E749-4C2C-B3D6-22A468620F27}"/>
              </a:ext>
            </a:extLst>
          </p:cNvPr>
          <p:cNvSpPr>
            <a:spLocks noGrp="1"/>
          </p:cNvSpPr>
          <p:nvPr/>
        </p:nvSpPr>
        <p:spPr>
          <a:xfrm>
            <a:off x="2209800" y="339090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판단과 책임은 사람에게 남긴다</a:t>
            </a:r>
          </a:p>
        </p:txBody>
      </p:sp>
      <p:sp>
        <p:nvSpPr>
          <p:cNvPr id="14" name="05-02-number-4">
            <a:extLst>
              <a:ext uri="{FF2B5EF4-FFF2-40B4-BE49-F238E27FC236}">
                <a16:creationId xmlns:a16="http://schemas.microsoft.com/office/drawing/2014/main" id="{73C4B093-B010-4360-B86F-38ECDC59E99F}"/>
              </a:ext>
            </a:extLst>
          </p:cNvPr>
          <p:cNvSpPr>
            <a:spLocks noGrp="1"/>
          </p:cNvSpPr>
          <p:nvPr/>
        </p:nvSpPr>
        <p:spPr>
          <a:xfrm>
            <a:off x="876300" y="421005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5" name="05-02-rule-4">
            <a:extLst>
              <a:ext uri="{FF2B5EF4-FFF2-40B4-BE49-F238E27FC236}">
                <a16:creationId xmlns:a16="http://schemas.microsoft.com/office/drawing/2014/main" id="{D567D57A-5269-4B9D-8AF0-0A0245ECB8FB}"/>
              </a:ext>
            </a:extLst>
          </p:cNvPr>
          <p:cNvSpPr>
            <a:spLocks noGrp="1"/>
          </p:cNvSpPr>
          <p:nvPr/>
        </p:nvSpPr>
        <p:spPr>
          <a:xfrm>
            <a:off x="1428750" y="445770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05-02-summary-4">
            <a:extLst>
              <a:ext uri="{FF2B5EF4-FFF2-40B4-BE49-F238E27FC236}">
                <a16:creationId xmlns:a16="http://schemas.microsoft.com/office/drawing/2014/main" id="{596CE5E1-7915-40D5-942D-C4E66541DF0C}"/>
              </a:ext>
            </a:extLst>
          </p:cNvPr>
          <p:cNvSpPr>
            <a:spLocks noGrp="1"/>
          </p:cNvSpPr>
          <p:nvPr/>
        </p:nvSpPr>
        <p:spPr>
          <a:xfrm>
            <a:off x="2209800" y="421005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나는 이 코드에 대해 책임질 수 있는가?</a:t>
            </a:r>
          </a:p>
        </p:txBody>
      </p:sp>
    </p:spTree>
    <p:extLst>
      <p:ext uri="{BB962C8B-B14F-4D97-AF65-F5344CB8AC3E}">
        <p14:creationId xmlns:p14="http://schemas.microsoft.com/office/powerpoint/2010/main" val="125659685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57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E28E231-8C57-4358-856E-563636D97DD2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ddbee84a-2602-4f3b-a725-ab8834fa7e4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413</TotalTime>
  <Words>6190</Words>
  <Application>Microsoft Office PowerPoint</Application>
  <DocSecurity>0</DocSecurity>
  <PresentationFormat>Widescreen</PresentationFormat>
  <Paragraphs>1151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5" baseType="lpstr">
      <vt:lpstr>Malgun Gothic</vt:lpstr>
      <vt:lpstr>Calibri</vt:lpstr>
      <vt:lpstr>Consolas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Jongmin Lee</cp:lastModifiedBy>
  <cp:revision>5</cp:revision>
  <dcterms:created xsi:type="dcterms:W3CDTF">2026-08-02T22:25:06Z</dcterms:created>
  <dcterms:modified xsi:type="dcterms:W3CDTF">2026-08-05T02:15:46Z</dcterms:modified>
</cp:coreProperties>
</file>